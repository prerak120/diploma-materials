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60"/>
  </p:normalViewPr>
  <p:slideViewPr>
    <p:cSldViewPr snapToGrid="0">
      <p:cViewPr varScale="1">
        <p:scale>
          <a:sx n="86" d="100"/>
          <a:sy n="86" d="100"/>
        </p:scale>
        <p:origin x="24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C71ECD73-7D1E-4E85-AB75-34BBA919355F}" type="datetimeFigureOut">
              <a:rPr lang="en-IN" smtClean="0"/>
              <a:t>07-10-2022</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F6B2FE36-07BA-4498-9C4F-BC0B85A9E926}"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40137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1ECD73-7D1E-4E85-AB75-34BBA919355F}" type="datetimeFigureOut">
              <a:rPr lang="en-IN" smtClean="0"/>
              <a:t>07-10-2022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B2FE36-07BA-4498-9C4F-BC0B85A9E926}" type="slidenum">
              <a:rPr lang="en-IN" smtClean="0"/>
              <a:t>‹#›</a:t>
            </a:fld>
            <a:endParaRPr lang="en-IN"/>
          </a:p>
        </p:txBody>
      </p:sp>
    </p:spTree>
    <p:extLst>
      <p:ext uri="{BB962C8B-B14F-4D97-AF65-F5344CB8AC3E}">
        <p14:creationId xmlns:p14="http://schemas.microsoft.com/office/powerpoint/2010/main" val="1610931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1ECD73-7D1E-4E85-AB75-34BBA919355F}" type="datetimeFigureOut">
              <a:rPr lang="en-IN" smtClean="0"/>
              <a:t>07-10-2022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B2FE36-07BA-4498-9C4F-BC0B85A9E926}"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6682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1ECD73-7D1E-4E85-AB75-34BBA919355F}" type="datetimeFigureOut">
              <a:rPr lang="en-IN" smtClean="0"/>
              <a:t>07-10-2022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B2FE36-07BA-4498-9C4F-BC0B85A9E926}" type="slidenum">
              <a:rPr lang="en-IN" smtClean="0"/>
              <a:t>‹#›</a:t>
            </a:fld>
            <a:endParaRPr lang="en-IN"/>
          </a:p>
        </p:txBody>
      </p:sp>
    </p:spTree>
    <p:extLst>
      <p:ext uri="{BB962C8B-B14F-4D97-AF65-F5344CB8AC3E}">
        <p14:creationId xmlns:p14="http://schemas.microsoft.com/office/powerpoint/2010/main" val="35439032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1ECD73-7D1E-4E85-AB75-34BBA919355F}" type="datetimeFigureOut">
              <a:rPr lang="en-IN" smtClean="0"/>
              <a:t>07-10-2022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6B2FE36-07BA-4498-9C4F-BC0B85A9E926}"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71932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1ECD73-7D1E-4E85-AB75-34BBA919355F}" type="datetimeFigureOut">
              <a:rPr lang="en-IN" smtClean="0"/>
              <a:t>07-10-2022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6B2FE36-07BA-4498-9C4F-BC0B85A9E926}"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32480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1ECD73-7D1E-4E85-AB75-34BBA919355F}" type="datetimeFigureOut">
              <a:rPr lang="en-IN" smtClean="0"/>
              <a:t>07-10-2022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6B2FE36-07BA-4498-9C4F-BC0B85A9E926}" type="slidenum">
              <a:rPr lang="en-IN" smtClean="0"/>
              <a:t>‹#›</a:t>
            </a:fld>
            <a:endParaRPr lang="en-IN"/>
          </a:p>
        </p:txBody>
      </p:sp>
    </p:spTree>
    <p:extLst>
      <p:ext uri="{BB962C8B-B14F-4D97-AF65-F5344CB8AC3E}">
        <p14:creationId xmlns:p14="http://schemas.microsoft.com/office/powerpoint/2010/main" val="1548114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71ECD73-7D1E-4E85-AB75-34BBA919355F}" type="datetimeFigureOut">
              <a:rPr lang="en-IN" smtClean="0"/>
              <a:t>07-10-2022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B2FE36-07BA-4498-9C4F-BC0B85A9E926}"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72528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71ECD73-7D1E-4E85-AB75-34BBA919355F}" type="datetimeFigureOut">
              <a:rPr lang="en-IN" smtClean="0"/>
              <a:t>07-10-2022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B2FE36-07BA-4498-9C4F-BC0B85A9E926}" type="slidenum">
              <a:rPr lang="en-IN" smtClean="0"/>
              <a:t>‹#›</a:t>
            </a:fld>
            <a:endParaRPr lang="en-IN"/>
          </a:p>
        </p:txBody>
      </p:sp>
    </p:spTree>
    <p:extLst>
      <p:ext uri="{BB962C8B-B14F-4D97-AF65-F5344CB8AC3E}">
        <p14:creationId xmlns:p14="http://schemas.microsoft.com/office/powerpoint/2010/main" val="1070787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71ECD73-7D1E-4E85-AB75-34BBA919355F}" type="datetimeFigureOut">
              <a:rPr lang="en-IN" smtClean="0"/>
              <a:t>07-10-2022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6B2FE36-07BA-4498-9C4F-BC0B85A9E926}" type="slidenum">
              <a:rPr lang="en-IN" smtClean="0"/>
              <a:t>‹#›</a:t>
            </a:fld>
            <a:endParaRPr lang="en-IN"/>
          </a:p>
        </p:txBody>
      </p:sp>
    </p:spTree>
    <p:extLst>
      <p:ext uri="{BB962C8B-B14F-4D97-AF65-F5344CB8AC3E}">
        <p14:creationId xmlns:p14="http://schemas.microsoft.com/office/powerpoint/2010/main" val="223032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1ECD73-7D1E-4E85-AB75-34BBA919355F}" type="datetimeFigureOut">
              <a:rPr lang="en-IN" smtClean="0"/>
              <a:t>07-10-2022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B2FE36-07BA-4498-9C4F-BC0B85A9E926}"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132512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1ECD73-7D1E-4E85-AB75-34BBA919355F}" type="datetimeFigureOut">
              <a:rPr lang="en-IN" smtClean="0"/>
              <a:t>07-10-2022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B2FE36-07BA-4498-9C4F-BC0B85A9E926}"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19889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1ECD73-7D1E-4E85-AB75-34BBA919355F}" type="datetimeFigureOut">
              <a:rPr lang="en-IN" smtClean="0"/>
              <a:t>07-10-2022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B2FE36-07BA-4498-9C4F-BC0B85A9E926}" type="slidenum">
              <a:rPr lang="en-IN" smtClean="0"/>
              <a:t>‹#›</a:t>
            </a:fld>
            <a:endParaRPr lang="en-IN"/>
          </a:p>
        </p:txBody>
      </p:sp>
    </p:spTree>
    <p:extLst>
      <p:ext uri="{BB962C8B-B14F-4D97-AF65-F5344CB8AC3E}">
        <p14:creationId xmlns:p14="http://schemas.microsoft.com/office/powerpoint/2010/main" val="2351408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1ECD73-7D1E-4E85-AB75-34BBA919355F}" type="datetimeFigureOut">
              <a:rPr lang="en-IN" smtClean="0"/>
              <a:t>07-10-2022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B2FE36-07BA-4498-9C4F-BC0B85A9E926}"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305825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1ECD73-7D1E-4E85-AB75-34BBA919355F}" type="datetimeFigureOut">
              <a:rPr lang="en-IN" smtClean="0"/>
              <a:t>07-10-2022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B2FE36-07BA-4498-9C4F-BC0B85A9E926}"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764447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1ECD73-7D1E-4E85-AB75-34BBA919355F}" type="datetimeFigureOut">
              <a:rPr lang="en-IN" smtClean="0"/>
              <a:t>07-10-2022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B2FE36-07BA-4498-9C4F-BC0B85A9E926}"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13169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1ECD73-7D1E-4E85-AB75-34BBA919355F}" type="datetimeFigureOut">
              <a:rPr lang="en-IN" smtClean="0"/>
              <a:t>07-10-2022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6B2FE36-07BA-4498-9C4F-BC0B85A9E926}"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156638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71ECD73-7D1E-4E85-AB75-34BBA919355F}" type="datetimeFigureOut">
              <a:rPr lang="en-IN" smtClean="0"/>
              <a:t>07-10-2022</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6B2FE36-07BA-4498-9C4F-BC0B85A9E926}" type="slidenum">
              <a:rPr lang="en-IN" smtClean="0"/>
              <a:t>‹#›</a:t>
            </a:fld>
            <a:endParaRPr lang="en-IN"/>
          </a:p>
        </p:txBody>
      </p:sp>
    </p:spTree>
    <p:extLst>
      <p:ext uri="{BB962C8B-B14F-4D97-AF65-F5344CB8AC3E}">
        <p14:creationId xmlns:p14="http://schemas.microsoft.com/office/powerpoint/2010/main" val="28781502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javatpoint.com/keywords-in-c"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javatpoint.com/c-identifier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en.wikipedia.org/wiki/C_data_types"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9E516-663F-089D-CBCD-8BD7D49382C9}"/>
              </a:ext>
            </a:extLst>
          </p:cNvPr>
          <p:cNvSpPr>
            <a:spLocks noGrp="1"/>
          </p:cNvSpPr>
          <p:nvPr>
            <p:ph type="ctrTitle"/>
          </p:nvPr>
        </p:nvSpPr>
        <p:spPr/>
        <p:txBody>
          <a:bodyPr/>
          <a:lstStyle/>
          <a:p>
            <a:r>
              <a:rPr lang="en-US" dirty="0"/>
              <a:t>Unit -2</a:t>
            </a:r>
            <a:endParaRPr lang="en-IN" dirty="0"/>
          </a:p>
        </p:txBody>
      </p:sp>
      <p:sp>
        <p:nvSpPr>
          <p:cNvPr id="3" name="Subtitle 2">
            <a:extLst>
              <a:ext uri="{FF2B5EF4-FFF2-40B4-BE49-F238E27FC236}">
                <a16:creationId xmlns:a16="http://schemas.microsoft.com/office/drawing/2014/main" id="{DCF8C800-DF2E-730C-13A8-DCEB820AD130}"/>
              </a:ext>
            </a:extLst>
          </p:cNvPr>
          <p:cNvSpPr>
            <a:spLocks noGrp="1"/>
          </p:cNvSpPr>
          <p:nvPr>
            <p:ph type="subTitle" idx="1"/>
          </p:nvPr>
        </p:nvSpPr>
        <p:spPr/>
        <p:txBody>
          <a:bodyPr>
            <a:normAutofit/>
          </a:bodyPr>
          <a:lstStyle/>
          <a:p>
            <a:r>
              <a:rPr lang="en-US" sz="3200" dirty="0">
                <a:latin typeface="Times New Roman" panose="02020603050405020304" pitchFamily="18" charset="0"/>
                <a:cs typeface="Times New Roman" panose="02020603050405020304" pitchFamily="18" charset="0"/>
              </a:rPr>
              <a:t>Fundamental of ‘c’</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19022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2218C-B655-7518-5E81-D7DE4B8477EC}"/>
              </a:ext>
            </a:extLst>
          </p:cNvPr>
          <p:cNvSpPr>
            <a:spLocks noGrp="1"/>
          </p:cNvSpPr>
          <p:nvPr>
            <p:ph type="title"/>
          </p:nvPr>
        </p:nvSpPr>
        <p:spPr>
          <a:xfrm>
            <a:off x="1295402" y="982132"/>
            <a:ext cx="9601196" cy="969331"/>
          </a:xfrm>
        </p:spPr>
        <p:txBody>
          <a:bodyPr/>
          <a:lstStyle/>
          <a:p>
            <a:r>
              <a:rPr lang="en-US" b="1" dirty="0">
                <a:latin typeface="Times New Roman" panose="02020603050405020304" pitchFamily="18" charset="0"/>
                <a:cs typeface="Times New Roman" panose="02020603050405020304" pitchFamily="18" charset="0"/>
              </a:rPr>
              <a:t>Character set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EC79ACC-EE97-5050-2DA6-0491616388B8}"/>
              </a:ext>
            </a:extLst>
          </p:cNvPr>
          <p:cNvSpPr>
            <a:spLocks noGrp="1"/>
          </p:cNvSpPr>
          <p:nvPr>
            <p:ph idx="1"/>
          </p:nvPr>
        </p:nvSpPr>
        <p:spPr>
          <a:xfrm>
            <a:off x="1295401" y="2397512"/>
            <a:ext cx="9601196" cy="3478356"/>
          </a:xfrm>
        </p:spPr>
        <p:txBody>
          <a:bodyPr>
            <a:normAutofit/>
          </a:bodyPr>
          <a:lstStyle/>
          <a:p>
            <a:r>
              <a:rPr lang="en-IN" sz="18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Like every other language, 'C' also has its own character set. A program is a set of instructions that, when executed, generate an output. The data that is processed by a program consists of various characters and symbols. The output generated is also a combination of characters and symbols.</a:t>
            </a:r>
            <a:endParaRPr lang="en-IN" sz="1800" dirty="0">
              <a:latin typeface="Times New Roman" panose="02020603050405020304" pitchFamily="18" charset="0"/>
              <a:ea typeface="Arial" panose="020B0604020202020204" pitchFamily="34" charset="0"/>
              <a:cs typeface="Times New Roman" panose="02020603050405020304" pitchFamily="18" charset="0"/>
            </a:endParaRPr>
          </a:p>
          <a:p>
            <a:r>
              <a:rPr lang="en-IN" sz="18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A character set in 'C' is divided into,</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1000"/>
              </a:spcAft>
              <a:buFont typeface="Arial" panose="020B0604020202020204" pitchFamily="34" charset="0"/>
              <a:buChar char="⮚"/>
            </a:pPr>
            <a:r>
              <a:rPr lang="en-IN" sz="18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Letters</a:t>
            </a:r>
            <a:endParaRPr lang="en-IN" sz="1800" dirty="0">
              <a:effectLst/>
              <a:latin typeface="Times New Roman" panose="02020603050405020304" pitchFamily="18" charset="0"/>
              <a:ea typeface="Noto Sans Symbols"/>
              <a:cs typeface="Times New Roman" panose="02020603050405020304" pitchFamily="18" charset="0"/>
            </a:endParaRPr>
          </a:p>
          <a:p>
            <a:pPr marL="342900" lvl="0" indent="-342900" algn="just">
              <a:lnSpc>
                <a:spcPct val="107000"/>
              </a:lnSpc>
              <a:spcAft>
                <a:spcPts val="1000"/>
              </a:spcAft>
              <a:buFont typeface="Arial" panose="020B0604020202020204" pitchFamily="34" charset="0"/>
              <a:buChar char="⮚"/>
            </a:pPr>
            <a:r>
              <a:rPr lang="en-IN" sz="18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Numbers</a:t>
            </a:r>
            <a:endParaRPr lang="en-IN" sz="1800" dirty="0">
              <a:effectLst/>
              <a:latin typeface="Times New Roman" panose="02020603050405020304" pitchFamily="18" charset="0"/>
              <a:ea typeface="Noto Sans Symbols"/>
              <a:cs typeface="Times New Roman" panose="02020603050405020304" pitchFamily="18" charset="0"/>
            </a:endParaRPr>
          </a:p>
          <a:p>
            <a:pPr marL="342900" lvl="0" indent="-342900" algn="just">
              <a:lnSpc>
                <a:spcPct val="107000"/>
              </a:lnSpc>
              <a:spcAft>
                <a:spcPts val="1000"/>
              </a:spcAft>
              <a:buFont typeface="Arial" panose="020B0604020202020204" pitchFamily="34" charset="0"/>
              <a:buChar char="⮚"/>
            </a:pPr>
            <a:r>
              <a:rPr lang="en-IN" sz="18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Special characters</a:t>
            </a:r>
            <a:endParaRPr lang="en-IN" sz="1800" dirty="0">
              <a:effectLst/>
              <a:latin typeface="Times New Roman" panose="02020603050405020304" pitchFamily="18" charset="0"/>
              <a:ea typeface="Noto Sans Symbols"/>
              <a:cs typeface="Times New Roman" panose="02020603050405020304" pitchFamily="18" charset="0"/>
            </a:endParaRPr>
          </a:p>
          <a:p>
            <a:pPr marL="342900" lvl="0" indent="-342900" algn="just">
              <a:lnSpc>
                <a:spcPct val="107000"/>
              </a:lnSpc>
              <a:spcAft>
                <a:spcPts val="1000"/>
              </a:spcAft>
              <a:buFont typeface="Arial" panose="020B0604020202020204" pitchFamily="34" charset="0"/>
              <a:buChar char="⮚"/>
            </a:pPr>
            <a:r>
              <a:rPr lang="en-IN" sz="18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White spaces (blank spaces)</a:t>
            </a:r>
            <a:endParaRPr lang="en-IN" sz="1800" dirty="0">
              <a:effectLst/>
              <a:latin typeface="Times New Roman" panose="02020603050405020304" pitchFamily="18" charset="0"/>
              <a:ea typeface="Noto Sans Symbols"/>
              <a:cs typeface="Times New Roman" panose="02020603050405020304" pitchFamily="18" charset="0"/>
            </a:endParaRPr>
          </a:p>
          <a:p>
            <a:endParaRPr lang="en-IN" dirty="0"/>
          </a:p>
        </p:txBody>
      </p:sp>
    </p:spTree>
    <p:extLst>
      <p:ext uri="{BB962C8B-B14F-4D97-AF65-F5344CB8AC3E}">
        <p14:creationId xmlns:p14="http://schemas.microsoft.com/office/powerpoint/2010/main" val="1281198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B4BFB-B5C9-0963-9BDB-1FC1757E0AE6}"/>
              </a:ext>
            </a:extLst>
          </p:cNvPr>
          <p:cNvSpPr>
            <a:spLocks noGrp="1"/>
          </p:cNvSpPr>
          <p:nvPr>
            <p:ph type="title"/>
          </p:nvPr>
        </p:nvSpPr>
        <p:spPr>
          <a:xfrm>
            <a:off x="1295401" y="524933"/>
            <a:ext cx="9601196" cy="880122"/>
          </a:xfrm>
        </p:spPr>
        <p:txBody>
          <a:bodyPr>
            <a:normAutofit/>
          </a:bodyPr>
          <a:lstStyle/>
          <a:p>
            <a:r>
              <a:rPr lang="en-US" sz="4000" dirty="0">
                <a:latin typeface="Times New Roman" panose="02020603050405020304" pitchFamily="18" charset="0"/>
                <a:cs typeface="Times New Roman" panose="02020603050405020304" pitchFamily="18" charset="0"/>
              </a:rPr>
              <a:t>Conti..</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7901A1D-1276-E9D4-5034-E6D037F58BF0}"/>
              </a:ext>
            </a:extLst>
          </p:cNvPr>
          <p:cNvSpPr>
            <a:spLocks noGrp="1"/>
          </p:cNvSpPr>
          <p:nvPr>
            <p:ph idx="1"/>
          </p:nvPr>
        </p:nvSpPr>
        <p:spPr>
          <a:xfrm>
            <a:off x="836341" y="1538869"/>
            <a:ext cx="10537903" cy="4661210"/>
          </a:xfrm>
        </p:spPr>
        <p:txBody>
          <a:bodyPr>
            <a:noAutofit/>
          </a:bodyPr>
          <a:lstStyle/>
          <a:p>
            <a:pPr indent="0" algn="just">
              <a:lnSpc>
                <a:spcPct val="107000"/>
              </a:lnSpc>
              <a:spcAft>
                <a:spcPts val="1000"/>
              </a:spcAft>
              <a:buNone/>
            </a:pPr>
            <a:r>
              <a:rPr lang="en-IN" sz="16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Following is the character set in 'C' programming:</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1000"/>
              </a:spcAft>
              <a:buFont typeface="+mj-lt"/>
              <a:buAutoNum type="arabicPeriod"/>
            </a:pPr>
            <a:r>
              <a:rPr lang="en-IN" sz="16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Letters</a:t>
            </a:r>
            <a:endPar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07000"/>
              </a:lnSpc>
              <a:spcAft>
                <a:spcPts val="1000"/>
              </a:spcAft>
              <a:buSzPts val="1000"/>
              <a:buFont typeface="Arial" panose="020B0604020202020204" pitchFamily="34" charset="0"/>
              <a:buChar char="⮚"/>
            </a:pPr>
            <a:r>
              <a:rPr lang="en-IN" sz="16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Uppercase characters (A-Z)</a:t>
            </a:r>
            <a:endParaRPr lang="en-IN" sz="1600" dirty="0">
              <a:effectLst/>
              <a:latin typeface="Times New Roman" panose="02020603050405020304" pitchFamily="18" charset="0"/>
              <a:ea typeface="Noto Sans Symbols"/>
              <a:cs typeface="Times New Roman" panose="02020603050405020304" pitchFamily="18" charset="0"/>
            </a:endParaRPr>
          </a:p>
          <a:p>
            <a:pPr marL="742950" lvl="1" indent="-285750" algn="just">
              <a:lnSpc>
                <a:spcPct val="107000"/>
              </a:lnSpc>
              <a:spcAft>
                <a:spcPts val="1000"/>
              </a:spcAft>
              <a:buSzPts val="1000"/>
              <a:buFont typeface="Arial" panose="020B0604020202020204" pitchFamily="34" charset="0"/>
              <a:buChar char="⮚"/>
            </a:pPr>
            <a:r>
              <a:rPr lang="en-IN" sz="16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Lowercase characters (a-z)</a:t>
            </a:r>
            <a:endParaRPr lang="en-IN" sz="1600" dirty="0">
              <a:effectLst/>
              <a:latin typeface="Times New Roman" panose="02020603050405020304" pitchFamily="18" charset="0"/>
              <a:ea typeface="Noto Sans Symbols"/>
              <a:cs typeface="Times New Roman" panose="02020603050405020304" pitchFamily="18" charset="0"/>
            </a:endParaRPr>
          </a:p>
          <a:p>
            <a:pPr marL="342900" lvl="0" indent="-342900" algn="just">
              <a:lnSpc>
                <a:spcPct val="107000"/>
              </a:lnSpc>
              <a:spcAft>
                <a:spcPts val="1000"/>
              </a:spcAft>
              <a:buFont typeface="+mj-lt"/>
              <a:buAutoNum type="arabicPeriod"/>
            </a:pPr>
            <a:r>
              <a:rPr lang="en-IN" sz="16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Numbers</a:t>
            </a:r>
            <a:endPar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07000"/>
              </a:lnSpc>
              <a:spcAft>
                <a:spcPts val="1000"/>
              </a:spcAft>
              <a:buSzPts val="1000"/>
              <a:buFont typeface="Arial" panose="020B0604020202020204" pitchFamily="34" charset="0"/>
              <a:buChar char="⮚"/>
            </a:pPr>
            <a:r>
              <a:rPr lang="en-IN" sz="16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All the digits from 0 to 9</a:t>
            </a:r>
            <a:endParaRPr lang="en-IN" sz="1600" dirty="0">
              <a:effectLst/>
              <a:latin typeface="Times New Roman" panose="02020603050405020304" pitchFamily="18" charset="0"/>
              <a:ea typeface="Noto Sans Symbols"/>
              <a:cs typeface="Times New Roman" panose="02020603050405020304" pitchFamily="18" charset="0"/>
            </a:endParaRPr>
          </a:p>
          <a:p>
            <a:pPr marL="342900" lvl="0" indent="-342900" algn="just">
              <a:lnSpc>
                <a:spcPct val="107000"/>
              </a:lnSpc>
              <a:spcAft>
                <a:spcPts val="1000"/>
              </a:spcAft>
              <a:buFont typeface="+mj-lt"/>
              <a:buAutoNum type="arabicPeriod"/>
            </a:pPr>
            <a:r>
              <a:rPr lang="en-IN" sz="16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White spaces</a:t>
            </a:r>
            <a:endPar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07000"/>
              </a:lnSpc>
              <a:spcAft>
                <a:spcPts val="1000"/>
              </a:spcAft>
              <a:buSzPts val="1000"/>
              <a:buFont typeface="Arial" panose="020B0604020202020204" pitchFamily="34" charset="0"/>
              <a:buChar char="⮚"/>
            </a:pPr>
            <a:r>
              <a:rPr lang="en-IN" sz="16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Blank space</a:t>
            </a:r>
            <a:endParaRPr lang="en-IN" sz="1600" dirty="0">
              <a:effectLst/>
              <a:latin typeface="Times New Roman" panose="02020603050405020304" pitchFamily="18" charset="0"/>
              <a:ea typeface="Noto Sans Symbols"/>
              <a:cs typeface="Times New Roman" panose="02020603050405020304" pitchFamily="18" charset="0"/>
            </a:endParaRPr>
          </a:p>
          <a:p>
            <a:pPr marL="742950" lvl="1" indent="-285750" algn="just">
              <a:lnSpc>
                <a:spcPct val="107000"/>
              </a:lnSpc>
              <a:spcAft>
                <a:spcPts val="1000"/>
              </a:spcAft>
              <a:buSzPts val="1000"/>
              <a:buFont typeface="Arial" panose="020B0604020202020204" pitchFamily="34" charset="0"/>
              <a:buChar char="⮚"/>
            </a:pPr>
            <a:r>
              <a:rPr lang="en-IN" sz="16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New line</a:t>
            </a:r>
            <a:endParaRPr lang="en-IN" sz="1600" dirty="0">
              <a:effectLst/>
              <a:latin typeface="Times New Roman" panose="02020603050405020304" pitchFamily="18" charset="0"/>
              <a:ea typeface="Noto Sans Symbols"/>
              <a:cs typeface="Times New Roman" panose="02020603050405020304" pitchFamily="18" charset="0"/>
            </a:endParaRPr>
          </a:p>
          <a:p>
            <a:pPr marL="742950" lvl="1" indent="-285750" algn="just">
              <a:lnSpc>
                <a:spcPct val="107000"/>
              </a:lnSpc>
              <a:spcAft>
                <a:spcPts val="1000"/>
              </a:spcAft>
              <a:buSzPts val="1000"/>
              <a:buFont typeface="Arial" panose="020B0604020202020204" pitchFamily="34" charset="0"/>
              <a:buChar char="⮚"/>
            </a:pPr>
            <a:r>
              <a:rPr lang="en-IN" sz="16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Carriage return</a:t>
            </a:r>
            <a:endParaRPr lang="en-IN" sz="1600" dirty="0">
              <a:effectLst/>
              <a:latin typeface="Times New Roman" panose="02020603050405020304" pitchFamily="18" charset="0"/>
              <a:ea typeface="Noto Sans Symbols"/>
              <a:cs typeface="Times New Roman" panose="02020603050405020304" pitchFamily="18" charset="0"/>
            </a:endParaRPr>
          </a:p>
          <a:p>
            <a:pPr marL="742950" lvl="1" indent="-285750" algn="just">
              <a:lnSpc>
                <a:spcPct val="107000"/>
              </a:lnSpc>
              <a:spcAft>
                <a:spcPts val="1000"/>
              </a:spcAft>
              <a:buSzPts val="1000"/>
              <a:buFont typeface="Arial" panose="020B0604020202020204" pitchFamily="34" charset="0"/>
              <a:buChar char="⮚"/>
            </a:pPr>
            <a:r>
              <a:rPr lang="en-IN" sz="16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Horizontal tab</a:t>
            </a:r>
            <a:endParaRPr lang="en-IN" sz="1600" dirty="0">
              <a:effectLst/>
              <a:latin typeface="Times New Roman" panose="02020603050405020304" pitchFamily="18" charset="0"/>
              <a:ea typeface="Noto Sans Symbols"/>
              <a:cs typeface="Times New Roman" panose="02020603050405020304" pitchFamily="18" charset="0"/>
            </a:endParaRPr>
          </a:p>
          <a:p>
            <a:endParaRPr lang="en-IN" sz="1600" dirty="0"/>
          </a:p>
        </p:txBody>
      </p:sp>
    </p:spTree>
    <p:extLst>
      <p:ext uri="{BB962C8B-B14F-4D97-AF65-F5344CB8AC3E}">
        <p14:creationId xmlns:p14="http://schemas.microsoft.com/office/powerpoint/2010/main" val="428652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DF23F-0FDA-628F-928D-422D4BCC7F49}"/>
              </a:ext>
            </a:extLst>
          </p:cNvPr>
          <p:cNvSpPr>
            <a:spLocks noGrp="1"/>
          </p:cNvSpPr>
          <p:nvPr>
            <p:ph type="title"/>
          </p:nvPr>
        </p:nvSpPr>
        <p:spPr>
          <a:xfrm>
            <a:off x="1295401" y="814864"/>
            <a:ext cx="9601196" cy="612492"/>
          </a:xfrm>
        </p:spPr>
        <p:txBody>
          <a:bodyPr>
            <a:normAutofit fontScale="90000"/>
          </a:bodyPr>
          <a:lstStyle/>
          <a:p>
            <a:r>
              <a:rPr lang="en-US" sz="4000" dirty="0">
                <a:latin typeface="Times New Roman" panose="02020603050405020304" pitchFamily="18" charset="0"/>
                <a:cs typeface="Times New Roman" panose="02020603050405020304" pitchFamily="18" charset="0"/>
              </a:rPr>
              <a:t>Conti..</a:t>
            </a:r>
            <a:endParaRPr lang="en-IN" sz="4000"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9C58CDEC-DE9B-D89D-C026-BD614D4CB38B}"/>
              </a:ext>
            </a:extLst>
          </p:cNvPr>
          <p:cNvSpPr>
            <a:spLocks noGrp="1"/>
          </p:cNvSpPr>
          <p:nvPr>
            <p:ph idx="1"/>
          </p:nvPr>
        </p:nvSpPr>
        <p:spPr>
          <a:xfrm>
            <a:off x="828907" y="1427356"/>
            <a:ext cx="10067690" cy="5006898"/>
          </a:xfrm>
        </p:spPr>
        <p:txBody>
          <a:bodyPr/>
          <a:lstStyle/>
          <a:p>
            <a:pPr marL="342900" lvl="0" indent="-342900" algn="just">
              <a:lnSpc>
                <a:spcPct val="107000"/>
              </a:lnSpc>
              <a:spcAft>
                <a:spcPts val="1000"/>
              </a:spcAft>
              <a:buFont typeface="+mj-lt"/>
              <a:buAutoNum type="arabicPeriod"/>
            </a:pPr>
            <a:r>
              <a:rPr lang="en-IN" sz="16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Special characters</a:t>
            </a:r>
            <a:endParaRPr lang="en-IN" sz="16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742950" lvl="1" indent="-285750" algn="just">
              <a:lnSpc>
                <a:spcPct val="107000"/>
              </a:lnSpc>
              <a:spcAft>
                <a:spcPts val="1000"/>
              </a:spcAft>
              <a:buSzPts val="1000"/>
              <a:buFont typeface="Arial" panose="020B0604020202020204" pitchFamily="34" charset="0"/>
              <a:buChar char="⮚"/>
            </a:pPr>
            <a:r>
              <a:rPr lang="en-IN" sz="16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Special characters in 'C' are shown in the given table,</a:t>
            </a:r>
            <a:endParaRPr lang="en-IN" sz="1100" dirty="0">
              <a:effectLst/>
              <a:latin typeface="Calibri" panose="020F0502020204030204" pitchFamily="34" charset="0"/>
              <a:ea typeface="Calibri" panose="020F0502020204030204" pitchFamily="34" charset="0"/>
            </a:endParaRPr>
          </a:p>
          <a:p>
            <a:endParaRPr lang="en-IN" dirty="0"/>
          </a:p>
        </p:txBody>
      </p:sp>
      <p:graphicFrame>
        <p:nvGraphicFramePr>
          <p:cNvPr id="7" name="Table 6">
            <a:extLst>
              <a:ext uri="{FF2B5EF4-FFF2-40B4-BE49-F238E27FC236}">
                <a16:creationId xmlns:a16="http://schemas.microsoft.com/office/drawing/2014/main" id="{5DD1D179-8A3C-6A83-9DEE-FFBABE27C821}"/>
              </a:ext>
            </a:extLst>
          </p:cNvPr>
          <p:cNvGraphicFramePr>
            <a:graphicFrameLocks noGrp="1"/>
          </p:cNvGraphicFramePr>
          <p:nvPr>
            <p:extLst>
              <p:ext uri="{D42A27DB-BD31-4B8C-83A1-F6EECF244321}">
                <p14:modId xmlns:p14="http://schemas.microsoft.com/office/powerpoint/2010/main" val="562475296"/>
              </p:ext>
            </p:extLst>
          </p:nvPr>
        </p:nvGraphicFramePr>
        <p:xfrm>
          <a:off x="702528" y="2230244"/>
          <a:ext cx="10660566" cy="4481910"/>
        </p:xfrm>
        <a:graphic>
          <a:graphicData uri="http://schemas.openxmlformats.org/drawingml/2006/table">
            <a:tbl>
              <a:tblPr bandRow="1">
                <a:tableStyleId>{5C22544A-7EE6-4342-B048-85BDC9FD1C3A}</a:tableStyleId>
              </a:tblPr>
              <a:tblGrid>
                <a:gridCol w="4894519">
                  <a:extLst>
                    <a:ext uri="{9D8B030D-6E8A-4147-A177-3AD203B41FA5}">
                      <a16:colId xmlns:a16="http://schemas.microsoft.com/office/drawing/2014/main" val="3702392979"/>
                    </a:ext>
                  </a:extLst>
                </a:gridCol>
                <a:gridCol w="5766047">
                  <a:extLst>
                    <a:ext uri="{9D8B030D-6E8A-4147-A177-3AD203B41FA5}">
                      <a16:colId xmlns:a16="http://schemas.microsoft.com/office/drawing/2014/main" val="4207000654"/>
                    </a:ext>
                  </a:extLst>
                </a:gridCol>
              </a:tblGrid>
              <a:tr h="298794">
                <a:tc>
                  <a:txBody>
                    <a:bodyPr/>
                    <a:lstStyle/>
                    <a:p>
                      <a:pPr algn="ctr">
                        <a:lnSpc>
                          <a:spcPct val="150000"/>
                        </a:lnSpc>
                        <a:spcAft>
                          <a:spcPts val="1200"/>
                        </a:spcAft>
                      </a:pPr>
                      <a:r>
                        <a:rPr lang="en-IN" sz="1400" baseline="0">
                          <a:effectLst/>
                          <a:latin typeface="Times New Roman" panose="02020603050405020304" pitchFamily="18" charset="0"/>
                        </a:rPr>
                        <a:t>, (comma)</a:t>
                      </a:r>
                      <a:endParaRPr lang="en-IN" sz="1400" baseline="0">
                        <a:effectLst/>
                        <a:latin typeface="Times New Roman" panose="02020603050405020304" pitchFamily="18" charset="0"/>
                        <a:ea typeface="Calibri" panose="020F0502020204030204" pitchFamily="34" charset="0"/>
                      </a:endParaRPr>
                    </a:p>
                  </a:txBody>
                  <a:tcPr marL="68580" marR="68580" marT="0" marB="0" anchor="b"/>
                </a:tc>
                <a:tc>
                  <a:txBody>
                    <a:bodyPr/>
                    <a:lstStyle/>
                    <a:p>
                      <a:pPr algn="ctr">
                        <a:lnSpc>
                          <a:spcPct val="150000"/>
                        </a:lnSpc>
                        <a:spcAft>
                          <a:spcPts val="1200"/>
                        </a:spcAft>
                      </a:pPr>
                      <a:r>
                        <a:rPr lang="en-IN" sz="1400" baseline="0" dirty="0">
                          <a:effectLst/>
                          <a:latin typeface="Times New Roman" panose="02020603050405020304" pitchFamily="18" charset="0"/>
                        </a:rPr>
                        <a:t>{ (opening curly bracket)</a:t>
                      </a:r>
                      <a:endParaRPr lang="en-IN" sz="1400" baseline="0" dirty="0">
                        <a:effectLst/>
                        <a:latin typeface="Times New Roman" panose="02020603050405020304" pitchFamily="18" charset="0"/>
                        <a:ea typeface="Calibri" panose="020F0502020204030204" pitchFamily="34" charset="0"/>
                      </a:endParaRPr>
                    </a:p>
                  </a:txBody>
                  <a:tcPr marL="68580" marR="68580" marT="0" marB="0" anchor="b"/>
                </a:tc>
                <a:extLst>
                  <a:ext uri="{0D108BD9-81ED-4DB2-BD59-A6C34878D82A}">
                    <a16:rowId xmlns:a16="http://schemas.microsoft.com/office/drawing/2014/main" val="66968447"/>
                  </a:ext>
                </a:extLst>
              </a:tr>
              <a:tr h="298794">
                <a:tc>
                  <a:txBody>
                    <a:bodyPr/>
                    <a:lstStyle/>
                    <a:p>
                      <a:pPr algn="ctr">
                        <a:lnSpc>
                          <a:spcPct val="150000"/>
                        </a:lnSpc>
                        <a:spcAft>
                          <a:spcPts val="1200"/>
                        </a:spcAft>
                      </a:pPr>
                      <a:r>
                        <a:rPr lang="en-IN" sz="1400" baseline="0" dirty="0">
                          <a:effectLst/>
                          <a:latin typeface="Times New Roman" panose="02020603050405020304" pitchFamily="18" charset="0"/>
                        </a:rPr>
                        <a:t>. (period)</a:t>
                      </a:r>
                      <a:endParaRPr lang="en-IN" sz="1400" baseline="0" dirty="0">
                        <a:effectLst/>
                        <a:latin typeface="Times New Roman" panose="02020603050405020304" pitchFamily="18" charset="0"/>
                        <a:ea typeface="Calibri" panose="020F0502020204030204" pitchFamily="34" charset="0"/>
                      </a:endParaRPr>
                    </a:p>
                  </a:txBody>
                  <a:tcPr marL="68580" marR="68580" marT="0" marB="0" anchor="b"/>
                </a:tc>
                <a:tc>
                  <a:txBody>
                    <a:bodyPr/>
                    <a:lstStyle/>
                    <a:p>
                      <a:pPr algn="ctr">
                        <a:lnSpc>
                          <a:spcPct val="150000"/>
                        </a:lnSpc>
                        <a:spcAft>
                          <a:spcPts val="1200"/>
                        </a:spcAft>
                      </a:pPr>
                      <a:r>
                        <a:rPr lang="en-IN" sz="1400" baseline="0">
                          <a:effectLst/>
                          <a:latin typeface="Times New Roman" panose="02020603050405020304" pitchFamily="18" charset="0"/>
                        </a:rPr>
                        <a:t>} (closing curly bracket)</a:t>
                      </a:r>
                      <a:endParaRPr lang="en-IN" sz="1400" baseline="0">
                        <a:effectLst/>
                        <a:latin typeface="Times New Roman" panose="02020603050405020304" pitchFamily="18" charset="0"/>
                        <a:ea typeface="Calibri" panose="020F0502020204030204" pitchFamily="34" charset="0"/>
                      </a:endParaRPr>
                    </a:p>
                  </a:txBody>
                  <a:tcPr marL="68580" marR="68580" marT="0" marB="0" anchor="b"/>
                </a:tc>
                <a:extLst>
                  <a:ext uri="{0D108BD9-81ED-4DB2-BD59-A6C34878D82A}">
                    <a16:rowId xmlns:a16="http://schemas.microsoft.com/office/drawing/2014/main" val="1024127541"/>
                  </a:ext>
                </a:extLst>
              </a:tr>
              <a:tr h="298794">
                <a:tc>
                  <a:txBody>
                    <a:bodyPr/>
                    <a:lstStyle/>
                    <a:p>
                      <a:pPr algn="ctr">
                        <a:lnSpc>
                          <a:spcPct val="150000"/>
                        </a:lnSpc>
                        <a:spcAft>
                          <a:spcPts val="1200"/>
                        </a:spcAft>
                      </a:pPr>
                      <a:r>
                        <a:rPr lang="en-IN" sz="1400" baseline="0">
                          <a:effectLst/>
                          <a:latin typeface="Times New Roman" panose="02020603050405020304" pitchFamily="18" charset="0"/>
                        </a:rPr>
                        <a:t>; (semi-colon)</a:t>
                      </a:r>
                      <a:endParaRPr lang="en-IN" sz="1400" baseline="0">
                        <a:effectLst/>
                        <a:latin typeface="Times New Roman" panose="02020603050405020304" pitchFamily="18" charset="0"/>
                        <a:ea typeface="Calibri" panose="020F0502020204030204" pitchFamily="34" charset="0"/>
                      </a:endParaRPr>
                    </a:p>
                  </a:txBody>
                  <a:tcPr marL="68580" marR="68580" marT="0" marB="0" anchor="b"/>
                </a:tc>
                <a:tc>
                  <a:txBody>
                    <a:bodyPr/>
                    <a:lstStyle/>
                    <a:p>
                      <a:pPr algn="ctr">
                        <a:lnSpc>
                          <a:spcPct val="150000"/>
                        </a:lnSpc>
                        <a:spcAft>
                          <a:spcPts val="1200"/>
                        </a:spcAft>
                      </a:pPr>
                      <a:r>
                        <a:rPr lang="en-IN" sz="1400" baseline="0">
                          <a:effectLst/>
                          <a:latin typeface="Times New Roman" panose="02020603050405020304" pitchFamily="18" charset="0"/>
                        </a:rPr>
                        <a:t>[ (left bracket)</a:t>
                      </a:r>
                      <a:endParaRPr lang="en-IN" sz="1400" baseline="0">
                        <a:effectLst/>
                        <a:latin typeface="Times New Roman" panose="02020603050405020304" pitchFamily="18" charset="0"/>
                        <a:ea typeface="Calibri" panose="020F0502020204030204" pitchFamily="34" charset="0"/>
                      </a:endParaRPr>
                    </a:p>
                  </a:txBody>
                  <a:tcPr marL="68580" marR="68580" marT="0" marB="0" anchor="b"/>
                </a:tc>
                <a:extLst>
                  <a:ext uri="{0D108BD9-81ED-4DB2-BD59-A6C34878D82A}">
                    <a16:rowId xmlns:a16="http://schemas.microsoft.com/office/drawing/2014/main" val="1815093237"/>
                  </a:ext>
                </a:extLst>
              </a:tr>
              <a:tr h="298794">
                <a:tc>
                  <a:txBody>
                    <a:bodyPr/>
                    <a:lstStyle/>
                    <a:p>
                      <a:pPr algn="ctr">
                        <a:lnSpc>
                          <a:spcPct val="150000"/>
                        </a:lnSpc>
                        <a:spcAft>
                          <a:spcPts val="1200"/>
                        </a:spcAft>
                      </a:pPr>
                      <a:r>
                        <a:rPr lang="en-IN" sz="1400" baseline="0">
                          <a:effectLst/>
                          <a:latin typeface="Times New Roman" panose="02020603050405020304" pitchFamily="18" charset="0"/>
                        </a:rPr>
                        <a:t>: (colon)</a:t>
                      </a:r>
                      <a:endParaRPr lang="en-IN" sz="1400" baseline="0">
                        <a:effectLst/>
                        <a:latin typeface="Times New Roman" panose="02020603050405020304" pitchFamily="18" charset="0"/>
                        <a:ea typeface="Calibri" panose="020F0502020204030204" pitchFamily="34" charset="0"/>
                      </a:endParaRPr>
                    </a:p>
                  </a:txBody>
                  <a:tcPr marL="68580" marR="68580" marT="0" marB="0" anchor="b"/>
                </a:tc>
                <a:tc>
                  <a:txBody>
                    <a:bodyPr/>
                    <a:lstStyle/>
                    <a:p>
                      <a:pPr algn="ctr">
                        <a:lnSpc>
                          <a:spcPct val="150000"/>
                        </a:lnSpc>
                        <a:spcAft>
                          <a:spcPts val="1200"/>
                        </a:spcAft>
                      </a:pPr>
                      <a:r>
                        <a:rPr lang="en-IN" sz="1400" baseline="0">
                          <a:effectLst/>
                          <a:latin typeface="Times New Roman" panose="02020603050405020304" pitchFamily="18" charset="0"/>
                        </a:rPr>
                        <a:t>] (right bracket)</a:t>
                      </a:r>
                      <a:endParaRPr lang="en-IN" sz="1400" baseline="0">
                        <a:effectLst/>
                        <a:latin typeface="Times New Roman" panose="02020603050405020304" pitchFamily="18" charset="0"/>
                        <a:ea typeface="Calibri" panose="020F0502020204030204" pitchFamily="34" charset="0"/>
                      </a:endParaRPr>
                    </a:p>
                  </a:txBody>
                  <a:tcPr marL="68580" marR="68580" marT="0" marB="0" anchor="b"/>
                </a:tc>
                <a:extLst>
                  <a:ext uri="{0D108BD9-81ED-4DB2-BD59-A6C34878D82A}">
                    <a16:rowId xmlns:a16="http://schemas.microsoft.com/office/drawing/2014/main" val="2309643371"/>
                  </a:ext>
                </a:extLst>
              </a:tr>
              <a:tr h="298794">
                <a:tc>
                  <a:txBody>
                    <a:bodyPr/>
                    <a:lstStyle/>
                    <a:p>
                      <a:pPr algn="ctr">
                        <a:lnSpc>
                          <a:spcPct val="150000"/>
                        </a:lnSpc>
                        <a:spcAft>
                          <a:spcPts val="1200"/>
                        </a:spcAft>
                      </a:pPr>
                      <a:r>
                        <a:rPr lang="en-IN" sz="1400" baseline="0" dirty="0">
                          <a:effectLst/>
                          <a:latin typeface="Times New Roman" panose="02020603050405020304" pitchFamily="18" charset="0"/>
                        </a:rPr>
                        <a:t>? (question mark)</a:t>
                      </a:r>
                      <a:endParaRPr lang="en-IN" sz="1400" baseline="0" dirty="0">
                        <a:effectLst/>
                        <a:latin typeface="Times New Roman" panose="02020603050405020304" pitchFamily="18" charset="0"/>
                        <a:ea typeface="Calibri" panose="020F0502020204030204" pitchFamily="34" charset="0"/>
                      </a:endParaRPr>
                    </a:p>
                  </a:txBody>
                  <a:tcPr marL="68580" marR="68580" marT="0" marB="0" anchor="b"/>
                </a:tc>
                <a:tc>
                  <a:txBody>
                    <a:bodyPr/>
                    <a:lstStyle/>
                    <a:p>
                      <a:pPr algn="ctr">
                        <a:lnSpc>
                          <a:spcPct val="150000"/>
                        </a:lnSpc>
                        <a:spcAft>
                          <a:spcPts val="1200"/>
                        </a:spcAft>
                      </a:pPr>
                      <a:r>
                        <a:rPr lang="en-IN" sz="1400" baseline="0" dirty="0">
                          <a:effectLst/>
                          <a:latin typeface="Times New Roman" panose="02020603050405020304" pitchFamily="18" charset="0"/>
                        </a:rPr>
                        <a:t>( (opening left parenthesis)</a:t>
                      </a:r>
                      <a:endParaRPr lang="en-IN" sz="1400" baseline="0" dirty="0">
                        <a:effectLst/>
                        <a:latin typeface="Times New Roman" panose="02020603050405020304" pitchFamily="18" charset="0"/>
                        <a:ea typeface="Calibri" panose="020F0502020204030204" pitchFamily="34" charset="0"/>
                      </a:endParaRPr>
                    </a:p>
                  </a:txBody>
                  <a:tcPr marL="68580" marR="68580" marT="0" marB="0" anchor="b"/>
                </a:tc>
                <a:extLst>
                  <a:ext uri="{0D108BD9-81ED-4DB2-BD59-A6C34878D82A}">
                    <a16:rowId xmlns:a16="http://schemas.microsoft.com/office/drawing/2014/main" val="3654177814"/>
                  </a:ext>
                </a:extLst>
              </a:tr>
              <a:tr h="298794">
                <a:tc>
                  <a:txBody>
                    <a:bodyPr/>
                    <a:lstStyle/>
                    <a:p>
                      <a:pPr algn="ctr">
                        <a:lnSpc>
                          <a:spcPct val="150000"/>
                        </a:lnSpc>
                        <a:spcAft>
                          <a:spcPts val="1200"/>
                        </a:spcAft>
                      </a:pPr>
                      <a:r>
                        <a:rPr lang="en-IN" sz="1400" baseline="0">
                          <a:effectLst/>
                          <a:latin typeface="Times New Roman" panose="02020603050405020304" pitchFamily="18" charset="0"/>
                        </a:rPr>
                        <a:t>' (apostrophe)</a:t>
                      </a:r>
                      <a:endParaRPr lang="en-IN" sz="1400" baseline="0">
                        <a:effectLst/>
                        <a:latin typeface="Times New Roman" panose="02020603050405020304" pitchFamily="18" charset="0"/>
                        <a:ea typeface="Calibri" panose="020F0502020204030204" pitchFamily="34" charset="0"/>
                      </a:endParaRPr>
                    </a:p>
                  </a:txBody>
                  <a:tcPr marL="68580" marR="68580" marT="0" marB="0" anchor="b"/>
                </a:tc>
                <a:tc>
                  <a:txBody>
                    <a:bodyPr/>
                    <a:lstStyle/>
                    <a:p>
                      <a:pPr algn="ctr">
                        <a:lnSpc>
                          <a:spcPct val="150000"/>
                        </a:lnSpc>
                        <a:spcAft>
                          <a:spcPts val="1200"/>
                        </a:spcAft>
                      </a:pPr>
                      <a:r>
                        <a:rPr lang="en-IN" sz="1400" baseline="0" dirty="0">
                          <a:effectLst/>
                          <a:latin typeface="Times New Roman" panose="02020603050405020304" pitchFamily="18" charset="0"/>
                        </a:rPr>
                        <a:t>) (closing right parenthesis)</a:t>
                      </a:r>
                      <a:endParaRPr lang="en-IN" sz="1400" baseline="0" dirty="0">
                        <a:effectLst/>
                        <a:latin typeface="Times New Roman" panose="02020603050405020304" pitchFamily="18" charset="0"/>
                        <a:ea typeface="Calibri" panose="020F0502020204030204" pitchFamily="34" charset="0"/>
                      </a:endParaRPr>
                    </a:p>
                  </a:txBody>
                  <a:tcPr marL="68580" marR="68580" marT="0" marB="0" anchor="b"/>
                </a:tc>
                <a:extLst>
                  <a:ext uri="{0D108BD9-81ED-4DB2-BD59-A6C34878D82A}">
                    <a16:rowId xmlns:a16="http://schemas.microsoft.com/office/drawing/2014/main" val="3622553723"/>
                  </a:ext>
                </a:extLst>
              </a:tr>
              <a:tr h="298794">
                <a:tc>
                  <a:txBody>
                    <a:bodyPr/>
                    <a:lstStyle/>
                    <a:p>
                      <a:pPr algn="ctr">
                        <a:lnSpc>
                          <a:spcPct val="150000"/>
                        </a:lnSpc>
                        <a:spcAft>
                          <a:spcPts val="1200"/>
                        </a:spcAft>
                      </a:pPr>
                      <a:r>
                        <a:rPr lang="en-IN" sz="1400" baseline="0">
                          <a:effectLst/>
                          <a:latin typeface="Times New Roman" panose="02020603050405020304" pitchFamily="18" charset="0"/>
                        </a:rPr>
                        <a:t>" (double quotation mark)</a:t>
                      </a:r>
                      <a:endParaRPr lang="en-IN" sz="1400" baseline="0">
                        <a:effectLst/>
                        <a:latin typeface="Times New Roman" panose="02020603050405020304" pitchFamily="18" charset="0"/>
                        <a:ea typeface="Calibri" panose="020F0502020204030204" pitchFamily="34" charset="0"/>
                      </a:endParaRPr>
                    </a:p>
                  </a:txBody>
                  <a:tcPr marL="68580" marR="68580" marT="0" marB="0" anchor="b"/>
                </a:tc>
                <a:tc>
                  <a:txBody>
                    <a:bodyPr/>
                    <a:lstStyle/>
                    <a:p>
                      <a:pPr algn="ctr">
                        <a:lnSpc>
                          <a:spcPct val="150000"/>
                        </a:lnSpc>
                        <a:spcAft>
                          <a:spcPts val="1200"/>
                        </a:spcAft>
                      </a:pPr>
                      <a:r>
                        <a:rPr lang="en-IN" sz="1400" baseline="0">
                          <a:effectLst/>
                          <a:latin typeface="Times New Roman" panose="02020603050405020304" pitchFamily="18" charset="0"/>
                        </a:rPr>
                        <a:t>&amp; (ampersand)</a:t>
                      </a:r>
                      <a:endParaRPr lang="en-IN" sz="1400" baseline="0">
                        <a:effectLst/>
                        <a:latin typeface="Times New Roman" panose="02020603050405020304" pitchFamily="18" charset="0"/>
                        <a:ea typeface="Calibri" panose="020F0502020204030204" pitchFamily="34" charset="0"/>
                      </a:endParaRPr>
                    </a:p>
                  </a:txBody>
                  <a:tcPr marL="68580" marR="68580" marT="0" marB="0" anchor="b"/>
                </a:tc>
                <a:extLst>
                  <a:ext uri="{0D108BD9-81ED-4DB2-BD59-A6C34878D82A}">
                    <a16:rowId xmlns:a16="http://schemas.microsoft.com/office/drawing/2014/main" val="3593511442"/>
                  </a:ext>
                </a:extLst>
              </a:tr>
              <a:tr h="298794">
                <a:tc>
                  <a:txBody>
                    <a:bodyPr/>
                    <a:lstStyle/>
                    <a:p>
                      <a:pPr algn="ctr">
                        <a:lnSpc>
                          <a:spcPct val="150000"/>
                        </a:lnSpc>
                        <a:spcAft>
                          <a:spcPts val="1200"/>
                        </a:spcAft>
                      </a:pPr>
                      <a:r>
                        <a:rPr lang="en-IN" sz="1400" baseline="0">
                          <a:effectLst/>
                          <a:latin typeface="Times New Roman" panose="02020603050405020304" pitchFamily="18" charset="0"/>
                        </a:rPr>
                        <a:t>! (exclamation mark)</a:t>
                      </a:r>
                      <a:endParaRPr lang="en-IN" sz="1400" baseline="0">
                        <a:effectLst/>
                        <a:latin typeface="Times New Roman" panose="02020603050405020304" pitchFamily="18" charset="0"/>
                        <a:ea typeface="Calibri" panose="020F0502020204030204" pitchFamily="34" charset="0"/>
                      </a:endParaRPr>
                    </a:p>
                  </a:txBody>
                  <a:tcPr marL="68580" marR="68580" marT="0" marB="0" anchor="b"/>
                </a:tc>
                <a:tc>
                  <a:txBody>
                    <a:bodyPr/>
                    <a:lstStyle/>
                    <a:p>
                      <a:pPr algn="ctr">
                        <a:lnSpc>
                          <a:spcPct val="150000"/>
                        </a:lnSpc>
                        <a:spcAft>
                          <a:spcPts val="1200"/>
                        </a:spcAft>
                      </a:pPr>
                      <a:r>
                        <a:rPr lang="en-IN" sz="1400" baseline="0">
                          <a:effectLst/>
                          <a:latin typeface="Times New Roman" panose="02020603050405020304" pitchFamily="18" charset="0"/>
                        </a:rPr>
                        <a:t>^ (caret)</a:t>
                      </a:r>
                      <a:endParaRPr lang="en-IN" sz="1400" baseline="0">
                        <a:effectLst/>
                        <a:latin typeface="Times New Roman" panose="02020603050405020304" pitchFamily="18" charset="0"/>
                        <a:ea typeface="Calibri" panose="020F0502020204030204" pitchFamily="34" charset="0"/>
                      </a:endParaRPr>
                    </a:p>
                  </a:txBody>
                  <a:tcPr marL="68580" marR="68580" marT="0" marB="0" anchor="b"/>
                </a:tc>
                <a:extLst>
                  <a:ext uri="{0D108BD9-81ED-4DB2-BD59-A6C34878D82A}">
                    <a16:rowId xmlns:a16="http://schemas.microsoft.com/office/drawing/2014/main" val="787966569"/>
                  </a:ext>
                </a:extLst>
              </a:tr>
              <a:tr h="298794">
                <a:tc>
                  <a:txBody>
                    <a:bodyPr/>
                    <a:lstStyle/>
                    <a:p>
                      <a:pPr algn="ctr">
                        <a:lnSpc>
                          <a:spcPct val="150000"/>
                        </a:lnSpc>
                        <a:spcAft>
                          <a:spcPts val="1200"/>
                        </a:spcAft>
                      </a:pPr>
                      <a:r>
                        <a:rPr lang="en-IN" sz="1400" baseline="0">
                          <a:effectLst/>
                          <a:latin typeface="Times New Roman" panose="02020603050405020304" pitchFamily="18" charset="0"/>
                        </a:rPr>
                        <a:t>|(vertical bar)</a:t>
                      </a:r>
                      <a:endParaRPr lang="en-IN" sz="1400" baseline="0">
                        <a:effectLst/>
                        <a:latin typeface="Times New Roman" panose="02020603050405020304" pitchFamily="18" charset="0"/>
                        <a:ea typeface="Calibri" panose="020F0502020204030204" pitchFamily="34" charset="0"/>
                      </a:endParaRPr>
                    </a:p>
                  </a:txBody>
                  <a:tcPr marL="68580" marR="68580" marT="0" marB="0" anchor="b"/>
                </a:tc>
                <a:tc>
                  <a:txBody>
                    <a:bodyPr/>
                    <a:lstStyle/>
                    <a:p>
                      <a:pPr algn="ctr">
                        <a:lnSpc>
                          <a:spcPct val="150000"/>
                        </a:lnSpc>
                        <a:spcAft>
                          <a:spcPts val="1200"/>
                        </a:spcAft>
                      </a:pPr>
                      <a:r>
                        <a:rPr lang="en-IN" sz="1400" baseline="0">
                          <a:effectLst/>
                          <a:latin typeface="Times New Roman" panose="02020603050405020304" pitchFamily="18" charset="0"/>
                        </a:rPr>
                        <a:t>+ (addition)</a:t>
                      </a:r>
                      <a:endParaRPr lang="en-IN" sz="1400" baseline="0">
                        <a:effectLst/>
                        <a:latin typeface="Times New Roman" panose="02020603050405020304" pitchFamily="18" charset="0"/>
                        <a:ea typeface="Calibri" panose="020F0502020204030204" pitchFamily="34" charset="0"/>
                      </a:endParaRPr>
                    </a:p>
                  </a:txBody>
                  <a:tcPr marL="68580" marR="68580" marT="0" marB="0" anchor="b"/>
                </a:tc>
                <a:extLst>
                  <a:ext uri="{0D108BD9-81ED-4DB2-BD59-A6C34878D82A}">
                    <a16:rowId xmlns:a16="http://schemas.microsoft.com/office/drawing/2014/main" val="2269670253"/>
                  </a:ext>
                </a:extLst>
              </a:tr>
              <a:tr h="298794">
                <a:tc>
                  <a:txBody>
                    <a:bodyPr/>
                    <a:lstStyle/>
                    <a:p>
                      <a:pPr algn="ctr">
                        <a:lnSpc>
                          <a:spcPct val="150000"/>
                        </a:lnSpc>
                        <a:spcAft>
                          <a:spcPts val="1200"/>
                        </a:spcAft>
                      </a:pPr>
                      <a:r>
                        <a:rPr lang="en-IN" sz="1400" baseline="0" dirty="0">
                          <a:effectLst/>
                          <a:latin typeface="Times New Roman" panose="02020603050405020304" pitchFamily="18" charset="0"/>
                        </a:rPr>
                        <a:t>/ (forward slash)</a:t>
                      </a:r>
                      <a:endParaRPr lang="en-IN" sz="1400" baseline="0" dirty="0">
                        <a:effectLst/>
                        <a:latin typeface="Times New Roman" panose="02020603050405020304" pitchFamily="18" charset="0"/>
                        <a:ea typeface="Calibri" panose="020F0502020204030204" pitchFamily="34" charset="0"/>
                      </a:endParaRPr>
                    </a:p>
                  </a:txBody>
                  <a:tcPr marL="68580" marR="68580" marT="0" marB="0" anchor="b"/>
                </a:tc>
                <a:tc>
                  <a:txBody>
                    <a:bodyPr/>
                    <a:lstStyle/>
                    <a:p>
                      <a:pPr algn="ctr">
                        <a:lnSpc>
                          <a:spcPct val="150000"/>
                        </a:lnSpc>
                        <a:spcAft>
                          <a:spcPts val="1200"/>
                        </a:spcAft>
                      </a:pPr>
                      <a:r>
                        <a:rPr lang="en-IN" sz="1400" baseline="0">
                          <a:effectLst/>
                          <a:latin typeface="Times New Roman" panose="02020603050405020304" pitchFamily="18" charset="0"/>
                        </a:rPr>
                        <a:t>- (subtraction)</a:t>
                      </a:r>
                      <a:endParaRPr lang="en-IN" sz="1400" baseline="0">
                        <a:effectLst/>
                        <a:latin typeface="Times New Roman" panose="02020603050405020304" pitchFamily="18" charset="0"/>
                        <a:ea typeface="Calibri" panose="020F0502020204030204" pitchFamily="34" charset="0"/>
                      </a:endParaRPr>
                    </a:p>
                  </a:txBody>
                  <a:tcPr marL="68580" marR="68580" marT="0" marB="0" anchor="b"/>
                </a:tc>
                <a:extLst>
                  <a:ext uri="{0D108BD9-81ED-4DB2-BD59-A6C34878D82A}">
                    <a16:rowId xmlns:a16="http://schemas.microsoft.com/office/drawing/2014/main" val="2475948026"/>
                  </a:ext>
                </a:extLst>
              </a:tr>
              <a:tr h="298794">
                <a:tc>
                  <a:txBody>
                    <a:bodyPr/>
                    <a:lstStyle/>
                    <a:p>
                      <a:pPr algn="ctr">
                        <a:lnSpc>
                          <a:spcPct val="150000"/>
                        </a:lnSpc>
                        <a:spcAft>
                          <a:spcPts val="1200"/>
                        </a:spcAft>
                      </a:pPr>
                      <a:r>
                        <a:rPr lang="en-IN" sz="1400" baseline="0" dirty="0">
                          <a:effectLst/>
                          <a:latin typeface="Times New Roman" panose="02020603050405020304" pitchFamily="18" charset="0"/>
                        </a:rPr>
                        <a:t>\ (backward slash)</a:t>
                      </a:r>
                      <a:endParaRPr lang="en-IN" sz="1400" baseline="0" dirty="0">
                        <a:effectLst/>
                        <a:latin typeface="Times New Roman" panose="02020603050405020304" pitchFamily="18" charset="0"/>
                        <a:ea typeface="Calibri" panose="020F0502020204030204" pitchFamily="34" charset="0"/>
                      </a:endParaRPr>
                    </a:p>
                  </a:txBody>
                  <a:tcPr marL="68580" marR="68580" marT="0" marB="0" anchor="b"/>
                </a:tc>
                <a:tc>
                  <a:txBody>
                    <a:bodyPr/>
                    <a:lstStyle/>
                    <a:p>
                      <a:pPr algn="ctr">
                        <a:lnSpc>
                          <a:spcPct val="150000"/>
                        </a:lnSpc>
                        <a:spcAft>
                          <a:spcPts val="1200"/>
                        </a:spcAft>
                      </a:pPr>
                      <a:r>
                        <a:rPr lang="en-IN" sz="1400" baseline="0">
                          <a:effectLst/>
                          <a:latin typeface="Times New Roman" panose="02020603050405020304" pitchFamily="18" charset="0"/>
                        </a:rPr>
                        <a:t>* (multiplication)</a:t>
                      </a:r>
                      <a:endParaRPr lang="en-IN" sz="1400" baseline="0">
                        <a:effectLst/>
                        <a:latin typeface="Times New Roman" panose="02020603050405020304" pitchFamily="18" charset="0"/>
                        <a:ea typeface="Calibri" panose="020F0502020204030204" pitchFamily="34" charset="0"/>
                      </a:endParaRPr>
                    </a:p>
                  </a:txBody>
                  <a:tcPr marL="68580" marR="68580" marT="0" marB="0" anchor="b"/>
                </a:tc>
                <a:extLst>
                  <a:ext uri="{0D108BD9-81ED-4DB2-BD59-A6C34878D82A}">
                    <a16:rowId xmlns:a16="http://schemas.microsoft.com/office/drawing/2014/main" val="1814333273"/>
                  </a:ext>
                </a:extLst>
              </a:tr>
              <a:tr h="298794">
                <a:tc>
                  <a:txBody>
                    <a:bodyPr/>
                    <a:lstStyle/>
                    <a:p>
                      <a:pPr algn="ctr">
                        <a:lnSpc>
                          <a:spcPct val="150000"/>
                        </a:lnSpc>
                        <a:spcAft>
                          <a:spcPts val="1200"/>
                        </a:spcAft>
                      </a:pPr>
                      <a:r>
                        <a:rPr lang="en-IN" sz="1400" baseline="0">
                          <a:effectLst/>
                          <a:latin typeface="Times New Roman" panose="02020603050405020304" pitchFamily="18" charset="0"/>
                        </a:rPr>
                        <a:t>~ (tilde)</a:t>
                      </a:r>
                      <a:endParaRPr lang="en-IN" sz="1400" baseline="0">
                        <a:effectLst/>
                        <a:latin typeface="Times New Roman" panose="02020603050405020304" pitchFamily="18" charset="0"/>
                        <a:ea typeface="Calibri" panose="020F0502020204030204" pitchFamily="34" charset="0"/>
                      </a:endParaRPr>
                    </a:p>
                  </a:txBody>
                  <a:tcPr marL="68580" marR="68580" marT="0" marB="0" anchor="b"/>
                </a:tc>
                <a:tc>
                  <a:txBody>
                    <a:bodyPr/>
                    <a:lstStyle/>
                    <a:p>
                      <a:pPr algn="ctr">
                        <a:lnSpc>
                          <a:spcPct val="150000"/>
                        </a:lnSpc>
                        <a:spcAft>
                          <a:spcPts val="1200"/>
                        </a:spcAft>
                      </a:pPr>
                      <a:r>
                        <a:rPr lang="en-IN" sz="1400" baseline="0">
                          <a:effectLst/>
                          <a:latin typeface="Times New Roman" panose="02020603050405020304" pitchFamily="18" charset="0"/>
                        </a:rPr>
                        <a:t>/ (division)</a:t>
                      </a:r>
                      <a:endParaRPr lang="en-IN" sz="1400" baseline="0">
                        <a:effectLst/>
                        <a:latin typeface="Times New Roman" panose="02020603050405020304" pitchFamily="18" charset="0"/>
                        <a:ea typeface="Calibri" panose="020F0502020204030204" pitchFamily="34" charset="0"/>
                      </a:endParaRPr>
                    </a:p>
                  </a:txBody>
                  <a:tcPr marL="68580" marR="68580" marT="0" marB="0" anchor="b"/>
                </a:tc>
                <a:extLst>
                  <a:ext uri="{0D108BD9-81ED-4DB2-BD59-A6C34878D82A}">
                    <a16:rowId xmlns:a16="http://schemas.microsoft.com/office/drawing/2014/main" val="3895530281"/>
                  </a:ext>
                </a:extLst>
              </a:tr>
              <a:tr h="298794">
                <a:tc>
                  <a:txBody>
                    <a:bodyPr/>
                    <a:lstStyle/>
                    <a:p>
                      <a:pPr algn="ctr">
                        <a:lnSpc>
                          <a:spcPct val="150000"/>
                        </a:lnSpc>
                        <a:spcAft>
                          <a:spcPts val="1200"/>
                        </a:spcAft>
                      </a:pPr>
                      <a:r>
                        <a:rPr lang="en-IN" sz="1400" baseline="0">
                          <a:effectLst/>
                          <a:latin typeface="Times New Roman" panose="02020603050405020304" pitchFamily="18" charset="0"/>
                        </a:rPr>
                        <a:t>_ (underscore)</a:t>
                      </a:r>
                      <a:endParaRPr lang="en-IN" sz="1400" baseline="0">
                        <a:effectLst/>
                        <a:latin typeface="Times New Roman" panose="02020603050405020304" pitchFamily="18" charset="0"/>
                        <a:ea typeface="Calibri" panose="020F0502020204030204" pitchFamily="34" charset="0"/>
                      </a:endParaRPr>
                    </a:p>
                  </a:txBody>
                  <a:tcPr marL="68580" marR="68580" marT="0" marB="0" anchor="b"/>
                </a:tc>
                <a:tc>
                  <a:txBody>
                    <a:bodyPr/>
                    <a:lstStyle/>
                    <a:p>
                      <a:pPr algn="ctr">
                        <a:lnSpc>
                          <a:spcPct val="150000"/>
                        </a:lnSpc>
                        <a:spcAft>
                          <a:spcPts val="1200"/>
                        </a:spcAft>
                      </a:pPr>
                      <a:r>
                        <a:rPr lang="en-IN" sz="1400" baseline="0">
                          <a:effectLst/>
                          <a:latin typeface="Times New Roman" panose="02020603050405020304" pitchFamily="18" charset="0"/>
                        </a:rPr>
                        <a:t>&gt; (greater than or closing angle bracket)</a:t>
                      </a:r>
                      <a:endParaRPr lang="en-IN" sz="1400" baseline="0">
                        <a:effectLst/>
                        <a:latin typeface="Times New Roman" panose="02020603050405020304" pitchFamily="18" charset="0"/>
                        <a:ea typeface="Calibri" panose="020F0502020204030204" pitchFamily="34" charset="0"/>
                      </a:endParaRPr>
                    </a:p>
                  </a:txBody>
                  <a:tcPr marL="68580" marR="68580" marT="0" marB="0" anchor="b"/>
                </a:tc>
                <a:extLst>
                  <a:ext uri="{0D108BD9-81ED-4DB2-BD59-A6C34878D82A}">
                    <a16:rowId xmlns:a16="http://schemas.microsoft.com/office/drawing/2014/main" val="2354300057"/>
                  </a:ext>
                </a:extLst>
              </a:tr>
              <a:tr h="298794">
                <a:tc>
                  <a:txBody>
                    <a:bodyPr/>
                    <a:lstStyle/>
                    <a:p>
                      <a:pPr algn="ctr">
                        <a:lnSpc>
                          <a:spcPct val="150000"/>
                        </a:lnSpc>
                        <a:spcAft>
                          <a:spcPts val="1200"/>
                        </a:spcAft>
                      </a:pPr>
                      <a:r>
                        <a:rPr lang="en-IN" sz="1400" baseline="0" dirty="0">
                          <a:effectLst/>
                          <a:latin typeface="Times New Roman" panose="02020603050405020304" pitchFamily="18" charset="0"/>
                        </a:rPr>
                        <a:t>$ (dollar sign)</a:t>
                      </a:r>
                      <a:endParaRPr lang="en-IN" sz="1400" baseline="0" dirty="0">
                        <a:effectLst/>
                        <a:latin typeface="Times New Roman" panose="02020603050405020304" pitchFamily="18" charset="0"/>
                        <a:ea typeface="Calibri" panose="020F0502020204030204" pitchFamily="34" charset="0"/>
                      </a:endParaRPr>
                    </a:p>
                  </a:txBody>
                  <a:tcPr marL="68580" marR="68580" marT="0" marB="0" anchor="b"/>
                </a:tc>
                <a:tc>
                  <a:txBody>
                    <a:bodyPr/>
                    <a:lstStyle/>
                    <a:p>
                      <a:pPr algn="ctr">
                        <a:lnSpc>
                          <a:spcPct val="150000"/>
                        </a:lnSpc>
                        <a:spcAft>
                          <a:spcPts val="1200"/>
                        </a:spcAft>
                      </a:pPr>
                      <a:r>
                        <a:rPr lang="en-IN" sz="1400" baseline="0">
                          <a:effectLst/>
                          <a:latin typeface="Times New Roman" panose="02020603050405020304" pitchFamily="18" charset="0"/>
                        </a:rPr>
                        <a:t>&lt; (less than or opening angle bracket)</a:t>
                      </a:r>
                      <a:endParaRPr lang="en-IN" sz="1400" baseline="0">
                        <a:effectLst/>
                        <a:latin typeface="Times New Roman" panose="02020603050405020304" pitchFamily="18" charset="0"/>
                        <a:ea typeface="Calibri" panose="020F0502020204030204" pitchFamily="34" charset="0"/>
                      </a:endParaRPr>
                    </a:p>
                  </a:txBody>
                  <a:tcPr marL="68580" marR="68580" marT="0" marB="0" anchor="b"/>
                </a:tc>
                <a:extLst>
                  <a:ext uri="{0D108BD9-81ED-4DB2-BD59-A6C34878D82A}">
                    <a16:rowId xmlns:a16="http://schemas.microsoft.com/office/drawing/2014/main" val="1697553833"/>
                  </a:ext>
                </a:extLst>
              </a:tr>
              <a:tr h="298794">
                <a:tc>
                  <a:txBody>
                    <a:bodyPr/>
                    <a:lstStyle/>
                    <a:p>
                      <a:pPr algn="ctr">
                        <a:lnSpc>
                          <a:spcPct val="150000"/>
                        </a:lnSpc>
                        <a:spcAft>
                          <a:spcPts val="1200"/>
                        </a:spcAft>
                      </a:pPr>
                      <a:r>
                        <a:rPr lang="en-IN" sz="1400" baseline="0">
                          <a:effectLst/>
                          <a:latin typeface="Times New Roman" panose="02020603050405020304" pitchFamily="18" charset="0"/>
                        </a:rPr>
                        <a:t>% (percentage sign)</a:t>
                      </a:r>
                      <a:endParaRPr lang="en-IN" sz="1400" baseline="0">
                        <a:effectLst/>
                        <a:latin typeface="Times New Roman" panose="02020603050405020304" pitchFamily="18" charset="0"/>
                        <a:ea typeface="Calibri" panose="020F0502020204030204" pitchFamily="34" charset="0"/>
                      </a:endParaRPr>
                    </a:p>
                  </a:txBody>
                  <a:tcPr marL="68580" marR="68580" marT="0" marB="0" anchor="b"/>
                </a:tc>
                <a:tc>
                  <a:txBody>
                    <a:bodyPr/>
                    <a:lstStyle/>
                    <a:p>
                      <a:pPr algn="ctr">
                        <a:lnSpc>
                          <a:spcPct val="150000"/>
                        </a:lnSpc>
                        <a:spcAft>
                          <a:spcPts val="1200"/>
                        </a:spcAft>
                      </a:pPr>
                      <a:r>
                        <a:rPr lang="en-IN" sz="1400" baseline="0" dirty="0">
                          <a:effectLst/>
                          <a:latin typeface="Times New Roman" panose="02020603050405020304" pitchFamily="18" charset="0"/>
                        </a:rPr>
                        <a:t># (hash sign)</a:t>
                      </a:r>
                      <a:endParaRPr lang="en-IN" sz="1400" baseline="0" dirty="0">
                        <a:effectLst/>
                        <a:latin typeface="Times New Roman" panose="02020603050405020304" pitchFamily="18" charset="0"/>
                        <a:ea typeface="Calibri" panose="020F0502020204030204" pitchFamily="34" charset="0"/>
                      </a:endParaRPr>
                    </a:p>
                  </a:txBody>
                  <a:tcPr marL="68580" marR="68580" marT="0" marB="0" anchor="b"/>
                </a:tc>
                <a:extLst>
                  <a:ext uri="{0D108BD9-81ED-4DB2-BD59-A6C34878D82A}">
                    <a16:rowId xmlns:a16="http://schemas.microsoft.com/office/drawing/2014/main" val="1121666109"/>
                  </a:ext>
                </a:extLst>
              </a:tr>
            </a:tbl>
          </a:graphicData>
        </a:graphic>
      </p:graphicFrame>
    </p:spTree>
    <p:extLst>
      <p:ext uri="{BB962C8B-B14F-4D97-AF65-F5344CB8AC3E}">
        <p14:creationId xmlns:p14="http://schemas.microsoft.com/office/powerpoint/2010/main" val="3258974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89A1B-14CA-E3AD-1116-C89FD9F5188C}"/>
              </a:ext>
            </a:extLst>
          </p:cNvPr>
          <p:cNvSpPr>
            <a:spLocks noGrp="1"/>
          </p:cNvSpPr>
          <p:nvPr>
            <p:ph type="title"/>
          </p:nvPr>
        </p:nvSpPr>
        <p:spPr>
          <a:xfrm>
            <a:off x="1295402" y="982133"/>
            <a:ext cx="9601196" cy="1248112"/>
          </a:xfrm>
        </p:spPr>
        <p:txBody>
          <a:bodyPr>
            <a:normAutofit/>
          </a:bodyPr>
          <a:lstStyle/>
          <a:p>
            <a:r>
              <a:rPr lang="en-US" sz="4000" dirty="0">
                <a:latin typeface="Times New Roman" panose="02020603050405020304" pitchFamily="18" charset="0"/>
                <a:cs typeface="Times New Roman" panose="02020603050405020304" pitchFamily="18" charset="0"/>
              </a:rPr>
              <a:t>Token in c language</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5650E40-C2C3-B438-84AC-7D8F4D958598}"/>
              </a:ext>
            </a:extLst>
          </p:cNvPr>
          <p:cNvSpPr>
            <a:spLocks noGrp="1"/>
          </p:cNvSpPr>
          <p:nvPr>
            <p:ph idx="1"/>
          </p:nvPr>
        </p:nvSpPr>
        <p:spPr>
          <a:xfrm>
            <a:off x="1295401" y="2475571"/>
            <a:ext cx="9601196" cy="3400297"/>
          </a:xfrm>
        </p:spPr>
        <p:txBody>
          <a:bodyPr/>
          <a:lstStyle/>
          <a:p>
            <a:r>
              <a:rPr lang="en-IN" sz="18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a:t>
            </a:r>
            <a:r>
              <a:rPr lang="en-IN" sz="18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TOKEN is the smallest unit in a 'C' program.</a:t>
            </a:r>
            <a:r>
              <a:rPr lang="en-US" sz="1800" b="0" i="0" dirty="0">
                <a:solidFill>
                  <a:srgbClr val="333333"/>
                </a:solidFill>
                <a:effectLst/>
                <a:latin typeface="Times New Roman" panose="02020603050405020304" pitchFamily="18" charset="0"/>
                <a:cs typeface="Times New Roman" panose="02020603050405020304" pitchFamily="18" charset="0"/>
              </a:rPr>
              <a:t> Tokens in C is the most important element to be used in creating a program in C. We can define the token as the smallest individual element in C. For `example, we cannot create a sentence without using words; similarly, we cannot create a program in C without using tokens in C</a:t>
            </a:r>
            <a:r>
              <a:rPr lang="en-IN" sz="18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a:t>
            </a:r>
          </a:p>
          <a:p>
            <a:r>
              <a:rPr lang="en-IN" sz="18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The compiler breaks a program into the smallest possible units (tokens) and proceeds to the various stages of the compilation. A token is divided into six different types, viz, Keywords, Operators, Strings, Constants, Special Characters, and Identifiers.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913612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F86DA-0FC6-5467-282B-C69800AA5F06}"/>
              </a:ext>
            </a:extLst>
          </p:cNvPr>
          <p:cNvSpPr>
            <a:spLocks noGrp="1"/>
          </p:cNvSpPr>
          <p:nvPr>
            <p:ph type="title"/>
          </p:nvPr>
        </p:nvSpPr>
        <p:spPr>
          <a:xfrm>
            <a:off x="1295402" y="982132"/>
            <a:ext cx="9601196" cy="969331"/>
          </a:xfrm>
        </p:spPr>
        <p:txBody>
          <a:bodyPr>
            <a:normAutofit/>
          </a:bodyPr>
          <a:lstStyle/>
          <a:p>
            <a:r>
              <a:rPr lang="en-US" sz="4000" dirty="0">
                <a:latin typeface="Times New Roman" panose="02020603050405020304" pitchFamily="18" charset="0"/>
                <a:cs typeface="Times New Roman" panose="02020603050405020304" pitchFamily="18" charset="0"/>
              </a:rPr>
              <a:t>Conti..</a:t>
            </a:r>
            <a:endParaRPr lang="en-IN" sz="40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DF91CB21-EA08-DB53-6912-A89EC315AA6F}"/>
              </a:ext>
            </a:extLst>
          </p:cNvPr>
          <p:cNvPicPr>
            <a:picLocks noGrp="1" noChangeAspect="1"/>
          </p:cNvPicPr>
          <p:nvPr>
            <p:ph idx="1"/>
          </p:nvPr>
        </p:nvPicPr>
        <p:blipFill>
          <a:blip r:embed="rId2"/>
          <a:stretch>
            <a:fillRect/>
          </a:stretch>
        </p:blipFill>
        <p:spPr>
          <a:xfrm>
            <a:off x="2461500" y="2557463"/>
            <a:ext cx="7269000" cy="3317875"/>
          </a:xfrm>
        </p:spPr>
      </p:pic>
    </p:spTree>
    <p:extLst>
      <p:ext uri="{BB962C8B-B14F-4D97-AF65-F5344CB8AC3E}">
        <p14:creationId xmlns:p14="http://schemas.microsoft.com/office/powerpoint/2010/main" val="683648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6D0D5-9121-19FB-6EF7-D3860085D711}"/>
              </a:ext>
            </a:extLst>
          </p:cNvPr>
          <p:cNvSpPr>
            <a:spLocks noGrp="1"/>
          </p:cNvSpPr>
          <p:nvPr>
            <p:ph type="title"/>
          </p:nvPr>
        </p:nvSpPr>
        <p:spPr/>
        <p:txBody>
          <a:bodyPr/>
          <a:lstStyle/>
          <a:p>
            <a:r>
              <a:rPr lang="en-IN" b="1" i="0" dirty="0">
                <a:solidFill>
                  <a:srgbClr val="333333"/>
                </a:solidFill>
                <a:effectLst/>
                <a:latin typeface="inter-bold"/>
              </a:rPr>
              <a:t>Keywords in C</a:t>
            </a:r>
            <a:endParaRPr lang="en-IN" dirty="0"/>
          </a:p>
        </p:txBody>
      </p:sp>
      <p:sp>
        <p:nvSpPr>
          <p:cNvPr id="3" name="Content Placeholder 2">
            <a:extLst>
              <a:ext uri="{FF2B5EF4-FFF2-40B4-BE49-F238E27FC236}">
                <a16:creationId xmlns:a16="http://schemas.microsoft.com/office/drawing/2014/main" id="{92147A0A-2138-9B71-8991-DF811FCA139A}"/>
              </a:ext>
            </a:extLst>
          </p:cNvPr>
          <p:cNvSpPr>
            <a:spLocks noGrp="1"/>
          </p:cNvSpPr>
          <p:nvPr>
            <p:ph idx="1"/>
          </p:nvPr>
        </p:nvSpPr>
        <p:spPr/>
        <p:txBody>
          <a:bodyPr/>
          <a:lstStyle/>
          <a:p>
            <a:r>
              <a:rPr lang="en-US" b="0" i="0" u="none" strike="noStrike" dirty="0">
                <a:solidFill>
                  <a:srgbClr val="008000"/>
                </a:solidFill>
                <a:effectLst/>
                <a:latin typeface="inter-regular"/>
                <a:hlinkClick r:id="rId2"/>
              </a:rPr>
              <a:t>Keywords in C</a:t>
            </a:r>
            <a:r>
              <a:rPr lang="en-US" b="0" i="0" dirty="0">
                <a:solidFill>
                  <a:srgbClr val="333333"/>
                </a:solidFill>
                <a:effectLst/>
                <a:latin typeface="inter-regular"/>
              </a:rPr>
              <a:t> can be defined as the </a:t>
            </a:r>
            <a:r>
              <a:rPr lang="en-US" b="1" i="0" dirty="0">
                <a:solidFill>
                  <a:srgbClr val="333333"/>
                </a:solidFill>
                <a:effectLst/>
                <a:latin typeface="inter-bold"/>
              </a:rPr>
              <a:t>pre-defined</a:t>
            </a:r>
            <a:r>
              <a:rPr lang="en-US" b="0" i="0" dirty="0">
                <a:solidFill>
                  <a:srgbClr val="333333"/>
                </a:solidFill>
                <a:effectLst/>
                <a:latin typeface="inter-regular"/>
              </a:rPr>
              <a:t> or the </a:t>
            </a:r>
            <a:r>
              <a:rPr lang="en-US" b="1" i="0" dirty="0">
                <a:solidFill>
                  <a:srgbClr val="333333"/>
                </a:solidFill>
                <a:effectLst/>
                <a:latin typeface="inter-bold"/>
              </a:rPr>
              <a:t>reserved words</a:t>
            </a:r>
            <a:r>
              <a:rPr lang="en-US" b="0" i="0" dirty="0">
                <a:solidFill>
                  <a:srgbClr val="333333"/>
                </a:solidFill>
                <a:effectLst/>
                <a:latin typeface="inter-regular"/>
              </a:rPr>
              <a:t> having its own importance, and each keyword has its own functionality. Since keywords are the pre-defined words used by the compiler, so they cannot be used as the variable names. If the keywords are used as the variable names, it means that we are assigning a different meaning to the keyword, which is not allowed.</a:t>
            </a:r>
            <a:endParaRPr lang="en-IN" dirty="0"/>
          </a:p>
        </p:txBody>
      </p:sp>
    </p:spTree>
    <p:extLst>
      <p:ext uri="{BB962C8B-B14F-4D97-AF65-F5344CB8AC3E}">
        <p14:creationId xmlns:p14="http://schemas.microsoft.com/office/powerpoint/2010/main" val="1778551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30B28-AF07-BABF-8909-D27BC839CE90}"/>
              </a:ext>
            </a:extLst>
          </p:cNvPr>
          <p:cNvSpPr>
            <a:spLocks noGrp="1"/>
          </p:cNvSpPr>
          <p:nvPr>
            <p:ph type="title"/>
          </p:nvPr>
        </p:nvSpPr>
        <p:spPr>
          <a:xfrm>
            <a:off x="1295402" y="982133"/>
            <a:ext cx="9601196" cy="567888"/>
          </a:xfrm>
        </p:spPr>
        <p:txBody>
          <a:bodyPr>
            <a:normAutofit fontScale="90000"/>
          </a:bodyPr>
          <a:lstStyle/>
          <a:p>
            <a:r>
              <a:rPr lang="en-US" dirty="0"/>
              <a:t>Conti..</a:t>
            </a:r>
            <a:endParaRPr lang="en-IN" dirty="0"/>
          </a:p>
        </p:txBody>
      </p:sp>
      <p:sp>
        <p:nvSpPr>
          <p:cNvPr id="3" name="Content Placeholder 2">
            <a:extLst>
              <a:ext uri="{FF2B5EF4-FFF2-40B4-BE49-F238E27FC236}">
                <a16:creationId xmlns:a16="http://schemas.microsoft.com/office/drawing/2014/main" id="{76FDC5D7-A5AA-B700-7B19-7CE1ABF22C85}"/>
              </a:ext>
            </a:extLst>
          </p:cNvPr>
          <p:cNvSpPr>
            <a:spLocks noGrp="1"/>
          </p:cNvSpPr>
          <p:nvPr>
            <p:ph idx="1"/>
          </p:nvPr>
        </p:nvSpPr>
        <p:spPr>
          <a:xfrm>
            <a:off x="1295401" y="1806498"/>
            <a:ext cx="9601196" cy="4069370"/>
          </a:xfrm>
        </p:spPr>
        <p:txBody>
          <a:bodyPr>
            <a:normAutofit/>
          </a:bodyPr>
          <a:lstStyle/>
          <a:p>
            <a:r>
              <a:rPr lang="en-US" sz="2000" b="0" i="0" dirty="0">
                <a:solidFill>
                  <a:srgbClr val="333333"/>
                </a:solidFill>
                <a:effectLst/>
                <a:latin typeface="Times New Roman" panose="02020603050405020304" pitchFamily="18" charset="0"/>
                <a:cs typeface="Times New Roman" panose="02020603050405020304" pitchFamily="18" charset="0"/>
              </a:rPr>
              <a:t>C language supports 32 keywords given below:</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B02DF1E-2E05-3C9D-149E-088B6467FC21}"/>
              </a:ext>
            </a:extLst>
          </p:cNvPr>
          <p:cNvPicPr>
            <a:picLocks noChangeAspect="1"/>
          </p:cNvPicPr>
          <p:nvPr/>
        </p:nvPicPr>
        <p:blipFill>
          <a:blip r:embed="rId2"/>
          <a:stretch>
            <a:fillRect/>
          </a:stretch>
        </p:blipFill>
        <p:spPr>
          <a:xfrm>
            <a:off x="1483111" y="2512741"/>
            <a:ext cx="9413486" cy="3619603"/>
          </a:xfrm>
          <a:prstGeom prst="rect">
            <a:avLst/>
          </a:prstGeom>
        </p:spPr>
      </p:pic>
    </p:spTree>
    <p:extLst>
      <p:ext uri="{BB962C8B-B14F-4D97-AF65-F5344CB8AC3E}">
        <p14:creationId xmlns:p14="http://schemas.microsoft.com/office/powerpoint/2010/main" val="494165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DF2BB-8DC0-A416-BEC6-5B9AECEB6374}"/>
              </a:ext>
            </a:extLst>
          </p:cNvPr>
          <p:cNvSpPr>
            <a:spLocks noGrp="1"/>
          </p:cNvSpPr>
          <p:nvPr>
            <p:ph type="title"/>
          </p:nvPr>
        </p:nvSpPr>
        <p:spPr/>
        <p:txBody>
          <a:bodyPr/>
          <a:lstStyle/>
          <a:p>
            <a:r>
              <a:rPr lang="en-IN" b="1" i="0" dirty="0">
                <a:solidFill>
                  <a:srgbClr val="333333"/>
                </a:solidFill>
                <a:effectLst/>
                <a:latin typeface="inter-bold"/>
              </a:rPr>
              <a:t>Identifiers in C</a:t>
            </a:r>
            <a:endParaRPr lang="en-IN" dirty="0"/>
          </a:p>
        </p:txBody>
      </p:sp>
      <p:sp>
        <p:nvSpPr>
          <p:cNvPr id="3" name="Content Placeholder 2">
            <a:extLst>
              <a:ext uri="{FF2B5EF4-FFF2-40B4-BE49-F238E27FC236}">
                <a16:creationId xmlns:a16="http://schemas.microsoft.com/office/drawing/2014/main" id="{BE1775D1-E1AB-46AB-88A9-8904F7C7E41A}"/>
              </a:ext>
            </a:extLst>
          </p:cNvPr>
          <p:cNvSpPr>
            <a:spLocks noGrp="1"/>
          </p:cNvSpPr>
          <p:nvPr>
            <p:ph idx="1"/>
          </p:nvPr>
        </p:nvSpPr>
        <p:spPr/>
        <p:txBody>
          <a:bodyPr/>
          <a:lstStyle/>
          <a:p>
            <a:r>
              <a:rPr lang="en-US" b="0" i="0" u="none" strike="noStrike" dirty="0">
                <a:solidFill>
                  <a:srgbClr val="008000"/>
                </a:solidFill>
                <a:effectLst/>
                <a:latin typeface="inter-regular"/>
                <a:hlinkClick r:id="rId2"/>
              </a:rPr>
              <a:t>Identifiers in C</a:t>
            </a:r>
            <a:r>
              <a:rPr lang="en-US" b="0" i="0" dirty="0">
                <a:solidFill>
                  <a:srgbClr val="333333"/>
                </a:solidFill>
                <a:effectLst/>
                <a:latin typeface="inter-regular"/>
              </a:rPr>
              <a:t> are used for naming variables, functions, arrays, structures, etc. Identifiers in C are the user-defined words. It can be composed of uppercase letters, lowercase letters, underscore, or digits, but the starting letter should be either an underscore or an alphabet. Identifiers cannot be used as keywords.</a:t>
            </a:r>
            <a:endParaRPr lang="en-IN" dirty="0"/>
          </a:p>
        </p:txBody>
      </p:sp>
    </p:spTree>
    <p:extLst>
      <p:ext uri="{BB962C8B-B14F-4D97-AF65-F5344CB8AC3E}">
        <p14:creationId xmlns:p14="http://schemas.microsoft.com/office/powerpoint/2010/main" val="4019110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D5151-E0E1-F4B7-21E7-2FF1843C51C1}"/>
              </a:ext>
            </a:extLst>
          </p:cNvPr>
          <p:cNvSpPr>
            <a:spLocks noGrp="1"/>
          </p:cNvSpPr>
          <p:nvPr>
            <p:ph type="title"/>
          </p:nvPr>
        </p:nvSpPr>
        <p:spPr>
          <a:xfrm>
            <a:off x="1295402" y="759107"/>
            <a:ext cx="9601196" cy="779761"/>
          </a:xfrm>
        </p:spPr>
        <p:txBody>
          <a:bodyPr>
            <a:normAutofit/>
          </a:bodyPr>
          <a:lstStyle/>
          <a:p>
            <a:r>
              <a:rPr lang="en-US" sz="4000" dirty="0">
                <a:latin typeface="Times New Roman" panose="02020603050405020304" pitchFamily="18" charset="0"/>
                <a:cs typeface="Times New Roman" panose="02020603050405020304" pitchFamily="18" charset="0"/>
              </a:rPr>
              <a:t>Conti..</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D0E643-E094-6248-544F-5059406B3DD3}"/>
              </a:ext>
            </a:extLst>
          </p:cNvPr>
          <p:cNvSpPr>
            <a:spLocks noGrp="1"/>
          </p:cNvSpPr>
          <p:nvPr>
            <p:ph idx="1"/>
          </p:nvPr>
        </p:nvSpPr>
        <p:spPr>
          <a:xfrm>
            <a:off x="791736" y="1862254"/>
            <a:ext cx="10604809" cy="4337824"/>
          </a:xfrm>
        </p:spPr>
        <p:txBody>
          <a:bodyPr>
            <a:normAutofit fontScale="55000" lnSpcReduction="20000"/>
          </a:bodyPr>
          <a:lstStyle/>
          <a:p>
            <a:pPr marL="457200" algn="just">
              <a:lnSpc>
                <a:spcPct val="115000"/>
              </a:lnSpc>
              <a:spcAft>
                <a:spcPts val="1400"/>
              </a:spcAft>
            </a:pPr>
            <a:r>
              <a:rPr lang="en-IN" sz="29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Following rules must be followed for identifiers:</a:t>
            </a:r>
            <a:endParaRPr lang="en-IN" sz="29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Arial" panose="020B0604020202020204" pitchFamily="34" charset="0"/>
              <a:buChar char="⮚"/>
            </a:pPr>
            <a:r>
              <a:rPr lang="en-IN" sz="29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First character:</a:t>
            </a:r>
            <a:r>
              <a:rPr lang="en-IN" sz="29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The first character of the identifier should necessarily begin with either an alphabet or an underscore. It cannot begin with a digit.</a:t>
            </a:r>
            <a:endParaRPr lang="en-IN" sz="2900" dirty="0">
              <a:effectLst/>
              <a:latin typeface="Times New Roman" panose="02020603050405020304" pitchFamily="18" charset="0"/>
              <a:ea typeface="Noto Sans Symbols"/>
              <a:cs typeface="Times New Roman" panose="02020603050405020304" pitchFamily="18" charset="0"/>
            </a:endParaRPr>
          </a:p>
          <a:p>
            <a:pPr marL="342900" lvl="0" indent="-342900" algn="just">
              <a:lnSpc>
                <a:spcPct val="115000"/>
              </a:lnSpc>
              <a:spcAft>
                <a:spcPts val="1000"/>
              </a:spcAft>
              <a:buFont typeface="Arial" panose="020B0604020202020204" pitchFamily="34" charset="0"/>
              <a:buChar char="⮚"/>
            </a:pPr>
            <a:r>
              <a:rPr lang="en-IN" sz="29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No special characters:</a:t>
            </a:r>
            <a:r>
              <a:rPr lang="en-IN" sz="29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C does not support the use of special characters while naming an identifier. For instance, special characters like comma or punctuation marks can’t be used.</a:t>
            </a:r>
            <a:endParaRPr lang="en-IN" sz="2900" dirty="0">
              <a:effectLst/>
              <a:latin typeface="Times New Roman" panose="02020603050405020304" pitchFamily="18" charset="0"/>
              <a:ea typeface="Noto Sans Symbols"/>
              <a:cs typeface="Times New Roman" panose="02020603050405020304" pitchFamily="18" charset="0"/>
            </a:endParaRPr>
          </a:p>
          <a:p>
            <a:pPr marL="342900" lvl="0" indent="-342900" algn="just">
              <a:lnSpc>
                <a:spcPct val="115000"/>
              </a:lnSpc>
              <a:spcAft>
                <a:spcPts val="1000"/>
              </a:spcAft>
              <a:buFont typeface="Arial" panose="020B0604020202020204" pitchFamily="34" charset="0"/>
              <a:buChar char="⮚"/>
            </a:pPr>
            <a:r>
              <a:rPr lang="en-IN" sz="29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No keywords:</a:t>
            </a:r>
            <a:r>
              <a:rPr lang="en-IN" sz="29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The use of keywords as identifiers is strictly prohibited, as they are reserved words which we have already discussed.</a:t>
            </a:r>
            <a:endParaRPr lang="en-IN" sz="2900" dirty="0">
              <a:effectLst/>
              <a:latin typeface="Times New Roman" panose="02020603050405020304" pitchFamily="18" charset="0"/>
              <a:ea typeface="Noto Sans Symbols"/>
              <a:cs typeface="Times New Roman" panose="02020603050405020304" pitchFamily="18" charset="0"/>
            </a:endParaRPr>
          </a:p>
          <a:p>
            <a:pPr marL="342900" lvl="0" indent="-342900" algn="just">
              <a:lnSpc>
                <a:spcPct val="115000"/>
              </a:lnSpc>
              <a:spcAft>
                <a:spcPts val="1000"/>
              </a:spcAft>
              <a:buFont typeface="Arial" panose="020B0604020202020204" pitchFamily="34" charset="0"/>
              <a:buChar char="⮚"/>
            </a:pPr>
            <a:r>
              <a:rPr lang="en-IN" sz="29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No white space:</a:t>
            </a:r>
            <a:r>
              <a:rPr lang="en-IN" sz="29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White spaces include blank spaces, newline, carriage return, and horizontal tab, which can’t be used.</a:t>
            </a:r>
            <a:endParaRPr lang="en-IN" sz="2900" dirty="0">
              <a:effectLst/>
              <a:latin typeface="Times New Roman" panose="02020603050405020304" pitchFamily="18" charset="0"/>
              <a:ea typeface="Noto Sans Symbols"/>
              <a:cs typeface="Times New Roman" panose="02020603050405020304" pitchFamily="18" charset="0"/>
            </a:endParaRPr>
          </a:p>
          <a:p>
            <a:pPr marL="342900" lvl="0" indent="-342900" algn="just">
              <a:lnSpc>
                <a:spcPct val="115000"/>
              </a:lnSpc>
              <a:spcAft>
                <a:spcPts val="1000"/>
              </a:spcAft>
              <a:buFont typeface="Arial" panose="020B0604020202020204" pitchFamily="34" charset="0"/>
              <a:buChar char="⮚"/>
            </a:pPr>
            <a:r>
              <a:rPr lang="en-IN" sz="29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Word limit:</a:t>
            </a:r>
            <a:r>
              <a:rPr lang="en-IN" sz="29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The identifier name can have an arbitrarily long sequence that should not exceed 31 characters, otherwise, it would be insignificant.</a:t>
            </a:r>
            <a:endParaRPr lang="en-IN" sz="2900" dirty="0">
              <a:effectLst/>
              <a:latin typeface="Times New Roman" panose="02020603050405020304" pitchFamily="18" charset="0"/>
              <a:ea typeface="Noto Sans Symbols"/>
              <a:cs typeface="Times New Roman" panose="02020603050405020304" pitchFamily="18" charset="0"/>
            </a:endParaRPr>
          </a:p>
          <a:p>
            <a:pPr marL="342900" lvl="0" indent="-342900" algn="just">
              <a:lnSpc>
                <a:spcPct val="115000"/>
              </a:lnSpc>
              <a:spcAft>
                <a:spcPts val="1000"/>
              </a:spcAft>
              <a:buFont typeface="Arial" panose="020B0604020202020204" pitchFamily="34" charset="0"/>
              <a:buChar char="⮚"/>
            </a:pPr>
            <a:r>
              <a:rPr lang="en-IN" sz="29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Case sensitive:</a:t>
            </a:r>
            <a:r>
              <a:rPr lang="en-IN" sz="29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Uppercase and lowercase characters are treated differently.</a:t>
            </a:r>
            <a:endParaRPr lang="en-IN" sz="2900" dirty="0">
              <a:effectLst/>
              <a:latin typeface="Times New Roman" panose="02020603050405020304" pitchFamily="18" charset="0"/>
              <a:ea typeface="Noto Sans Symbols"/>
              <a:cs typeface="Times New Roman" panose="02020603050405020304" pitchFamily="18" charset="0"/>
            </a:endParaRPr>
          </a:p>
          <a:p>
            <a:endParaRPr lang="en-IN" dirty="0"/>
          </a:p>
        </p:txBody>
      </p:sp>
    </p:spTree>
    <p:extLst>
      <p:ext uri="{BB962C8B-B14F-4D97-AF65-F5344CB8AC3E}">
        <p14:creationId xmlns:p14="http://schemas.microsoft.com/office/powerpoint/2010/main" val="2072691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27F1B-2EB7-AB0A-5AFE-C1D47E5AD015}"/>
              </a:ext>
            </a:extLst>
          </p:cNvPr>
          <p:cNvSpPr>
            <a:spLocks noGrp="1"/>
          </p:cNvSpPr>
          <p:nvPr>
            <p:ph type="title"/>
          </p:nvPr>
        </p:nvSpPr>
        <p:spPr>
          <a:xfrm>
            <a:off x="1295401" y="1561996"/>
            <a:ext cx="9601196" cy="545585"/>
          </a:xfrm>
        </p:spPr>
        <p:txBody>
          <a:bodyPr>
            <a:normAutofit fontScale="90000"/>
          </a:bodyPr>
          <a:lstStyle/>
          <a:p>
            <a:r>
              <a:rPr lang="en-IN" sz="40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Data Type in C</a:t>
            </a:r>
            <a:br>
              <a:rPr lang="en-IN" sz="1800" dirty="0">
                <a:solidFill>
                  <a:srgbClr val="000000"/>
                </a:solidFill>
                <a:effectLst/>
                <a:latin typeface="Calibri" panose="020F0502020204030204" pitchFamily="34" charset="0"/>
                <a:ea typeface="Calibri" panose="020F0502020204030204" pitchFamily="34" charset="0"/>
              </a:rPr>
            </a:br>
            <a:endParaRPr lang="en-IN" dirty="0"/>
          </a:p>
        </p:txBody>
      </p:sp>
      <p:sp>
        <p:nvSpPr>
          <p:cNvPr id="3" name="Content Placeholder 2">
            <a:extLst>
              <a:ext uri="{FF2B5EF4-FFF2-40B4-BE49-F238E27FC236}">
                <a16:creationId xmlns:a16="http://schemas.microsoft.com/office/drawing/2014/main" id="{C22361D0-866D-6068-504C-BCEDD65F3A4D}"/>
              </a:ext>
            </a:extLst>
          </p:cNvPr>
          <p:cNvSpPr>
            <a:spLocks noGrp="1"/>
          </p:cNvSpPr>
          <p:nvPr>
            <p:ph idx="1"/>
          </p:nvPr>
        </p:nvSpPr>
        <p:spPr>
          <a:xfrm>
            <a:off x="1295401" y="2464420"/>
            <a:ext cx="9601196" cy="3411448"/>
          </a:xfrm>
        </p:spPr>
        <p:txBody>
          <a:bodyPr/>
          <a:lstStyle/>
          <a:p>
            <a:pPr algn="just">
              <a:lnSpc>
                <a:spcPct val="115000"/>
              </a:lnSpc>
              <a:spcAft>
                <a:spcPts val="1000"/>
              </a:spcAft>
            </a:pPr>
            <a:r>
              <a:rPr lang="en-IN" sz="1800" dirty="0">
                <a:solidFill>
                  <a:srgbClr val="000000"/>
                </a:solidFill>
                <a:effectLst/>
                <a:latin typeface="Arial" panose="020B0604020202020204" pitchFamily="34" charset="0"/>
                <a:ea typeface="Arial" panose="020B0604020202020204" pitchFamily="34" charset="0"/>
              </a:rPr>
              <a:t>Data types in C refer to the characteristics of data stored into a variable. .</a:t>
            </a:r>
            <a:endParaRPr lang="en-IN" sz="1800" dirty="0">
              <a:effectLst/>
              <a:latin typeface="Calibri" panose="020F0502020204030204" pitchFamily="34" charset="0"/>
              <a:ea typeface="Calibri" panose="020F0502020204030204" pitchFamily="34" charset="0"/>
            </a:endParaRPr>
          </a:p>
          <a:p>
            <a:pPr algn="just">
              <a:lnSpc>
                <a:spcPct val="115000"/>
              </a:lnSpc>
              <a:spcAft>
                <a:spcPts val="1200"/>
              </a:spcAft>
            </a:pPr>
            <a:r>
              <a:rPr lang="en-IN" sz="1800" dirty="0">
                <a:solidFill>
                  <a:srgbClr val="000000"/>
                </a:solidFill>
                <a:effectLst/>
                <a:latin typeface="Arial" panose="020B0604020202020204" pitchFamily="34" charset="0"/>
                <a:ea typeface="Arial" panose="020B0604020202020204" pitchFamily="34" charset="0"/>
              </a:rPr>
              <a:t>Clearly, from the above discussion, you might have inferred that memory occupied by different data types would be different. Therefore, a different amount of space in the computer memory would be allocated for them and hence the run time of the program would be reduced, increasing the efficiency of the program.</a:t>
            </a:r>
            <a:endParaRPr lang="en-IN" sz="1800" dirty="0">
              <a:effectLst/>
              <a:latin typeface="Calibri" panose="020F0502020204030204" pitchFamily="34" charset="0"/>
              <a:ea typeface="Calibri" panose="020F0502020204030204" pitchFamily="34" charset="0"/>
            </a:endParaRPr>
          </a:p>
          <a:p>
            <a:endParaRPr lang="en-IN" dirty="0"/>
          </a:p>
        </p:txBody>
      </p:sp>
    </p:spTree>
    <p:extLst>
      <p:ext uri="{BB962C8B-B14F-4D97-AF65-F5344CB8AC3E}">
        <p14:creationId xmlns:p14="http://schemas.microsoft.com/office/powerpoint/2010/main" val="15673123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F202D-87A8-792D-0C9B-64BB24CF23C5}"/>
              </a:ext>
            </a:extLst>
          </p:cNvPr>
          <p:cNvSpPr>
            <a:spLocks noGrp="1"/>
          </p:cNvSpPr>
          <p:nvPr>
            <p:ph type="title"/>
          </p:nvPr>
        </p:nvSpPr>
        <p:spPr>
          <a:xfrm>
            <a:off x="1295402" y="982132"/>
            <a:ext cx="9601196" cy="913575"/>
          </a:xfrm>
        </p:spPr>
        <p:txBody>
          <a:bodyPr>
            <a:normAutofit fontScale="90000"/>
          </a:bodyPr>
          <a:lstStyle/>
          <a:p>
            <a:r>
              <a:rPr lang="en-IN" sz="40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Types of Data Types in C</a:t>
            </a:r>
            <a:br>
              <a:rPr lang="en-IN" sz="1800" dirty="0">
                <a:effectLst/>
                <a:latin typeface="Noto Sans Symbols"/>
                <a:ea typeface="Noto Sans Symbols"/>
                <a:cs typeface="Noto Sans Symbols"/>
              </a:rPr>
            </a:br>
            <a:endParaRPr lang="en-IN" dirty="0"/>
          </a:p>
        </p:txBody>
      </p:sp>
      <p:sp>
        <p:nvSpPr>
          <p:cNvPr id="3" name="Content Placeholder 2">
            <a:extLst>
              <a:ext uri="{FF2B5EF4-FFF2-40B4-BE49-F238E27FC236}">
                <a16:creationId xmlns:a16="http://schemas.microsoft.com/office/drawing/2014/main" id="{6861BDAE-3E31-1D23-17A0-459664A7B08B}"/>
              </a:ext>
            </a:extLst>
          </p:cNvPr>
          <p:cNvSpPr>
            <a:spLocks noGrp="1"/>
          </p:cNvSpPr>
          <p:nvPr>
            <p:ph idx="1"/>
          </p:nvPr>
        </p:nvSpPr>
        <p:spPr>
          <a:xfrm>
            <a:off x="1295402" y="1984917"/>
            <a:ext cx="9601196" cy="3993810"/>
          </a:xfrm>
        </p:spPr>
        <p:txBody>
          <a:bodyPr/>
          <a:lstStyle/>
          <a:p>
            <a:pPr algn="just">
              <a:lnSpc>
                <a:spcPct val="115000"/>
              </a:lnSpc>
              <a:spcAft>
                <a:spcPts val="1000"/>
              </a:spcAft>
            </a:pPr>
            <a:r>
              <a:rPr lang="en-IN" sz="18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According to the conventional classification, these are data types in C language-</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400050" indent="0" algn="just">
              <a:lnSpc>
                <a:spcPct val="115000"/>
              </a:lnSpc>
              <a:spcAft>
                <a:spcPts val="1000"/>
              </a:spcAft>
              <a:buNone/>
            </a:pPr>
            <a:endParaRPr lang="en-IN" sz="1800" dirty="0">
              <a:effectLst/>
              <a:latin typeface="Calibri" panose="020F0502020204030204" pitchFamily="34" charset="0"/>
              <a:ea typeface="Calibri" panose="020F0502020204030204" pitchFamily="34" charset="0"/>
            </a:endParaRPr>
          </a:p>
          <a:p>
            <a:endParaRPr lang="en-IN" dirty="0"/>
          </a:p>
        </p:txBody>
      </p:sp>
      <p:pic>
        <p:nvPicPr>
          <p:cNvPr id="4" name="image1.jpg">
            <a:extLst>
              <a:ext uri="{FF2B5EF4-FFF2-40B4-BE49-F238E27FC236}">
                <a16:creationId xmlns:a16="http://schemas.microsoft.com/office/drawing/2014/main" id="{96754CDE-48F9-4B17-F14D-5459F17989FC}"/>
              </a:ext>
            </a:extLst>
          </p:cNvPr>
          <p:cNvPicPr/>
          <p:nvPr/>
        </p:nvPicPr>
        <p:blipFill>
          <a:blip r:embed="rId2"/>
          <a:srcRect l="11271" t="3435" r="11900"/>
          <a:stretch>
            <a:fillRect/>
          </a:stretch>
        </p:blipFill>
        <p:spPr>
          <a:xfrm>
            <a:off x="3133493" y="2542478"/>
            <a:ext cx="5675970" cy="3590693"/>
          </a:xfrm>
          <a:prstGeom prst="rect">
            <a:avLst/>
          </a:prstGeom>
          <a:ln w="38100">
            <a:solidFill>
              <a:srgbClr val="000000"/>
            </a:solidFill>
            <a:prstDash val="solid"/>
          </a:ln>
        </p:spPr>
      </p:pic>
    </p:spTree>
    <p:extLst>
      <p:ext uri="{BB962C8B-B14F-4D97-AF65-F5344CB8AC3E}">
        <p14:creationId xmlns:p14="http://schemas.microsoft.com/office/powerpoint/2010/main" val="1434606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A57AD-E9E2-E05D-94F4-AF2CBC04E31C}"/>
              </a:ext>
            </a:extLst>
          </p:cNvPr>
          <p:cNvSpPr>
            <a:spLocks noGrp="1"/>
          </p:cNvSpPr>
          <p:nvPr>
            <p:ph type="title"/>
          </p:nvPr>
        </p:nvSpPr>
        <p:spPr>
          <a:xfrm>
            <a:off x="1295402" y="982133"/>
            <a:ext cx="9601196" cy="991634"/>
          </a:xfrm>
        </p:spPr>
        <p:txBody>
          <a:bodyPr>
            <a:normAutofit fontScale="90000"/>
          </a:bodyPr>
          <a:lstStyle/>
          <a:p>
            <a:r>
              <a:rPr lang="en-IN"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Primary Data Types in C </a:t>
            </a:r>
            <a:br>
              <a:rPr lang="en-IN" sz="1800" b="1" dirty="0">
                <a:solidFill>
                  <a:srgbClr val="000000"/>
                </a:solidFill>
                <a:effectLst/>
                <a:latin typeface="Arial" panose="020B0604020202020204" pitchFamily="34" charset="0"/>
                <a:ea typeface="Arial" panose="020B0604020202020204" pitchFamily="34" charset="0"/>
                <a:cs typeface="Noto Sans Symbols"/>
              </a:rPr>
            </a:br>
            <a:br>
              <a:rPr lang="en-IN" sz="1800" dirty="0">
                <a:effectLst/>
                <a:latin typeface="Noto Sans Symbols"/>
                <a:ea typeface="Noto Sans Symbols"/>
                <a:cs typeface="Noto Sans Symbols"/>
              </a:rPr>
            </a:br>
            <a:endParaRPr lang="en-IN" dirty="0"/>
          </a:p>
        </p:txBody>
      </p:sp>
      <p:sp>
        <p:nvSpPr>
          <p:cNvPr id="3" name="Content Placeholder 2">
            <a:extLst>
              <a:ext uri="{FF2B5EF4-FFF2-40B4-BE49-F238E27FC236}">
                <a16:creationId xmlns:a16="http://schemas.microsoft.com/office/drawing/2014/main" id="{5B791606-6E8D-6438-9FB7-45F74BC4D92A}"/>
              </a:ext>
            </a:extLst>
          </p:cNvPr>
          <p:cNvSpPr>
            <a:spLocks noGrp="1"/>
          </p:cNvSpPr>
          <p:nvPr>
            <p:ph idx="1"/>
          </p:nvPr>
        </p:nvSpPr>
        <p:spPr>
          <a:xfrm>
            <a:off x="825190" y="1661532"/>
            <a:ext cx="10526751" cy="4505092"/>
          </a:xfrm>
        </p:spPr>
        <p:txBody>
          <a:bodyPr>
            <a:normAutofit fontScale="62500" lnSpcReduction="20000"/>
          </a:bodyPr>
          <a:lstStyle/>
          <a:p>
            <a:r>
              <a:rPr lang="en-IN" sz="26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Primary (Fundamental) data types in C programming includes the 4 most basic data types, that is:</a:t>
            </a:r>
            <a:endParaRPr lang="en-IN" sz="26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Arial" panose="020B0604020202020204" pitchFamily="34" charset="0"/>
              <a:buChar char="⮚"/>
            </a:pPr>
            <a:r>
              <a:rPr lang="en-IN" sz="26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int</a:t>
            </a:r>
            <a:r>
              <a:rPr lang="en-IN" sz="26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It is responsible for storing integers. The memory it occupies depends on the compiler (32 or 64 bit). In general, int data type occupies 4 bytes of memory when working with a 32-bit compiler.</a:t>
            </a:r>
            <a:endParaRPr lang="en-IN" sz="2600" dirty="0">
              <a:effectLst/>
              <a:latin typeface="Times New Roman" panose="02020603050405020304" pitchFamily="18" charset="0"/>
              <a:ea typeface="Noto Sans Symbols"/>
              <a:cs typeface="Times New Roman" panose="02020603050405020304" pitchFamily="18" charset="0"/>
            </a:endParaRPr>
          </a:p>
          <a:p>
            <a:pPr marL="342900" lvl="0" indent="-342900" algn="just">
              <a:lnSpc>
                <a:spcPct val="150000"/>
              </a:lnSpc>
              <a:spcAft>
                <a:spcPts val="1000"/>
              </a:spcAft>
              <a:buFont typeface="Arial" panose="020B0604020202020204" pitchFamily="34" charset="0"/>
              <a:buChar char="⮚"/>
            </a:pPr>
            <a:r>
              <a:rPr lang="en-IN" sz="26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float</a:t>
            </a:r>
            <a:r>
              <a:rPr lang="en-IN" sz="26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It is responsible for storing fractions or digits up to 7 decimal places. It is usually referred to as a single-precision floating-point type. It occupies 4 bytes of memory</a:t>
            </a:r>
            <a:endParaRPr lang="en-IN" sz="2600" dirty="0">
              <a:effectLst/>
              <a:latin typeface="Times New Roman" panose="02020603050405020304" pitchFamily="18" charset="0"/>
              <a:ea typeface="Noto Sans Symbols"/>
              <a:cs typeface="Times New Roman" panose="02020603050405020304" pitchFamily="18" charset="0"/>
            </a:endParaRPr>
          </a:p>
          <a:p>
            <a:pPr marL="342900" lvl="0" indent="-342900" algn="just">
              <a:lnSpc>
                <a:spcPct val="150000"/>
              </a:lnSpc>
              <a:spcAft>
                <a:spcPts val="1000"/>
              </a:spcAft>
              <a:buFont typeface="Arial" panose="020B0604020202020204" pitchFamily="34" charset="0"/>
              <a:buChar char="⮚"/>
            </a:pPr>
            <a:r>
              <a:rPr lang="en-IN" sz="26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char</a:t>
            </a:r>
            <a:r>
              <a:rPr lang="en-IN" sz="26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It can be used to store a set of all characters which may include alphabets, numbers and special characters. It occupies 1 byte of memory being the smallest addressable unit of a machine containing a fundamental character set.</a:t>
            </a:r>
            <a:endParaRPr lang="en-IN" sz="2600" dirty="0">
              <a:effectLst/>
              <a:latin typeface="Times New Roman" panose="02020603050405020304" pitchFamily="18" charset="0"/>
              <a:ea typeface="Noto Sans Symbols"/>
              <a:cs typeface="Times New Roman" panose="02020603050405020304" pitchFamily="18" charset="0"/>
            </a:endParaRPr>
          </a:p>
          <a:p>
            <a:pPr marL="342900" lvl="0" indent="-342900" algn="just">
              <a:lnSpc>
                <a:spcPct val="150000"/>
              </a:lnSpc>
              <a:spcAft>
                <a:spcPts val="1000"/>
              </a:spcAft>
              <a:buFont typeface="Arial" panose="020B0604020202020204" pitchFamily="34" charset="0"/>
              <a:buChar char="⮚"/>
            </a:pPr>
            <a:r>
              <a:rPr lang="en-IN" sz="26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double</a:t>
            </a:r>
            <a:r>
              <a:rPr lang="en-IN" sz="26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It is responsible for storing fractions or digits up to 15-16 decimal places. It is usually referred to as a double-precision floating-point type.</a:t>
            </a:r>
            <a:endParaRPr lang="en-IN" sz="2600" dirty="0">
              <a:effectLst/>
              <a:latin typeface="Times New Roman" panose="02020603050405020304" pitchFamily="18" charset="0"/>
              <a:ea typeface="Noto Sans Symbols"/>
              <a:cs typeface="Times New Roman" panose="02020603050405020304" pitchFamily="18" charset="0"/>
            </a:endParaRPr>
          </a:p>
          <a:p>
            <a:pPr marL="342900" lvl="0" indent="-342900" algn="just">
              <a:lnSpc>
                <a:spcPct val="150000"/>
              </a:lnSpc>
              <a:spcAft>
                <a:spcPts val="1400"/>
              </a:spcAft>
              <a:buFont typeface="Arial" panose="020B0604020202020204" pitchFamily="34" charset="0"/>
              <a:buChar char="⮚"/>
            </a:pPr>
            <a:r>
              <a:rPr lang="en-IN" sz="26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void</a:t>
            </a:r>
            <a:r>
              <a:rPr lang="en-IN" sz="26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(Null) data type: It indicates zero or no return value. It is generally used to assign the null value while declaring a function.</a:t>
            </a:r>
            <a:endParaRPr lang="en-IN" sz="2600" dirty="0">
              <a:effectLst/>
              <a:latin typeface="Times New Roman" panose="02020603050405020304" pitchFamily="18" charset="0"/>
              <a:ea typeface="Noto Sans Symbols"/>
              <a:cs typeface="Times New Roman" panose="02020603050405020304" pitchFamily="18" charset="0"/>
            </a:endParaRPr>
          </a:p>
          <a:p>
            <a:endParaRPr lang="en-IN" dirty="0"/>
          </a:p>
        </p:txBody>
      </p:sp>
    </p:spTree>
    <p:extLst>
      <p:ext uri="{BB962C8B-B14F-4D97-AF65-F5344CB8AC3E}">
        <p14:creationId xmlns:p14="http://schemas.microsoft.com/office/powerpoint/2010/main" val="29386086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55AB6-0A65-9C2E-CD46-651F4697E7E2}"/>
              </a:ext>
            </a:extLst>
          </p:cNvPr>
          <p:cNvSpPr>
            <a:spLocks noGrp="1"/>
          </p:cNvSpPr>
          <p:nvPr>
            <p:ph type="title"/>
          </p:nvPr>
        </p:nvSpPr>
        <p:spPr>
          <a:xfrm>
            <a:off x="1295402" y="982132"/>
            <a:ext cx="9601196" cy="690551"/>
          </a:xfrm>
        </p:spPr>
        <p:txBody>
          <a:bodyPr>
            <a:noAutofit/>
          </a:bodyPr>
          <a:lstStyle/>
          <a:p>
            <a:r>
              <a:rPr lang="en-US" sz="4000" b="1" dirty="0">
                <a:latin typeface="Times New Roman" panose="02020603050405020304" pitchFamily="18" charset="0"/>
                <a:cs typeface="Times New Roman" panose="02020603050405020304" pitchFamily="18" charset="0"/>
              </a:rPr>
              <a:t>Conti…</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5BFA3E6-5BA2-6184-5A48-882321BB077C}"/>
              </a:ext>
            </a:extLst>
          </p:cNvPr>
          <p:cNvSpPr>
            <a:spLocks noGrp="1"/>
          </p:cNvSpPr>
          <p:nvPr>
            <p:ph idx="1"/>
          </p:nvPr>
        </p:nvSpPr>
        <p:spPr>
          <a:xfrm>
            <a:off x="1295401" y="2564780"/>
            <a:ext cx="9601196" cy="3311088"/>
          </a:xfrm>
        </p:spPr>
        <p:txBody>
          <a:bodyPr>
            <a:normAutofit/>
          </a:bodyPr>
          <a:lstStyle/>
          <a:p>
            <a:r>
              <a:rPr lang="en-IN" sz="1800" dirty="0">
                <a:solidFill>
                  <a:srgbClr val="000000"/>
                </a:solidFill>
                <a:effectLst/>
                <a:latin typeface="Arial" panose="020B0604020202020204" pitchFamily="34" charset="0"/>
                <a:ea typeface="Arial" panose="020B0604020202020204" pitchFamily="34" charset="0"/>
              </a:rPr>
              <a:t>Along with </a:t>
            </a:r>
            <a:r>
              <a:rPr lang="en-IN" sz="1800" u="none" strike="noStrike" dirty="0">
                <a:solidFill>
                  <a:srgbClr val="000000"/>
                </a:solidFill>
                <a:effectLst/>
                <a:latin typeface="Arial" panose="020B0604020202020204" pitchFamily="34" charset="0"/>
                <a:ea typeface="Arial" panose="020B0604020202020204" pitchFamily="34" charset="0"/>
                <a:hlinkClick r:id="rId2"/>
              </a:rPr>
              <a:t>data types</a:t>
            </a:r>
            <a:r>
              <a:rPr lang="en-IN" sz="1800" dirty="0">
                <a:solidFill>
                  <a:srgbClr val="000000"/>
                </a:solidFill>
                <a:effectLst/>
                <a:latin typeface="Arial" panose="020B0604020202020204" pitchFamily="34" charset="0"/>
                <a:ea typeface="Arial" panose="020B0604020202020204" pitchFamily="34" charset="0"/>
              </a:rPr>
              <a:t>, comes modifiers. Modifiers basically alter the function of a data type and make it more specific by the inclusion of additional provisions. These include:</a:t>
            </a:r>
            <a:endParaRPr lang="en-IN" sz="1800" dirty="0">
              <a:effectLst/>
              <a:latin typeface="Calibri" panose="020F0502020204030204" pitchFamily="34" charset="0"/>
              <a:ea typeface="Calibri" panose="020F0502020204030204" pitchFamily="34" charset="0"/>
            </a:endParaRPr>
          </a:p>
          <a:p>
            <a:pPr marL="342900" lvl="0" indent="-342900">
              <a:lnSpc>
                <a:spcPct val="115000"/>
              </a:lnSpc>
              <a:spcAft>
                <a:spcPts val="1000"/>
              </a:spcAft>
              <a:buSzPts val="1000"/>
              <a:buFont typeface="Arial" panose="020B0604020202020204" pitchFamily="34" charset="0"/>
              <a:buChar char="⮚"/>
            </a:pPr>
            <a:r>
              <a:rPr lang="en-IN" sz="1800" dirty="0">
                <a:solidFill>
                  <a:srgbClr val="000000"/>
                </a:solidFill>
                <a:effectLst/>
                <a:latin typeface="Arial" panose="020B0604020202020204" pitchFamily="34" charset="0"/>
                <a:ea typeface="Arial" panose="020B0604020202020204" pitchFamily="34" charset="0"/>
                <a:cs typeface="Noto Sans Symbols"/>
              </a:rPr>
              <a:t>Signed: It is used to store zero, positive or negative values.</a:t>
            </a:r>
            <a:endParaRPr lang="en-IN" sz="1800" dirty="0">
              <a:effectLst/>
              <a:latin typeface="Calibri" panose="020F0502020204030204" pitchFamily="34" charset="0"/>
              <a:ea typeface="Calibri" panose="020F0502020204030204" pitchFamily="34" charset="0"/>
            </a:endParaRPr>
          </a:p>
          <a:p>
            <a:pPr marL="342900" lvl="0" indent="-342900">
              <a:lnSpc>
                <a:spcPct val="115000"/>
              </a:lnSpc>
              <a:spcAft>
                <a:spcPts val="1000"/>
              </a:spcAft>
              <a:buSzPts val="1000"/>
              <a:buFont typeface="Arial" panose="020B0604020202020204" pitchFamily="34" charset="0"/>
              <a:buChar char="⮚"/>
            </a:pPr>
            <a:r>
              <a:rPr lang="en-IN" sz="1800" dirty="0">
                <a:solidFill>
                  <a:srgbClr val="000000"/>
                </a:solidFill>
                <a:effectLst/>
                <a:latin typeface="Arial" panose="020B0604020202020204" pitchFamily="34" charset="0"/>
                <a:ea typeface="Arial" panose="020B0604020202020204" pitchFamily="34" charset="0"/>
                <a:cs typeface="Noto Sans Symbols"/>
              </a:rPr>
              <a:t>Unsigned: It can store only zero or positive values.</a:t>
            </a:r>
            <a:endParaRPr lang="en-IN" sz="1800" dirty="0">
              <a:effectLst/>
              <a:latin typeface="Calibri" panose="020F0502020204030204" pitchFamily="34" charset="0"/>
              <a:ea typeface="Calibri" panose="020F0502020204030204" pitchFamily="34" charset="0"/>
            </a:endParaRPr>
          </a:p>
          <a:p>
            <a:pPr marL="342900" lvl="0" indent="-342900">
              <a:lnSpc>
                <a:spcPct val="115000"/>
              </a:lnSpc>
              <a:spcAft>
                <a:spcPts val="1000"/>
              </a:spcAft>
              <a:buSzPts val="1000"/>
              <a:buFont typeface="Arial" panose="020B0604020202020204" pitchFamily="34" charset="0"/>
              <a:buChar char="⮚"/>
            </a:pPr>
            <a:r>
              <a:rPr lang="en-IN" sz="1800" dirty="0">
                <a:solidFill>
                  <a:srgbClr val="000000"/>
                </a:solidFill>
                <a:effectLst/>
                <a:latin typeface="Arial" panose="020B0604020202020204" pitchFamily="34" charset="0"/>
                <a:ea typeface="Arial" panose="020B0604020202020204" pitchFamily="34" charset="0"/>
                <a:cs typeface="Noto Sans Symbols"/>
              </a:rPr>
              <a:t>Long:  It is used to store large integer numbers. The size of the long type is 8 bytes.</a:t>
            </a:r>
            <a:endParaRPr lang="en-IN" sz="1800" dirty="0">
              <a:effectLst/>
              <a:latin typeface="Calibri" panose="020F0502020204030204" pitchFamily="34" charset="0"/>
              <a:ea typeface="Calibri" panose="020F0502020204030204" pitchFamily="34" charset="0"/>
            </a:endParaRPr>
          </a:p>
          <a:p>
            <a:pPr marL="342900" lvl="0" indent="-342900">
              <a:lnSpc>
                <a:spcPct val="115000"/>
              </a:lnSpc>
              <a:spcAft>
                <a:spcPts val="1000"/>
              </a:spcAft>
              <a:buSzPts val="1000"/>
              <a:buFont typeface="Arial" panose="020B0604020202020204" pitchFamily="34" charset="0"/>
              <a:buChar char="⮚"/>
            </a:pPr>
            <a:r>
              <a:rPr lang="en-IN" sz="1800" dirty="0">
                <a:solidFill>
                  <a:srgbClr val="000000"/>
                </a:solidFill>
                <a:effectLst/>
                <a:latin typeface="Arial" panose="020B0604020202020204" pitchFamily="34" charset="0"/>
                <a:ea typeface="Arial" panose="020B0604020202020204" pitchFamily="34" charset="0"/>
                <a:cs typeface="Noto Sans Symbols"/>
              </a:rPr>
              <a:t>Short: It is used to store small integer numbers. Its size is of 2 Bytes</a:t>
            </a:r>
            <a:endParaRPr lang="en-IN" sz="1800" dirty="0">
              <a:effectLst/>
              <a:latin typeface="Noto Sans Symbols"/>
              <a:ea typeface="Noto Sans Symbols"/>
              <a:cs typeface="Noto Sans Symbols"/>
            </a:endParaRPr>
          </a:p>
          <a:p>
            <a:endParaRPr lang="en-IN" dirty="0"/>
          </a:p>
        </p:txBody>
      </p:sp>
    </p:spTree>
    <p:extLst>
      <p:ext uri="{BB962C8B-B14F-4D97-AF65-F5344CB8AC3E}">
        <p14:creationId xmlns:p14="http://schemas.microsoft.com/office/powerpoint/2010/main" val="37356809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D74FD-6388-E126-57B1-BAFC46EE6B6B}"/>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Conti..</a:t>
            </a:r>
            <a:endParaRPr lang="en-IN" sz="4000" dirty="0">
              <a:latin typeface="Times New Roman" panose="02020603050405020304" pitchFamily="18" charset="0"/>
              <a:cs typeface="Times New Roman" panose="02020603050405020304" pitchFamily="18" charset="0"/>
            </a:endParaRPr>
          </a:p>
        </p:txBody>
      </p:sp>
      <p:pic>
        <p:nvPicPr>
          <p:cNvPr id="4" name="image5.jpg">
            <a:extLst>
              <a:ext uri="{FF2B5EF4-FFF2-40B4-BE49-F238E27FC236}">
                <a16:creationId xmlns:a16="http://schemas.microsoft.com/office/drawing/2014/main" id="{C30077F4-9E9F-43A0-2872-DF294A96ACD6}"/>
              </a:ext>
            </a:extLst>
          </p:cNvPr>
          <p:cNvPicPr>
            <a:picLocks noGrp="1"/>
          </p:cNvPicPr>
          <p:nvPr>
            <p:ph idx="1"/>
          </p:nvPr>
        </p:nvPicPr>
        <p:blipFill>
          <a:blip r:embed="rId2"/>
          <a:srcRect l="1235" b="9056"/>
          <a:stretch>
            <a:fillRect/>
          </a:stretch>
        </p:blipFill>
        <p:spPr>
          <a:xfrm>
            <a:off x="2408664" y="2557993"/>
            <a:ext cx="7449014" cy="3586329"/>
          </a:xfrm>
          <a:prstGeom prst="rect">
            <a:avLst/>
          </a:prstGeom>
          <a:ln w="38100">
            <a:solidFill>
              <a:srgbClr val="000000"/>
            </a:solidFill>
            <a:prstDash val="solid"/>
          </a:ln>
        </p:spPr>
      </p:pic>
    </p:spTree>
    <p:extLst>
      <p:ext uri="{BB962C8B-B14F-4D97-AF65-F5344CB8AC3E}">
        <p14:creationId xmlns:p14="http://schemas.microsoft.com/office/powerpoint/2010/main" val="10091853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B09AA-35E2-9818-2E9D-975A26F03A8C}"/>
              </a:ext>
            </a:extLst>
          </p:cNvPr>
          <p:cNvSpPr>
            <a:spLocks noGrp="1"/>
          </p:cNvSpPr>
          <p:nvPr>
            <p:ph type="title"/>
          </p:nvPr>
        </p:nvSpPr>
        <p:spPr>
          <a:xfrm>
            <a:off x="1295401" y="480739"/>
            <a:ext cx="9601196" cy="1002785"/>
          </a:xfrm>
        </p:spPr>
        <p:txBody>
          <a:bodyPr>
            <a:normAutofit/>
          </a:bodyPr>
          <a:lstStyle/>
          <a:p>
            <a:r>
              <a:rPr lang="en-US" sz="4000" dirty="0">
                <a:latin typeface="Times New Roman" panose="02020603050405020304" pitchFamily="18" charset="0"/>
                <a:cs typeface="Times New Roman" panose="02020603050405020304" pitchFamily="18" charset="0"/>
              </a:rPr>
              <a:t>Conti..</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81E6F09-95F0-F2FB-F7A3-E96B5CC879DF}"/>
              </a:ext>
            </a:extLst>
          </p:cNvPr>
          <p:cNvSpPr>
            <a:spLocks noGrp="1"/>
          </p:cNvSpPr>
          <p:nvPr>
            <p:ph idx="1"/>
          </p:nvPr>
        </p:nvSpPr>
        <p:spPr>
          <a:xfrm>
            <a:off x="1295401" y="1795346"/>
            <a:ext cx="9601196" cy="4080522"/>
          </a:xfrm>
        </p:spPr>
        <p:txBody>
          <a:bodyPr/>
          <a:lstStyle/>
          <a:p>
            <a:r>
              <a:rPr lang="en-IN" sz="1800" dirty="0">
                <a:solidFill>
                  <a:srgbClr val="000000"/>
                </a:solidFill>
                <a:effectLst/>
                <a:latin typeface="Arial" panose="020B0604020202020204" pitchFamily="34" charset="0"/>
                <a:ea typeface="Arial" panose="020B0604020202020204" pitchFamily="34" charset="0"/>
              </a:rPr>
              <a:t>Here is a table that would specify the range of various data primary data types along with their modifiers. It is in accordance with a 32-bit compiler.</a:t>
            </a:r>
            <a:endParaRPr lang="en-IN" sz="1800" dirty="0">
              <a:effectLst/>
              <a:latin typeface="Calibri" panose="020F0502020204030204" pitchFamily="34" charset="0"/>
              <a:ea typeface="Calibri" panose="020F0502020204030204" pitchFamily="34" charset="0"/>
            </a:endParaRPr>
          </a:p>
          <a:p>
            <a:endParaRPr lang="en-IN" dirty="0"/>
          </a:p>
        </p:txBody>
      </p:sp>
      <p:graphicFrame>
        <p:nvGraphicFramePr>
          <p:cNvPr id="4" name="Table 3">
            <a:extLst>
              <a:ext uri="{FF2B5EF4-FFF2-40B4-BE49-F238E27FC236}">
                <a16:creationId xmlns:a16="http://schemas.microsoft.com/office/drawing/2014/main" id="{304157A2-D603-35AE-D5BE-EEF263919587}"/>
              </a:ext>
            </a:extLst>
          </p:cNvPr>
          <p:cNvGraphicFramePr>
            <a:graphicFrameLocks noGrp="1"/>
          </p:cNvGraphicFramePr>
          <p:nvPr>
            <p:extLst>
              <p:ext uri="{D42A27DB-BD31-4B8C-83A1-F6EECF244321}">
                <p14:modId xmlns:p14="http://schemas.microsoft.com/office/powerpoint/2010/main" val="2877894051"/>
              </p:ext>
            </p:extLst>
          </p:nvPr>
        </p:nvGraphicFramePr>
        <p:xfrm>
          <a:off x="1449659" y="2497873"/>
          <a:ext cx="9601197" cy="3689819"/>
        </p:xfrm>
        <a:graphic>
          <a:graphicData uri="http://schemas.openxmlformats.org/drawingml/2006/table">
            <a:tbl>
              <a:tblPr firstRow="1" firstCol="1" bandRow="1">
                <a:tableStyleId>{5C22544A-7EE6-4342-B048-85BDC9FD1C3A}</a:tableStyleId>
              </a:tblPr>
              <a:tblGrid>
                <a:gridCol w="2119563">
                  <a:extLst>
                    <a:ext uri="{9D8B030D-6E8A-4147-A177-3AD203B41FA5}">
                      <a16:colId xmlns:a16="http://schemas.microsoft.com/office/drawing/2014/main" val="3738708548"/>
                    </a:ext>
                  </a:extLst>
                </a:gridCol>
                <a:gridCol w="1917031">
                  <a:extLst>
                    <a:ext uri="{9D8B030D-6E8A-4147-A177-3AD203B41FA5}">
                      <a16:colId xmlns:a16="http://schemas.microsoft.com/office/drawing/2014/main" val="369883252"/>
                    </a:ext>
                  </a:extLst>
                </a:gridCol>
                <a:gridCol w="1957135">
                  <a:extLst>
                    <a:ext uri="{9D8B030D-6E8A-4147-A177-3AD203B41FA5}">
                      <a16:colId xmlns:a16="http://schemas.microsoft.com/office/drawing/2014/main" val="4286242425"/>
                    </a:ext>
                  </a:extLst>
                </a:gridCol>
                <a:gridCol w="3607468">
                  <a:extLst>
                    <a:ext uri="{9D8B030D-6E8A-4147-A177-3AD203B41FA5}">
                      <a16:colId xmlns:a16="http://schemas.microsoft.com/office/drawing/2014/main" val="3029593756"/>
                    </a:ext>
                  </a:extLst>
                </a:gridCol>
              </a:tblGrid>
              <a:tr h="273903">
                <a:tc>
                  <a:txBody>
                    <a:bodyPr/>
                    <a:lstStyle/>
                    <a:p>
                      <a:pPr algn="ctr">
                        <a:lnSpc>
                          <a:spcPct val="115000"/>
                        </a:lnSpc>
                        <a:spcAft>
                          <a:spcPts val="1000"/>
                        </a:spcAft>
                      </a:pPr>
                      <a:r>
                        <a:rPr lang="en-IN" sz="970" b="1" i="0" baseline="0" dirty="0">
                          <a:effectLst/>
                          <a:latin typeface="Times New Roman" panose="02020603050405020304" pitchFamily="18" charset="0"/>
                        </a:rPr>
                        <a:t>Data Type</a:t>
                      </a:r>
                      <a:endParaRPr lang="en-IN" sz="970" b="1" i="0" baseline="0" dirty="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dirty="0">
                          <a:effectLst/>
                          <a:latin typeface="Times New Roman" panose="02020603050405020304" pitchFamily="18" charset="0"/>
                        </a:rPr>
                        <a:t>Memory (In Bytes)</a:t>
                      </a:r>
                      <a:endParaRPr lang="en-IN" sz="970" b="1" i="0" baseline="0" dirty="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dirty="0">
                          <a:effectLst/>
                          <a:latin typeface="Times New Roman" panose="02020603050405020304" pitchFamily="18" charset="0"/>
                        </a:rPr>
                        <a:t>Format Specifiers</a:t>
                      </a:r>
                      <a:endParaRPr lang="en-IN" sz="970" b="1" i="0" baseline="0" dirty="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Range</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extLst>
                  <a:ext uri="{0D108BD9-81ED-4DB2-BD59-A6C34878D82A}">
                    <a16:rowId xmlns:a16="http://schemas.microsoft.com/office/drawing/2014/main" val="116570173"/>
                  </a:ext>
                </a:extLst>
              </a:tr>
              <a:tr h="273903">
                <a:tc>
                  <a:txBody>
                    <a:bodyPr/>
                    <a:lstStyle/>
                    <a:p>
                      <a:pPr algn="ctr">
                        <a:lnSpc>
                          <a:spcPct val="115000"/>
                        </a:lnSpc>
                        <a:spcAft>
                          <a:spcPts val="1000"/>
                        </a:spcAft>
                      </a:pPr>
                      <a:r>
                        <a:rPr lang="en-IN" sz="970" b="1" i="0" baseline="0">
                          <a:effectLst/>
                          <a:latin typeface="Times New Roman" panose="02020603050405020304" pitchFamily="18" charset="0"/>
                        </a:rPr>
                        <a:t>int</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4</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%d</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-2,147,483,648 to 2,147,483,647</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extLst>
                  <a:ext uri="{0D108BD9-81ED-4DB2-BD59-A6C34878D82A}">
                    <a16:rowId xmlns:a16="http://schemas.microsoft.com/office/drawing/2014/main" val="3325855182"/>
                  </a:ext>
                </a:extLst>
              </a:tr>
              <a:tr h="235837">
                <a:tc>
                  <a:txBody>
                    <a:bodyPr/>
                    <a:lstStyle/>
                    <a:p>
                      <a:pPr algn="ctr">
                        <a:lnSpc>
                          <a:spcPct val="115000"/>
                        </a:lnSpc>
                        <a:spcAft>
                          <a:spcPts val="1000"/>
                        </a:spcAft>
                      </a:pPr>
                      <a:r>
                        <a:rPr lang="en-IN" sz="970" b="1" i="0" baseline="0">
                          <a:effectLst/>
                          <a:latin typeface="Times New Roman" panose="02020603050405020304" pitchFamily="18" charset="0"/>
                        </a:rPr>
                        <a:t>short int</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2</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%hd</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-32,768 to 32,767</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extLst>
                  <a:ext uri="{0D108BD9-81ED-4DB2-BD59-A6C34878D82A}">
                    <a16:rowId xmlns:a16="http://schemas.microsoft.com/office/drawing/2014/main" val="1738425426"/>
                  </a:ext>
                </a:extLst>
              </a:tr>
              <a:tr h="235837">
                <a:tc>
                  <a:txBody>
                    <a:bodyPr/>
                    <a:lstStyle/>
                    <a:p>
                      <a:pPr algn="ctr">
                        <a:lnSpc>
                          <a:spcPct val="115000"/>
                        </a:lnSpc>
                        <a:spcAft>
                          <a:spcPts val="1000"/>
                        </a:spcAft>
                      </a:pPr>
                      <a:r>
                        <a:rPr lang="en-IN" sz="970" b="1" i="0" baseline="0">
                          <a:effectLst/>
                          <a:latin typeface="Times New Roman" panose="02020603050405020304" pitchFamily="18" charset="0"/>
                        </a:rPr>
                        <a:t>unsigned int</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dirty="0">
                          <a:effectLst/>
                          <a:latin typeface="Times New Roman" panose="02020603050405020304" pitchFamily="18" charset="0"/>
                        </a:rPr>
                        <a:t>4</a:t>
                      </a:r>
                      <a:endParaRPr lang="en-IN" sz="970" b="1" i="0" baseline="0" dirty="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dirty="0">
                          <a:effectLst/>
                          <a:latin typeface="Times New Roman" panose="02020603050405020304" pitchFamily="18" charset="0"/>
                        </a:rPr>
                        <a:t>%u</a:t>
                      </a:r>
                      <a:endParaRPr lang="en-IN" sz="970" b="1" i="0" baseline="0" dirty="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0 to 4,294,967,295</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extLst>
                  <a:ext uri="{0D108BD9-81ED-4DB2-BD59-A6C34878D82A}">
                    <a16:rowId xmlns:a16="http://schemas.microsoft.com/office/drawing/2014/main" val="2003703268"/>
                  </a:ext>
                </a:extLst>
              </a:tr>
              <a:tr h="235837">
                <a:tc>
                  <a:txBody>
                    <a:bodyPr/>
                    <a:lstStyle/>
                    <a:p>
                      <a:pPr algn="ctr">
                        <a:lnSpc>
                          <a:spcPct val="115000"/>
                        </a:lnSpc>
                        <a:spcAft>
                          <a:spcPts val="1000"/>
                        </a:spcAft>
                      </a:pPr>
                      <a:r>
                        <a:rPr lang="en-IN" sz="970" b="1" i="0" baseline="0">
                          <a:effectLst/>
                          <a:latin typeface="Times New Roman" panose="02020603050405020304" pitchFamily="18" charset="0"/>
                        </a:rPr>
                        <a:t>unsigned short int</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2</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%hu</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0 to 65,535</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extLst>
                  <a:ext uri="{0D108BD9-81ED-4DB2-BD59-A6C34878D82A}">
                    <a16:rowId xmlns:a16="http://schemas.microsoft.com/office/drawing/2014/main" val="2885742636"/>
                  </a:ext>
                </a:extLst>
              </a:tr>
              <a:tr h="273903">
                <a:tc>
                  <a:txBody>
                    <a:bodyPr/>
                    <a:lstStyle/>
                    <a:p>
                      <a:pPr algn="ctr">
                        <a:lnSpc>
                          <a:spcPct val="115000"/>
                        </a:lnSpc>
                        <a:spcAft>
                          <a:spcPts val="1000"/>
                        </a:spcAft>
                      </a:pPr>
                      <a:r>
                        <a:rPr lang="en-IN" sz="970" b="1" i="0" baseline="0">
                          <a:effectLst/>
                          <a:latin typeface="Times New Roman" panose="02020603050405020304" pitchFamily="18" charset="0"/>
                        </a:rPr>
                        <a:t>long int</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4</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%ld</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-2,147,483,648 to 2,147,483,647</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extLst>
                  <a:ext uri="{0D108BD9-81ED-4DB2-BD59-A6C34878D82A}">
                    <a16:rowId xmlns:a16="http://schemas.microsoft.com/office/drawing/2014/main" val="1314449032"/>
                  </a:ext>
                </a:extLst>
              </a:tr>
              <a:tr h="235837">
                <a:tc>
                  <a:txBody>
                    <a:bodyPr/>
                    <a:lstStyle/>
                    <a:p>
                      <a:pPr algn="ctr">
                        <a:lnSpc>
                          <a:spcPct val="115000"/>
                        </a:lnSpc>
                        <a:spcAft>
                          <a:spcPts val="1000"/>
                        </a:spcAft>
                      </a:pPr>
                      <a:r>
                        <a:rPr lang="en-IN" sz="970" b="1" i="0" baseline="0">
                          <a:effectLst/>
                          <a:latin typeface="Times New Roman" panose="02020603050405020304" pitchFamily="18" charset="0"/>
                        </a:rPr>
                        <a:t>unsigned long int</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4</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%lu</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0 to 4,294,967,295</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extLst>
                  <a:ext uri="{0D108BD9-81ED-4DB2-BD59-A6C34878D82A}">
                    <a16:rowId xmlns:a16="http://schemas.microsoft.com/office/drawing/2014/main" val="3779952179"/>
                  </a:ext>
                </a:extLst>
              </a:tr>
              <a:tr h="235837">
                <a:tc>
                  <a:txBody>
                    <a:bodyPr/>
                    <a:lstStyle/>
                    <a:p>
                      <a:pPr algn="ctr">
                        <a:lnSpc>
                          <a:spcPct val="115000"/>
                        </a:lnSpc>
                        <a:spcAft>
                          <a:spcPts val="1000"/>
                        </a:spcAft>
                      </a:pPr>
                      <a:r>
                        <a:rPr lang="en-IN" sz="970" b="1" i="0" baseline="0">
                          <a:effectLst/>
                          <a:latin typeface="Times New Roman" panose="02020603050405020304" pitchFamily="18" charset="0"/>
                        </a:rPr>
                        <a:t>long long int</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8</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%lld</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-(263) to (263)-1</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extLst>
                  <a:ext uri="{0D108BD9-81ED-4DB2-BD59-A6C34878D82A}">
                    <a16:rowId xmlns:a16="http://schemas.microsoft.com/office/drawing/2014/main" val="557644711"/>
                  </a:ext>
                </a:extLst>
              </a:tr>
              <a:tr h="273903">
                <a:tc>
                  <a:txBody>
                    <a:bodyPr/>
                    <a:lstStyle/>
                    <a:p>
                      <a:pPr algn="ctr">
                        <a:lnSpc>
                          <a:spcPct val="115000"/>
                        </a:lnSpc>
                        <a:spcAft>
                          <a:spcPts val="1000"/>
                        </a:spcAft>
                      </a:pPr>
                      <a:r>
                        <a:rPr lang="en-IN" sz="970" b="1" i="0" baseline="0">
                          <a:effectLst/>
                          <a:latin typeface="Times New Roman" panose="02020603050405020304" pitchFamily="18" charset="0"/>
                        </a:rPr>
                        <a:t>unsigned long long int</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8</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%llu</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0 to 18,446,744,073,709,551,615</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extLst>
                  <a:ext uri="{0D108BD9-81ED-4DB2-BD59-A6C34878D82A}">
                    <a16:rowId xmlns:a16="http://schemas.microsoft.com/office/drawing/2014/main" val="105140603"/>
                  </a:ext>
                </a:extLst>
              </a:tr>
              <a:tr h="235837">
                <a:tc>
                  <a:txBody>
                    <a:bodyPr/>
                    <a:lstStyle/>
                    <a:p>
                      <a:pPr algn="ctr">
                        <a:lnSpc>
                          <a:spcPct val="115000"/>
                        </a:lnSpc>
                        <a:spcAft>
                          <a:spcPts val="1000"/>
                        </a:spcAft>
                      </a:pPr>
                      <a:r>
                        <a:rPr lang="en-IN" sz="970" b="1" i="0" baseline="0">
                          <a:effectLst/>
                          <a:latin typeface="Times New Roman" panose="02020603050405020304" pitchFamily="18" charset="0"/>
                        </a:rPr>
                        <a:t>char</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1</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%c</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-128 to 127</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extLst>
                  <a:ext uri="{0D108BD9-81ED-4DB2-BD59-A6C34878D82A}">
                    <a16:rowId xmlns:a16="http://schemas.microsoft.com/office/drawing/2014/main" val="487354793"/>
                  </a:ext>
                </a:extLst>
              </a:tr>
              <a:tr h="235837">
                <a:tc>
                  <a:txBody>
                    <a:bodyPr/>
                    <a:lstStyle/>
                    <a:p>
                      <a:pPr algn="ctr">
                        <a:lnSpc>
                          <a:spcPct val="115000"/>
                        </a:lnSpc>
                        <a:spcAft>
                          <a:spcPts val="1000"/>
                        </a:spcAft>
                      </a:pPr>
                      <a:r>
                        <a:rPr lang="en-IN" sz="970" b="1" i="0" baseline="0">
                          <a:effectLst/>
                          <a:latin typeface="Times New Roman" panose="02020603050405020304" pitchFamily="18" charset="0"/>
                        </a:rPr>
                        <a:t>Signed char</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1</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%c</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-128 to 127</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extLst>
                  <a:ext uri="{0D108BD9-81ED-4DB2-BD59-A6C34878D82A}">
                    <a16:rowId xmlns:a16="http://schemas.microsoft.com/office/drawing/2014/main" val="3019329840"/>
                  </a:ext>
                </a:extLst>
              </a:tr>
              <a:tr h="235837">
                <a:tc>
                  <a:txBody>
                    <a:bodyPr/>
                    <a:lstStyle/>
                    <a:p>
                      <a:pPr algn="ctr">
                        <a:lnSpc>
                          <a:spcPct val="115000"/>
                        </a:lnSpc>
                        <a:spcAft>
                          <a:spcPts val="1000"/>
                        </a:spcAft>
                      </a:pPr>
                      <a:r>
                        <a:rPr lang="en-IN" sz="970" b="1" i="0" baseline="0">
                          <a:effectLst/>
                          <a:latin typeface="Times New Roman" panose="02020603050405020304" pitchFamily="18" charset="0"/>
                        </a:rPr>
                        <a:t>Unsigned char</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1</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%c</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0 to 255</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extLst>
                  <a:ext uri="{0D108BD9-81ED-4DB2-BD59-A6C34878D82A}">
                    <a16:rowId xmlns:a16="http://schemas.microsoft.com/office/drawing/2014/main" val="680145617"/>
                  </a:ext>
                </a:extLst>
              </a:tr>
              <a:tr h="235837">
                <a:tc>
                  <a:txBody>
                    <a:bodyPr/>
                    <a:lstStyle/>
                    <a:p>
                      <a:pPr algn="ctr">
                        <a:lnSpc>
                          <a:spcPct val="115000"/>
                        </a:lnSpc>
                        <a:spcAft>
                          <a:spcPts val="1000"/>
                        </a:spcAft>
                      </a:pPr>
                      <a:r>
                        <a:rPr lang="en-IN" sz="970" b="1" i="0" baseline="0">
                          <a:effectLst/>
                          <a:latin typeface="Times New Roman" panose="02020603050405020304" pitchFamily="18" charset="0"/>
                        </a:rPr>
                        <a:t>float</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4</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%f</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extLst>
                  <a:ext uri="{0D108BD9-81ED-4DB2-BD59-A6C34878D82A}">
                    <a16:rowId xmlns:a16="http://schemas.microsoft.com/office/drawing/2014/main" val="1395786703"/>
                  </a:ext>
                </a:extLst>
              </a:tr>
              <a:tr h="235837">
                <a:tc>
                  <a:txBody>
                    <a:bodyPr/>
                    <a:lstStyle/>
                    <a:p>
                      <a:pPr algn="ctr">
                        <a:lnSpc>
                          <a:spcPct val="115000"/>
                        </a:lnSpc>
                        <a:spcAft>
                          <a:spcPts val="1000"/>
                        </a:spcAft>
                      </a:pPr>
                      <a:r>
                        <a:rPr lang="en-IN" sz="970" b="1" i="0" baseline="0">
                          <a:effectLst/>
                          <a:latin typeface="Times New Roman" panose="02020603050405020304" pitchFamily="18" charset="0"/>
                        </a:rPr>
                        <a:t>double</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8</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%lf</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extLst>
                  <a:ext uri="{0D108BD9-81ED-4DB2-BD59-A6C34878D82A}">
                    <a16:rowId xmlns:a16="http://schemas.microsoft.com/office/drawing/2014/main" val="2611932851"/>
                  </a:ext>
                </a:extLst>
              </a:tr>
              <a:tr h="235837">
                <a:tc>
                  <a:txBody>
                    <a:bodyPr/>
                    <a:lstStyle/>
                    <a:p>
                      <a:pPr algn="ctr">
                        <a:lnSpc>
                          <a:spcPct val="115000"/>
                        </a:lnSpc>
                        <a:spcAft>
                          <a:spcPts val="1000"/>
                        </a:spcAft>
                      </a:pPr>
                      <a:r>
                        <a:rPr lang="en-IN" sz="970" b="1" i="0" baseline="0">
                          <a:effectLst/>
                          <a:latin typeface="Times New Roman" panose="02020603050405020304" pitchFamily="18" charset="0"/>
                        </a:rPr>
                        <a:t>long double</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dirty="0">
                          <a:effectLst/>
                          <a:latin typeface="Times New Roman" panose="02020603050405020304" pitchFamily="18" charset="0"/>
                        </a:rPr>
                        <a:t>12</a:t>
                      </a:r>
                      <a:endParaRPr lang="en-IN" sz="970" b="1" i="0" baseline="0" dirty="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a:effectLst/>
                          <a:latin typeface="Times New Roman" panose="02020603050405020304" pitchFamily="18" charset="0"/>
                        </a:rPr>
                        <a:t>%Lf</a:t>
                      </a:r>
                      <a:endParaRPr lang="en-IN" sz="970" b="1" i="0" baseline="0">
                        <a:effectLst/>
                        <a:latin typeface="Times New Roman" panose="02020603050405020304" pitchFamily="18" charset="0"/>
                        <a:ea typeface="Calibri" panose="020F0502020204030204" pitchFamily="34" charset="0"/>
                      </a:endParaRPr>
                    </a:p>
                  </a:txBody>
                  <a:tcPr marL="41491" marR="41491" marT="0" marB="0" anchor="b"/>
                </a:tc>
                <a:tc>
                  <a:txBody>
                    <a:bodyPr/>
                    <a:lstStyle/>
                    <a:p>
                      <a:pPr algn="ctr">
                        <a:lnSpc>
                          <a:spcPct val="115000"/>
                        </a:lnSpc>
                        <a:spcAft>
                          <a:spcPts val="1000"/>
                        </a:spcAft>
                      </a:pPr>
                      <a:r>
                        <a:rPr lang="en-IN" sz="970" b="1" i="0" baseline="0" dirty="0">
                          <a:effectLst/>
                          <a:latin typeface="Times New Roman" panose="02020603050405020304" pitchFamily="18" charset="0"/>
                        </a:rPr>
                        <a:t>–</a:t>
                      </a:r>
                      <a:endParaRPr lang="en-IN" sz="970" b="1" i="0" baseline="0" dirty="0">
                        <a:effectLst/>
                        <a:latin typeface="Times New Roman" panose="02020603050405020304" pitchFamily="18" charset="0"/>
                        <a:ea typeface="Calibri" panose="020F0502020204030204" pitchFamily="34" charset="0"/>
                      </a:endParaRPr>
                    </a:p>
                  </a:txBody>
                  <a:tcPr marL="41491" marR="41491" marT="0" marB="0" anchor="b"/>
                </a:tc>
                <a:extLst>
                  <a:ext uri="{0D108BD9-81ED-4DB2-BD59-A6C34878D82A}">
                    <a16:rowId xmlns:a16="http://schemas.microsoft.com/office/drawing/2014/main" val="1604845411"/>
                  </a:ext>
                </a:extLst>
              </a:tr>
            </a:tbl>
          </a:graphicData>
        </a:graphic>
      </p:graphicFrame>
    </p:spTree>
    <p:extLst>
      <p:ext uri="{BB962C8B-B14F-4D97-AF65-F5344CB8AC3E}">
        <p14:creationId xmlns:p14="http://schemas.microsoft.com/office/powerpoint/2010/main" val="307161600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31</TotalTime>
  <Words>1280</Words>
  <Application>Microsoft Office PowerPoint</Application>
  <PresentationFormat>Widescreen</PresentationFormat>
  <Paragraphs>153</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Garamond</vt:lpstr>
      <vt:lpstr>inter-bold</vt:lpstr>
      <vt:lpstr>inter-regular</vt:lpstr>
      <vt:lpstr>Noto Sans Symbols</vt:lpstr>
      <vt:lpstr>Times New Roman</vt:lpstr>
      <vt:lpstr>Organic</vt:lpstr>
      <vt:lpstr>Unit -2</vt:lpstr>
      <vt:lpstr>Character set</vt:lpstr>
      <vt:lpstr>Conti..</vt:lpstr>
      <vt:lpstr>Conti..</vt:lpstr>
      <vt:lpstr>Token in c language</vt:lpstr>
      <vt:lpstr>Conti..</vt:lpstr>
      <vt:lpstr>Keywords in C</vt:lpstr>
      <vt:lpstr>Conti..</vt:lpstr>
      <vt:lpstr>Identifiers in C</vt:lpstr>
      <vt:lpstr>Conti..</vt:lpstr>
      <vt:lpstr>Data Type in C </vt:lpstr>
      <vt:lpstr>Types of Data Types in C </vt:lpstr>
      <vt:lpstr>Primary Data Types in C   </vt:lpstr>
      <vt:lpstr>Conti…</vt:lpstr>
      <vt:lpstr>Conti..</vt:lpstr>
      <vt:lpstr>Conti..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-2</dc:title>
  <dc:creator>Mrs. Priyangi Vishal Mevawala</dc:creator>
  <cp:lastModifiedBy>Mrs. Priyangi Vishal Mevawala</cp:lastModifiedBy>
  <cp:revision>1</cp:revision>
  <dcterms:created xsi:type="dcterms:W3CDTF">2022-10-07T05:02:51Z</dcterms:created>
  <dcterms:modified xsi:type="dcterms:W3CDTF">2022-10-07T05:34:34Z</dcterms:modified>
</cp:coreProperties>
</file>