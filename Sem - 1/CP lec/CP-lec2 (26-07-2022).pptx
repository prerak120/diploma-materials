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1"/>
  </p:sldMasterIdLst>
  <p:sldIdLst>
    <p:sldId id="256" r:id="rId2"/>
    <p:sldId id="257" r:id="rId3"/>
    <p:sldId id="258" r:id="rId4"/>
    <p:sldId id="259" r:id="rId5"/>
    <p:sldId id="261" r:id="rId6"/>
    <p:sldId id="262" r:id="rId7"/>
    <p:sldId id="264" r:id="rId8"/>
    <p:sldId id="263" r:id="rId9"/>
    <p:sldId id="266"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90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1814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599597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215884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AA6785-E99A-474D-821C-B0885B5C485A}" type="datetimeFigureOut">
              <a:rPr lang="en-US" smtClean="0"/>
              <a:t>8/30/2022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3023294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AA6785-E99A-474D-821C-B0885B5C485A}" type="datetimeFigureOut">
              <a:rPr lang="en-US" smtClean="0"/>
              <a:t>8/30/2022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1606134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AA6785-E99A-474D-821C-B0885B5C485A}" type="datetimeFigureOut">
              <a:rPr lang="en-US" smtClean="0"/>
              <a:t>8/30/2022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3758288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AA6785-E99A-474D-821C-B0885B5C485A}" type="datetimeFigureOut">
              <a:rPr lang="en-US" smtClean="0"/>
              <a:t>8/30/2022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3442369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AA6785-E99A-474D-821C-B0885B5C485A}" type="datetimeFigureOut">
              <a:rPr lang="en-US" smtClean="0"/>
              <a:t>8/30/2022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152523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AA6785-E99A-474D-821C-B0885B5C485A}" type="datetimeFigureOut">
              <a:rPr lang="en-US" smtClean="0"/>
              <a:t>8/30/2022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3136410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4AA6785-E99A-474D-821C-B0885B5C485A}" type="datetimeFigureOut">
              <a:rPr lang="en-US" smtClean="0"/>
              <a:t>8/30/2022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3163238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2445217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539646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2190878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7722693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3937813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4144308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AA6785-E99A-474D-821C-B0885B5C485A}" type="datetimeFigureOut">
              <a:rPr lang="en-US" smtClean="0"/>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B7514-D567-4EBD-9ACD-3DF1774FCE88}" type="slidenum">
              <a:rPr lang="en-US" smtClean="0"/>
              <a:t>‹#›</a:t>
            </a:fld>
            <a:endParaRPr lang="en-US"/>
          </a:p>
        </p:txBody>
      </p:sp>
    </p:spTree>
    <p:extLst>
      <p:ext uri="{BB962C8B-B14F-4D97-AF65-F5344CB8AC3E}">
        <p14:creationId xmlns:p14="http://schemas.microsoft.com/office/powerpoint/2010/main" val="90958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4AA6785-E99A-474D-821C-B0885B5C485A}" type="datetimeFigureOut">
              <a:rPr lang="en-US" smtClean="0"/>
              <a:t>8/30/2022</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1BB7514-D567-4EBD-9ACD-3DF1774FCE88}" type="slidenum">
              <a:rPr lang="en-US" smtClean="0"/>
              <a:t>‹#›</a:t>
            </a:fld>
            <a:endParaRPr lang="en-US"/>
          </a:p>
        </p:txBody>
      </p:sp>
    </p:spTree>
    <p:extLst>
      <p:ext uri="{BB962C8B-B14F-4D97-AF65-F5344CB8AC3E}">
        <p14:creationId xmlns:p14="http://schemas.microsoft.com/office/powerpoint/2010/main" val="1687510456"/>
      </p:ext>
    </p:extLst>
  </p:cSld>
  <p:clrMap bg1="dk1" tx1="lt1" bg2="dk2" tx2="lt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hyperlink" Target="https://www.cuemath.com/numbers/binary-number-system/" TargetMode="External" /><Relationship Id="rId2" Type="http://schemas.openxmlformats.org/officeDocument/2006/relationships/hyperlink" Target="https://www.cuemath.com/numbers/number-systems/" TargetMode="External" /><Relationship Id="rId1" Type="http://schemas.openxmlformats.org/officeDocument/2006/relationships/slideLayout" Target="../slideLayouts/slideLayout2.xml" /><Relationship Id="rId4" Type="http://schemas.openxmlformats.org/officeDocument/2006/relationships/hyperlink" Target="https://www.cuemath.com/numbers/base/" TargetMode="External" /></Relationships>
</file>

<file path=ppt/slides/_rels/slide3.xml.rels><?xml version="1.0" encoding="UTF-8" standalone="yes"?>
<Relationships xmlns="http://schemas.openxmlformats.org/package/2006/relationships"><Relationship Id="rId3" Type="http://schemas.openxmlformats.org/officeDocument/2006/relationships/hyperlink" Target="https://www.cuemath.com/numbers/decimals/" TargetMode="External" /><Relationship Id="rId2" Type="http://schemas.openxmlformats.org/officeDocument/2006/relationships/hyperlink" Target="https://www.cuemath.com/numbers/decimal-number-system/" TargetMode="Externa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hyperlink" Target="https://www.cuemath.com/numbers/remainder/" TargetMode="External" /><Relationship Id="rId2" Type="http://schemas.openxmlformats.org/officeDocument/2006/relationships/hyperlink" Target="https://www.cuemath.com/numbers/quotient/" TargetMode="Externa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8.xml" /></Relationships>
</file>

<file path=ppt/slides/_rels/slide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8.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D2C0D-E641-3725-8177-17971CDB7F8E}"/>
              </a:ext>
            </a:extLst>
          </p:cNvPr>
          <p:cNvSpPr>
            <a:spLocks noGrp="1"/>
          </p:cNvSpPr>
          <p:nvPr>
            <p:ph type="ctrTitle"/>
          </p:nvPr>
        </p:nvSpPr>
        <p:spPr/>
        <p:txBody>
          <a:bodyPr/>
          <a:lstStyle/>
          <a:p>
            <a:pPr algn="ctr"/>
            <a:r>
              <a:rPr lang="en-US" b="1" dirty="0">
                <a:solidFill>
                  <a:schemeClr val="accent5">
                    <a:lumMod val="50000"/>
                  </a:schemeClr>
                </a:solidFill>
              </a:rPr>
              <a:t>Decimal to Binary Convert</a:t>
            </a:r>
          </a:p>
        </p:txBody>
      </p:sp>
      <p:sp>
        <p:nvSpPr>
          <p:cNvPr id="4" name="Subtitle 3">
            <a:extLst>
              <a:ext uri="{FF2B5EF4-FFF2-40B4-BE49-F238E27FC236}">
                <a16:creationId xmlns:a16="http://schemas.microsoft.com/office/drawing/2014/main" id="{E2F828A9-BC83-3547-1BF5-D32DDFC6129F}"/>
              </a:ext>
            </a:extLst>
          </p:cNvPr>
          <p:cNvSpPr>
            <a:spLocks noGrp="1"/>
          </p:cNvSpPr>
          <p:nvPr>
            <p:ph type="subTitle" idx="1"/>
          </p:nvPr>
        </p:nvSpPr>
        <p:spPr>
          <a:xfrm flipV="1">
            <a:off x="2417780" y="3485485"/>
            <a:ext cx="8637072" cy="45719"/>
          </a:xfrm>
        </p:spPr>
        <p:txBody>
          <a:bodyPr>
            <a:normAutofit fontScale="25000" lnSpcReduction="20000"/>
          </a:bodyPr>
          <a:lstStyle/>
          <a:p>
            <a:endParaRPr lang="en-US" dirty="0"/>
          </a:p>
        </p:txBody>
      </p:sp>
    </p:spTree>
    <p:extLst>
      <p:ext uri="{BB962C8B-B14F-4D97-AF65-F5344CB8AC3E}">
        <p14:creationId xmlns:p14="http://schemas.microsoft.com/office/powerpoint/2010/main" val="2839449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85C2-C83D-17A0-EE32-A3411E30FE1F}"/>
              </a:ext>
            </a:extLst>
          </p:cNvPr>
          <p:cNvSpPr>
            <a:spLocks noGrp="1"/>
          </p:cNvSpPr>
          <p:nvPr>
            <p:ph type="title"/>
          </p:nvPr>
        </p:nvSpPr>
        <p:spPr>
          <a:xfrm>
            <a:off x="932121" y="489098"/>
            <a:ext cx="8534400" cy="1052231"/>
          </a:xfrm>
        </p:spPr>
        <p:txBody>
          <a:bodyPr/>
          <a:lstStyle/>
          <a:p>
            <a:r>
              <a:rPr lang="en-US" b="1" i="0" dirty="0">
                <a:solidFill>
                  <a:schemeClr val="accent5">
                    <a:lumMod val="50000"/>
                  </a:schemeClr>
                </a:solidFill>
                <a:effectLst/>
                <a:latin typeface="Untitled Sans"/>
              </a:rPr>
              <a:t>Decimal to binary conversion</a:t>
            </a:r>
            <a:r>
              <a:rPr lang="en-US" b="0" i="0" dirty="0">
                <a:solidFill>
                  <a:schemeClr val="accent5">
                    <a:lumMod val="50000"/>
                  </a:schemeClr>
                </a:solidFill>
                <a:effectLst/>
                <a:latin typeface="Untitled Sans"/>
              </a:rPr>
              <a:t> </a:t>
            </a:r>
            <a:endParaRPr lang="en-US" dirty="0">
              <a:solidFill>
                <a:schemeClr val="accent5">
                  <a:lumMod val="50000"/>
                </a:schemeClr>
              </a:solidFill>
            </a:endParaRPr>
          </a:p>
        </p:txBody>
      </p:sp>
      <p:sp>
        <p:nvSpPr>
          <p:cNvPr id="3" name="Content Placeholder 2">
            <a:extLst>
              <a:ext uri="{FF2B5EF4-FFF2-40B4-BE49-F238E27FC236}">
                <a16:creationId xmlns:a16="http://schemas.microsoft.com/office/drawing/2014/main" id="{8FD42A20-865A-F144-657C-8AFB6C9B0C6C}"/>
              </a:ext>
            </a:extLst>
          </p:cNvPr>
          <p:cNvSpPr>
            <a:spLocks noGrp="1"/>
          </p:cNvSpPr>
          <p:nvPr>
            <p:ph idx="1"/>
          </p:nvPr>
        </p:nvSpPr>
        <p:spPr>
          <a:xfrm>
            <a:off x="758639" y="1241645"/>
            <a:ext cx="10501240" cy="5127257"/>
          </a:xfrm>
        </p:spPr>
        <p:txBody>
          <a:bodyPr>
            <a:noAutofit/>
          </a:bodyPr>
          <a:lstStyle/>
          <a:p>
            <a:r>
              <a:rPr lang="en-US" sz="2400" b="1" i="0" dirty="0">
                <a:solidFill>
                  <a:schemeClr val="tx1"/>
                </a:solidFill>
                <a:effectLst/>
                <a:latin typeface="Untitled Sans"/>
              </a:rPr>
              <a:t>Decimal to binary conversion</a:t>
            </a:r>
            <a:r>
              <a:rPr lang="en-US" sz="2400" b="0" i="0" dirty="0">
                <a:solidFill>
                  <a:schemeClr val="tx1"/>
                </a:solidFill>
                <a:effectLst/>
                <a:latin typeface="Untitled Sans"/>
              </a:rPr>
              <a:t> means when we convert a number from the decimal number system to the binary number system.</a:t>
            </a:r>
          </a:p>
          <a:p>
            <a:r>
              <a:rPr lang="en-US" sz="2400" b="0" i="0" dirty="0">
                <a:solidFill>
                  <a:schemeClr val="tx1"/>
                </a:solidFill>
                <a:effectLst/>
                <a:latin typeface="Untitled Sans"/>
              </a:rPr>
              <a:t>All </a:t>
            </a:r>
            <a:r>
              <a:rPr lang="en-US" sz="2400" b="0" i="0" u="none" strike="noStrike" dirty="0">
                <a:solidFill>
                  <a:schemeClr val="tx1"/>
                </a:solidFill>
                <a:effectLst/>
                <a:latin typeface="Untitled Sans"/>
                <a:hlinkClick r:id="rId2">
                  <a:extLst>
                    <a:ext uri="{A12FA001-AC4F-418D-AE19-62706E023703}">
                      <ahyp:hlinkClr xmlns:ahyp="http://schemas.microsoft.com/office/drawing/2018/hyperlinkcolor" val="tx"/>
                    </a:ext>
                  </a:extLst>
                </a:hlinkClick>
              </a:rPr>
              <a:t>number systems </a:t>
            </a:r>
            <a:r>
              <a:rPr lang="en-US" sz="2400" b="0" i="0" dirty="0">
                <a:solidFill>
                  <a:schemeClr val="tx1"/>
                </a:solidFill>
                <a:effectLst/>
                <a:latin typeface="Untitled Sans"/>
              </a:rPr>
              <a:t>have a base which is determined by the total number of digits that are used in the number system.</a:t>
            </a:r>
          </a:p>
          <a:p>
            <a:r>
              <a:rPr lang="en-US" sz="2400" b="0" i="0" dirty="0">
                <a:solidFill>
                  <a:schemeClr val="tx1"/>
                </a:solidFill>
                <a:effectLst/>
                <a:latin typeface="Untitled Sans"/>
              </a:rPr>
              <a:t>For example, the </a:t>
            </a:r>
            <a:r>
              <a:rPr lang="en-US" sz="2400" b="0" i="0" u="none" strike="noStrike" dirty="0">
                <a:solidFill>
                  <a:schemeClr val="tx1"/>
                </a:solidFill>
                <a:effectLst/>
                <a:latin typeface="Untitled Sans"/>
                <a:hlinkClick r:id="rId3">
                  <a:extLst>
                    <a:ext uri="{A12FA001-AC4F-418D-AE19-62706E023703}">
                      <ahyp:hlinkClr xmlns:ahyp="http://schemas.microsoft.com/office/drawing/2018/hyperlinkcolor" val="tx"/>
                    </a:ext>
                  </a:extLst>
                </a:hlinkClick>
              </a:rPr>
              <a:t>binary number system</a:t>
            </a:r>
            <a:r>
              <a:rPr lang="en-US" sz="2400" b="0" i="0" dirty="0">
                <a:solidFill>
                  <a:schemeClr val="tx1"/>
                </a:solidFill>
                <a:effectLst/>
                <a:latin typeface="Untitled Sans"/>
              </a:rPr>
              <a:t> has a base of 2 since it uses only </a:t>
            </a:r>
            <a:r>
              <a:rPr lang="en-US" sz="2400" b="1" i="0" dirty="0">
                <a:solidFill>
                  <a:schemeClr val="tx1"/>
                </a:solidFill>
                <a:effectLst/>
                <a:latin typeface="Untitled Sans"/>
              </a:rPr>
              <a:t>two digits </a:t>
            </a:r>
            <a:r>
              <a:rPr lang="en-US" sz="2400" b="0" i="0" dirty="0">
                <a:solidFill>
                  <a:schemeClr val="tx1"/>
                </a:solidFill>
                <a:effectLst/>
                <a:latin typeface="Untitled Sans"/>
              </a:rPr>
              <a:t>to represent a number.</a:t>
            </a:r>
          </a:p>
          <a:p>
            <a:r>
              <a:rPr lang="en-US" sz="2400" b="0" i="0" dirty="0">
                <a:solidFill>
                  <a:schemeClr val="tx1"/>
                </a:solidFill>
                <a:effectLst/>
                <a:latin typeface="Untitled Sans"/>
              </a:rPr>
              <a:t>Similarly, the decimal number system has a </a:t>
            </a:r>
            <a:r>
              <a:rPr lang="en-US" sz="2400" b="0" i="0" u="none" strike="noStrike" dirty="0">
                <a:solidFill>
                  <a:schemeClr val="tx1"/>
                </a:solidFill>
                <a:effectLst/>
                <a:latin typeface="Untitled Sans"/>
                <a:hlinkClick r:id="rId4">
                  <a:extLst>
                    <a:ext uri="{A12FA001-AC4F-418D-AE19-62706E023703}">
                      <ahyp:hlinkClr xmlns:ahyp="http://schemas.microsoft.com/office/drawing/2018/hyperlinkcolor" val="tx"/>
                    </a:ext>
                  </a:extLst>
                </a:hlinkClick>
              </a:rPr>
              <a:t>base</a:t>
            </a:r>
            <a:r>
              <a:rPr lang="en-US" sz="2400" b="0" i="0" dirty="0">
                <a:solidFill>
                  <a:schemeClr val="tx1"/>
                </a:solidFill>
                <a:effectLst/>
                <a:latin typeface="Untitled Sans"/>
              </a:rPr>
              <a:t> of 10, because it has 10 digits to represent a number.</a:t>
            </a:r>
            <a:endParaRPr lang="en-US" sz="2400" dirty="0">
              <a:solidFill>
                <a:schemeClr val="tx1"/>
              </a:solidFill>
            </a:endParaRPr>
          </a:p>
        </p:txBody>
      </p:sp>
    </p:spTree>
    <p:extLst>
      <p:ext uri="{BB962C8B-B14F-4D97-AF65-F5344CB8AC3E}">
        <p14:creationId xmlns:p14="http://schemas.microsoft.com/office/powerpoint/2010/main" val="3775171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7D07-8BF1-7DD4-E8D8-AA528FDA9BC5}"/>
              </a:ext>
            </a:extLst>
          </p:cNvPr>
          <p:cNvSpPr>
            <a:spLocks noGrp="1"/>
          </p:cNvSpPr>
          <p:nvPr>
            <p:ph type="title"/>
          </p:nvPr>
        </p:nvSpPr>
        <p:spPr>
          <a:xfrm>
            <a:off x="1164500" y="691117"/>
            <a:ext cx="9603275" cy="749114"/>
          </a:xfrm>
        </p:spPr>
        <p:txBody>
          <a:bodyPr>
            <a:normAutofit fontScale="90000"/>
          </a:bodyPr>
          <a:lstStyle/>
          <a:p>
            <a:r>
              <a:rPr lang="en-US" b="1" i="0" dirty="0">
                <a:solidFill>
                  <a:schemeClr val="accent5">
                    <a:lumMod val="50000"/>
                  </a:schemeClr>
                </a:solidFill>
                <a:effectLst/>
                <a:latin typeface="Untitled Sans"/>
              </a:rPr>
              <a:t>Decimal Number System Definition</a:t>
            </a:r>
            <a:br>
              <a:rPr lang="en-US" b="1" i="0" dirty="0">
                <a:solidFill>
                  <a:srgbClr val="000000"/>
                </a:solidFill>
                <a:effectLst/>
                <a:latin typeface="Untitled Sans"/>
              </a:rPr>
            </a:br>
            <a:endParaRPr lang="en-US" dirty="0"/>
          </a:p>
        </p:txBody>
      </p:sp>
      <p:sp>
        <p:nvSpPr>
          <p:cNvPr id="3" name="Content Placeholder 2">
            <a:extLst>
              <a:ext uri="{FF2B5EF4-FFF2-40B4-BE49-F238E27FC236}">
                <a16:creationId xmlns:a16="http://schemas.microsoft.com/office/drawing/2014/main" id="{1FB0D14B-A459-3A86-0561-6C937F55D866}"/>
              </a:ext>
            </a:extLst>
          </p:cNvPr>
          <p:cNvSpPr>
            <a:spLocks noGrp="1"/>
          </p:cNvSpPr>
          <p:nvPr>
            <p:ph idx="1"/>
          </p:nvPr>
        </p:nvSpPr>
        <p:spPr>
          <a:xfrm>
            <a:off x="867557" y="1224025"/>
            <a:ext cx="10456886" cy="4942858"/>
          </a:xfrm>
        </p:spPr>
        <p:txBody>
          <a:bodyPr>
            <a:noAutofit/>
          </a:bodyPr>
          <a:lstStyle/>
          <a:p>
            <a:r>
              <a:rPr lang="en-US" sz="2400" b="0" i="0" dirty="0">
                <a:solidFill>
                  <a:schemeClr val="tx1"/>
                </a:solidFill>
                <a:effectLst/>
                <a:latin typeface="Untitled Sans"/>
              </a:rPr>
              <a:t>The </a:t>
            </a:r>
            <a:r>
              <a:rPr lang="en-US" sz="2400" b="0" i="0" u="none" strike="noStrike" dirty="0">
                <a:solidFill>
                  <a:schemeClr val="tx1"/>
                </a:solidFill>
                <a:effectLst/>
                <a:latin typeface="Untitled Sans"/>
                <a:hlinkClick r:id="rId2">
                  <a:extLst>
                    <a:ext uri="{A12FA001-AC4F-418D-AE19-62706E023703}">
                      <ahyp:hlinkClr xmlns:ahyp="http://schemas.microsoft.com/office/drawing/2018/hyperlinkcolor" val="tx"/>
                    </a:ext>
                  </a:extLst>
                </a:hlinkClick>
              </a:rPr>
              <a:t>decimal number system</a:t>
            </a:r>
            <a:r>
              <a:rPr lang="en-US" sz="2400" b="0" i="0" dirty="0">
                <a:solidFill>
                  <a:schemeClr val="tx1"/>
                </a:solidFill>
                <a:effectLst/>
                <a:latin typeface="Untitled Sans"/>
              </a:rPr>
              <a:t> is a number system that represents a number with a base of 10 and uses 10 symbols - 0, 1, 2, 3, 4, 5, 6, 7, 8, and 9.</a:t>
            </a:r>
          </a:p>
          <a:p>
            <a:r>
              <a:rPr lang="en-US" sz="2400" b="0" i="0" dirty="0">
                <a:solidFill>
                  <a:schemeClr val="tx1"/>
                </a:solidFill>
                <a:effectLst/>
                <a:latin typeface="Untitled Sans"/>
              </a:rPr>
              <a:t>It is also known as the Hindu-Arabic number system in which each digit has a position and it is ten times more significant than the previous digit. </a:t>
            </a:r>
          </a:p>
          <a:p>
            <a:r>
              <a:rPr lang="en-US" sz="2400" b="0" i="0" dirty="0">
                <a:solidFill>
                  <a:schemeClr val="tx1"/>
                </a:solidFill>
                <a:effectLst/>
                <a:latin typeface="Untitled Sans"/>
              </a:rPr>
              <a:t>It also uses a decimal point to represent decimal fractions. For example, if we take 36 as a </a:t>
            </a:r>
            <a:r>
              <a:rPr lang="en-US" sz="2400" b="0" i="0" u="none" strike="noStrike" dirty="0">
                <a:solidFill>
                  <a:schemeClr val="tx1"/>
                </a:solidFill>
                <a:effectLst/>
                <a:latin typeface="Untitled Sans"/>
                <a:hlinkClick r:id="rId3">
                  <a:extLst>
                    <a:ext uri="{A12FA001-AC4F-418D-AE19-62706E023703}">
                      <ahyp:hlinkClr xmlns:ahyp="http://schemas.microsoft.com/office/drawing/2018/hyperlinkcolor" val="tx"/>
                    </a:ext>
                  </a:extLst>
                </a:hlinkClick>
              </a:rPr>
              <a:t>decimal</a:t>
            </a:r>
            <a:r>
              <a:rPr lang="en-US" sz="2400" b="0" i="0" dirty="0">
                <a:solidFill>
                  <a:schemeClr val="tx1"/>
                </a:solidFill>
                <a:effectLst/>
                <a:latin typeface="Untitled Sans"/>
              </a:rPr>
              <a:t> number, here, 3 is ten times more than 6. </a:t>
            </a:r>
          </a:p>
          <a:p>
            <a:r>
              <a:rPr lang="en-US" sz="2400" b="0" i="0" dirty="0">
                <a:solidFill>
                  <a:schemeClr val="tx1"/>
                </a:solidFill>
                <a:effectLst/>
                <a:latin typeface="Untitled Sans"/>
              </a:rPr>
              <a:t>It is the most commonly known number system in which the numbers can be identified easily even if the base is not written. In other words, if the base of a number is not written, it is considered to be a decimal number.</a:t>
            </a:r>
            <a:endParaRPr lang="en-US" sz="2400" dirty="0">
              <a:solidFill>
                <a:schemeClr val="tx1"/>
              </a:solidFill>
            </a:endParaRPr>
          </a:p>
        </p:txBody>
      </p:sp>
    </p:spTree>
    <p:extLst>
      <p:ext uri="{BB962C8B-B14F-4D97-AF65-F5344CB8AC3E}">
        <p14:creationId xmlns:p14="http://schemas.microsoft.com/office/powerpoint/2010/main" val="3372278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B12E7-6EF8-1A22-3EFF-EC8FBD4DDB6C}"/>
              </a:ext>
            </a:extLst>
          </p:cNvPr>
          <p:cNvSpPr>
            <a:spLocks noGrp="1"/>
          </p:cNvSpPr>
          <p:nvPr>
            <p:ph type="title"/>
          </p:nvPr>
        </p:nvSpPr>
        <p:spPr>
          <a:xfrm>
            <a:off x="960657" y="575385"/>
            <a:ext cx="8534400" cy="1507067"/>
          </a:xfrm>
        </p:spPr>
        <p:txBody>
          <a:bodyPr>
            <a:normAutofit/>
          </a:bodyPr>
          <a:lstStyle/>
          <a:p>
            <a:r>
              <a:rPr lang="en-US" b="1" i="0" dirty="0">
                <a:solidFill>
                  <a:schemeClr val="accent5">
                    <a:lumMod val="50000"/>
                  </a:schemeClr>
                </a:solidFill>
                <a:effectLst/>
                <a:latin typeface="Untitled Sans"/>
              </a:rPr>
              <a:t>Binary Number System Definition</a:t>
            </a:r>
            <a:br>
              <a:rPr lang="en-US" b="1" i="0" dirty="0">
                <a:solidFill>
                  <a:srgbClr val="000000"/>
                </a:solidFill>
                <a:effectLst/>
                <a:latin typeface="Untitled Sans"/>
              </a:rPr>
            </a:br>
            <a:endParaRPr lang="en-US" dirty="0"/>
          </a:p>
        </p:txBody>
      </p:sp>
      <p:sp>
        <p:nvSpPr>
          <p:cNvPr id="3" name="Content Placeholder 2">
            <a:extLst>
              <a:ext uri="{FF2B5EF4-FFF2-40B4-BE49-F238E27FC236}">
                <a16:creationId xmlns:a16="http://schemas.microsoft.com/office/drawing/2014/main" id="{5488D58C-3131-848F-95A0-70A4FF17480F}"/>
              </a:ext>
            </a:extLst>
          </p:cNvPr>
          <p:cNvSpPr>
            <a:spLocks noGrp="1"/>
          </p:cNvSpPr>
          <p:nvPr>
            <p:ph idx="1"/>
          </p:nvPr>
        </p:nvSpPr>
        <p:spPr>
          <a:xfrm>
            <a:off x="606148" y="1625554"/>
            <a:ext cx="10979704" cy="4657061"/>
          </a:xfrm>
        </p:spPr>
        <p:txBody>
          <a:bodyPr>
            <a:normAutofit lnSpcReduction="10000"/>
          </a:bodyPr>
          <a:lstStyle/>
          <a:p>
            <a:endParaRPr lang="en-US" sz="2400" dirty="0">
              <a:solidFill>
                <a:srgbClr val="333333"/>
              </a:solidFill>
              <a:latin typeface="Untitled Sans"/>
            </a:endParaRPr>
          </a:p>
          <a:p>
            <a:r>
              <a:rPr lang="en-US" sz="2400" b="0" i="0" dirty="0">
                <a:solidFill>
                  <a:schemeClr val="tx1"/>
                </a:solidFill>
                <a:effectLst/>
                <a:latin typeface="Untitled Sans"/>
              </a:rPr>
              <a:t>The binary number system is a number system with base 2 in which numbers are re</a:t>
            </a:r>
          </a:p>
          <a:p>
            <a:r>
              <a:rPr lang="en-US" sz="2400" b="0" i="0" dirty="0">
                <a:solidFill>
                  <a:schemeClr val="tx1"/>
                </a:solidFill>
                <a:effectLst/>
                <a:latin typeface="Untitled Sans"/>
              </a:rPr>
              <a:t>presented only by two digits, 0 and 1.</a:t>
            </a:r>
            <a:endParaRPr lang="en-US" sz="2400" dirty="0"/>
          </a:p>
          <a:p>
            <a:r>
              <a:rPr lang="en-US" sz="2400" b="0" i="0" dirty="0">
                <a:solidFill>
                  <a:schemeClr val="tx1"/>
                </a:solidFill>
                <a:effectLst/>
                <a:latin typeface="Untitled Sans"/>
              </a:rPr>
              <a:t>The smallest unit of data in a computer is called a bit, which is the abbreviated form of 'binary digit'. A bit has a single binary value which is either 1 or 0.</a:t>
            </a:r>
          </a:p>
          <a:p>
            <a:r>
              <a:rPr lang="en-US" sz="2400" b="0" i="0" dirty="0">
                <a:solidFill>
                  <a:schemeClr val="tx1"/>
                </a:solidFill>
                <a:effectLst/>
                <a:latin typeface="Untitled Sans"/>
              </a:rPr>
              <a:t>Binary numbers are written as 110</a:t>
            </a:r>
            <a:r>
              <a:rPr lang="en-US" sz="2400" b="0" i="0" baseline="-25000" dirty="0">
                <a:solidFill>
                  <a:schemeClr val="tx1"/>
                </a:solidFill>
                <a:effectLst/>
                <a:latin typeface="Untitled Sans"/>
              </a:rPr>
              <a:t>2</a:t>
            </a:r>
            <a:r>
              <a:rPr lang="en-US" sz="2400" b="0" i="0" dirty="0">
                <a:solidFill>
                  <a:schemeClr val="tx1"/>
                </a:solidFill>
                <a:effectLst/>
                <a:latin typeface="Untitled Sans"/>
              </a:rPr>
              <a:t>, 10</a:t>
            </a:r>
            <a:r>
              <a:rPr lang="en-US" sz="2400" b="0" i="0" baseline="-25000" dirty="0">
                <a:solidFill>
                  <a:schemeClr val="tx1"/>
                </a:solidFill>
                <a:effectLst/>
                <a:latin typeface="Untitled Sans"/>
              </a:rPr>
              <a:t>2</a:t>
            </a:r>
            <a:r>
              <a:rPr lang="en-US" sz="2400" b="0" i="0" dirty="0">
                <a:solidFill>
                  <a:schemeClr val="tx1"/>
                </a:solidFill>
                <a:effectLst/>
                <a:latin typeface="Untitled Sans"/>
              </a:rPr>
              <a:t> and are mostly used in computers for programming or coding since the computer understands the language of only the binary digits, that is, 0 and 1. </a:t>
            </a:r>
          </a:p>
          <a:p>
            <a:r>
              <a:rPr lang="en-US" sz="2400" b="0" i="0" dirty="0">
                <a:solidFill>
                  <a:schemeClr val="tx1"/>
                </a:solidFill>
                <a:effectLst/>
                <a:latin typeface="Untitled Sans"/>
              </a:rPr>
              <a:t>It should be noted that in a binary number, the bit to the extreme left is called the Most Significant Bit (MSB), and the bit to the extreme right end is known as the Least Significant Bit (LSB). The remaining part shows the magnitude of the number.</a:t>
            </a:r>
            <a:endParaRPr lang="en-US" sz="2400" dirty="0">
              <a:solidFill>
                <a:schemeClr val="tx1"/>
              </a:solidFill>
            </a:endParaRPr>
          </a:p>
          <a:p>
            <a:endParaRPr lang="en-US" sz="2400" dirty="0">
              <a:solidFill>
                <a:schemeClr val="tx1"/>
              </a:solidFill>
              <a:latin typeface="Untitled Sans"/>
            </a:endParaRPr>
          </a:p>
        </p:txBody>
      </p:sp>
      <p:sp>
        <p:nvSpPr>
          <p:cNvPr id="6" name="Content Placeholder 2">
            <a:extLst>
              <a:ext uri="{FF2B5EF4-FFF2-40B4-BE49-F238E27FC236}">
                <a16:creationId xmlns:a16="http://schemas.microsoft.com/office/drawing/2014/main" id="{AEBB12FC-B986-3B50-2F22-D8FFD4DA0F08}"/>
              </a:ext>
            </a:extLst>
          </p:cNvPr>
          <p:cNvSpPr txBox="1">
            <a:spLocks/>
          </p:cNvSpPr>
          <p:nvPr/>
        </p:nvSpPr>
        <p:spPr>
          <a:xfrm>
            <a:off x="1451579" y="1893439"/>
            <a:ext cx="9603275" cy="345061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endParaRPr lang="en-US"/>
          </a:p>
        </p:txBody>
      </p:sp>
    </p:spTree>
    <p:extLst>
      <p:ext uri="{BB962C8B-B14F-4D97-AF65-F5344CB8AC3E}">
        <p14:creationId xmlns:p14="http://schemas.microsoft.com/office/powerpoint/2010/main" val="1645689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1C664-8BA5-3807-B406-45098FC00E75}"/>
              </a:ext>
            </a:extLst>
          </p:cNvPr>
          <p:cNvSpPr>
            <a:spLocks noGrp="1"/>
          </p:cNvSpPr>
          <p:nvPr>
            <p:ph type="title"/>
          </p:nvPr>
        </p:nvSpPr>
        <p:spPr>
          <a:xfrm>
            <a:off x="1164500" y="843496"/>
            <a:ext cx="9603275" cy="587136"/>
          </a:xfrm>
        </p:spPr>
        <p:txBody>
          <a:bodyPr>
            <a:normAutofit fontScale="90000"/>
          </a:bodyPr>
          <a:lstStyle/>
          <a:p>
            <a:r>
              <a:rPr lang="en-US" b="1" i="0" dirty="0">
                <a:solidFill>
                  <a:schemeClr val="accent5">
                    <a:lumMod val="50000"/>
                  </a:schemeClr>
                </a:solidFill>
                <a:effectLst/>
                <a:latin typeface="Untitled Sans"/>
              </a:rPr>
              <a:t>How to Convert Decimal to Binary?</a:t>
            </a:r>
            <a:br>
              <a:rPr lang="en-US" b="1" i="0" dirty="0">
                <a:effectLst/>
                <a:latin typeface="Untitled Sans"/>
              </a:rPr>
            </a:br>
            <a:endParaRPr lang="en-US" dirty="0"/>
          </a:p>
        </p:txBody>
      </p:sp>
      <p:sp>
        <p:nvSpPr>
          <p:cNvPr id="3" name="Content Placeholder 2">
            <a:extLst>
              <a:ext uri="{FF2B5EF4-FFF2-40B4-BE49-F238E27FC236}">
                <a16:creationId xmlns:a16="http://schemas.microsoft.com/office/drawing/2014/main" id="{3744AF66-546B-00E1-FD32-BF9CEAC9BA0E}"/>
              </a:ext>
            </a:extLst>
          </p:cNvPr>
          <p:cNvSpPr>
            <a:spLocks noGrp="1"/>
          </p:cNvSpPr>
          <p:nvPr>
            <p:ph idx="1"/>
          </p:nvPr>
        </p:nvSpPr>
        <p:spPr>
          <a:xfrm>
            <a:off x="813122" y="1554699"/>
            <a:ext cx="10565756" cy="4498781"/>
          </a:xfrm>
        </p:spPr>
        <p:txBody>
          <a:bodyPr>
            <a:normAutofit/>
          </a:bodyPr>
          <a:lstStyle/>
          <a:p>
            <a:r>
              <a:rPr lang="en-US" sz="2400" b="0" i="0" dirty="0">
                <a:solidFill>
                  <a:schemeClr val="tx1"/>
                </a:solidFill>
                <a:effectLst/>
                <a:latin typeface="Untitled Sans"/>
              </a:rPr>
              <a:t>To convert numbers from decimal to binary, the given decimal number is divided repeatedly by 2 and the remainders are noted down till we get 0 as the final </a:t>
            </a:r>
            <a:r>
              <a:rPr lang="en-US" sz="2400" b="0" i="0" u="none" strike="noStrike" dirty="0">
                <a:solidFill>
                  <a:schemeClr val="tx1"/>
                </a:solidFill>
                <a:effectLst/>
                <a:latin typeface="Untitled Sans"/>
                <a:hlinkClick r:id="rId2">
                  <a:extLst>
                    <a:ext uri="{A12FA001-AC4F-418D-AE19-62706E023703}">
                      <ahyp:hlinkClr xmlns:ahyp="http://schemas.microsoft.com/office/drawing/2018/hyperlinkcolor" val="tx"/>
                    </a:ext>
                  </a:extLst>
                </a:hlinkClick>
              </a:rPr>
              <a:t>quotient</a:t>
            </a:r>
            <a:r>
              <a:rPr lang="en-US" sz="2400" b="0" i="0" dirty="0">
                <a:solidFill>
                  <a:schemeClr val="tx1"/>
                </a:solidFill>
                <a:effectLst/>
                <a:latin typeface="Untitled Sans"/>
              </a:rPr>
              <a:t>. The following steps is considered as the decimal to binary formula that shows the procedure of conversion.</a:t>
            </a:r>
          </a:p>
          <a:p>
            <a:pPr algn="l" fontAlgn="base">
              <a:buFont typeface="Arial" panose="020B0604020202020204" pitchFamily="34" charset="0"/>
              <a:buChar char="•"/>
            </a:pPr>
            <a:r>
              <a:rPr lang="en-US" sz="2400" b="1" i="0" dirty="0">
                <a:solidFill>
                  <a:schemeClr val="tx1"/>
                </a:solidFill>
                <a:effectLst/>
                <a:latin typeface="Untitled Sans"/>
              </a:rPr>
              <a:t>Step 1:</a:t>
            </a:r>
            <a:r>
              <a:rPr lang="en-US" sz="2400" b="0" i="0" dirty="0">
                <a:solidFill>
                  <a:schemeClr val="tx1"/>
                </a:solidFill>
                <a:effectLst/>
                <a:latin typeface="inherit"/>
              </a:rPr>
              <a:t> Divide the given decimal number by 2 and note down the </a:t>
            </a:r>
            <a:r>
              <a:rPr lang="en-US" sz="2400" b="0" i="0" u="none" strike="noStrike" dirty="0">
                <a:solidFill>
                  <a:schemeClr val="tx1"/>
                </a:solidFill>
                <a:effectLst/>
                <a:latin typeface="Untitled Sans"/>
                <a:hlinkClick r:id="rId3">
                  <a:extLst>
                    <a:ext uri="{A12FA001-AC4F-418D-AE19-62706E023703}">
                      <ahyp:hlinkClr xmlns:ahyp="http://schemas.microsoft.com/office/drawing/2018/hyperlinkcolor" val="tx"/>
                    </a:ext>
                  </a:extLst>
                </a:hlinkClick>
              </a:rPr>
              <a:t>remainder</a:t>
            </a:r>
            <a:r>
              <a:rPr lang="en-US" sz="2400" b="0" i="0" dirty="0">
                <a:solidFill>
                  <a:schemeClr val="tx1"/>
                </a:solidFill>
                <a:effectLst/>
                <a:latin typeface="inherit"/>
              </a:rPr>
              <a:t>.</a:t>
            </a:r>
          </a:p>
          <a:p>
            <a:pPr algn="l" fontAlgn="base">
              <a:buFont typeface="Arial" panose="020B0604020202020204" pitchFamily="34" charset="0"/>
              <a:buChar char="•"/>
            </a:pPr>
            <a:r>
              <a:rPr lang="en-US" sz="2400" b="1" i="0" dirty="0">
                <a:solidFill>
                  <a:schemeClr val="tx1"/>
                </a:solidFill>
                <a:effectLst/>
                <a:latin typeface="Untitled Sans"/>
              </a:rPr>
              <a:t>Step 2</a:t>
            </a:r>
            <a:r>
              <a:rPr lang="en-US" sz="2400" b="0" i="0" dirty="0">
                <a:solidFill>
                  <a:schemeClr val="tx1"/>
                </a:solidFill>
                <a:effectLst/>
                <a:latin typeface="inherit"/>
              </a:rPr>
              <a:t>: Now, divide the obtained quotient by 2, and note the remainder again.</a:t>
            </a:r>
          </a:p>
          <a:p>
            <a:pPr algn="l" fontAlgn="base">
              <a:buFont typeface="Arial" panose="020B0604020202020204" pitchFamily="34" charset="0"/>
              <a:buChar char="•"/>
            </a:pPr>
            <a:r>
              <a:rPr lang="en-US" sz="2400" b="1" i="0" dirty="0">
                <a:solidFill>
                  <a:schemeClr val="tx1"/>
                </a:solidFill>
                <a:effectLst/>
                <a:latin typeface="Untitled Sans"/>
              </a:rPr>
              <a:t>Step 3:</a:t>
            </a:r>
            <a:r>
              <a:rPr lang="en-US" sz="2400" b="0" i="0" dirty="0">
                <a:solidFill>
                  <a:schemeClr val="tx1"/>
                </a:solidFill>
                <a:effectLst/>
                <a:latin typeface="inherit"/>
              </a:rPr>
              <a:t> Repeat the above steps until you get 0 as the quotient.</a:t>
            </a:r>
          </a:p>
          <a:p>
            <a:endParaRPr lang="en-US" dirty="0"/>
          </a:p>
        </p:txBody>
      </p:sp>
    </p:spTree>
    <p:extLst>
      <p:ext uri="{BB962C8B-B14F-4D97-AF65-F5344CB8AC3E}">
        <p14:creationId xmlns:p14="http://schemas.microsoft.com/office/powerpoint/2010/main" val="1076480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87C8-E3F4-AFE1-8F9E-3EE0FEAA35AF}"/>
              </a:ext>
            </a:extLst>
          </p:cNvPr>
          <p:cNvSpPr>
            <a:spLocks noGrp="1"/>
          </p:cNvSpPr>
          <p:nvPr>
            <p:ph type="title"/>
          </p:nvPr>
        </p:nvSpPr>
        <p:spPr>
          <a:xfrm>
            <a:off x="1077616" y="284128"/>
            <a:ext cx="8534400" cy="1454296"/>
          </a:xfrm>
        </p:spPr>
        <p:txBody>
          <a:bodyPr/>
          <a:lstStyle/>
          <a:p>
            <a:r>
              <a:rPr lang="en-US" b="1" dirty="0">
                <a:solidFill>
                  <a:schemeClr val="accent5">
                    <a:lumMod val="50000"/>
                  </a:schemeClr>
                </a:solidFill>
                <a:latin typeface="Untitled Sans"/>
              </a:rPr>
              <a:t>Conti</a:t>
            </a:r>
            <a:r>
              <a:rPr lang="en-US" sz="3200" dirty="0"/>
              <a:t>……</a:t>
            </a:r>
          </a:p>
        </p:txBody>
      </p:sp>
      <p:sp>
        <p:nvSpPr>
          <p:cNvPr id="3" name="Content Placeholder 2">
            <a:extLst>
              <a:ext uri="{FF2B5EF4-FFF2-40B4-BE49-F238E27FC236}">
                <a16:creationId xmlns:a16="http://schemas.microsoft.com/office/drawing/2014/main" id="{D09BD4F3-52F8-0F42-923C-EE8E76659B25}"/>
              </a:ext>
            </a:extLst>
          </p:cNvPr>
          <p:cNvSpPr>
            <a:spLocks noGrp="1"/>
          </p:cNvSpPr>
          <p:nvPr>
            <p:ph idx="1"/>
          </p:nvPr>
        </p:nvSpPr>
        <p:spPr>
          <a:xfrm>
            <a:off x="918128" y="1738424"/>
            <a:ext cx="8534400" cy="3615267"/>
          </a:xfrm>
        </p:spPr>
        <p:txBody>
          <a:bodyPr/>
          <a:lstStyle/>
          <a:p>
            <a:pPr algn="l" fontAlgn="base">
              <a:buFont typeface="Arial" panose="020B0604020202020204" pitchFamily="34" charset="0"/>
              <a:buChar char="•"/>
            </a:pPr>
            <a:r>
              <a:rPr lang="en-US" sz="2400" b="1" i="0" dirty="0">
                <a:solidFill>
                  <a:schemeClr val="tx1"/>
                </a:solidFill>
                <a:effectLst/>
                <a:latin typeface="Untitled Sans"/>
              </a:rPr>
              <a:t>Step 4:</a:t>
            </a:r>
            <a:r>
              <a:rPr lang="en-US" sz="2400" b="0" i="0" dirty="0">
                <a:solidFill>
                  <a:schemeClr val="tx1"/>
                </a:solidFill>
                <a:effectLst/>
                <a:latin typeface="inherit"/>
              </a:rPr>
              <a:t> Now, write the remainders in such a way that the last remainder is written first, followed by the rest in the reverse order.</a:t>
            </a:r>
          </a:p>
          <a:p>
            <a:pPr algn="l" fontAlgn="base">
              <a:buFont typeface="Arial" panose="020B0604020202020204" pitchFamily="34" charset="0"/>
              <a:buChar char="•"/>
            </a:pPr>
            <a:r>
              <a:rPr lang="en-US" sz="2400" b="1" i="0" dirty="0">
                <a:solidFill>
                  <a:schemeClr val="tx1"/>
                </a:solidFill>
                <a:effectLst/>
                <a:latin typeface="Untitled Sans"/>
              </a:rPr>
              <a:t>Step 5:</a:t>
            </a:r>
            <a:r>
              <a:rPr lang="en-US" sz="2400" b="0" i="0" dirty="0">
                <a:solidFill>
                  <a:schemeClr val="tx1"/>
                </a:solidFill>
                <a:effectLst/>
                <a:latin typeface="inherit"/>
              </a:rPr>
              <a:t> This can also be understood in another way which states that the Least Significant Bit (LSB) of the binary number is at the top and the Most Significant Bit (MSB) is at the bottom. This number is the binary value of the given decimal number.</a:t>
            </a:r>
          </a:p>
          <a:p>
            <a:endParaRPr lang="en-US" dirty="0"/>
          </a:p>
        </p:txBody>
      </p:sp>
    </p:spTree>
    <p:extLst>
      <p:ext uri="{BB962C8B-B14F-4D97-AF65-F5344CB8AC3E}">
        <p14:creationId xmlns:p14="http://schemas.microsoft.com/office/powerpoint/2010/main" val="234201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2410D-5EFF-2897-EE11-CF96C9F47B13}"/>
              </a:ext>
            </a:extLst>
          </p:cNvPr>
          <p:cNvSpPr>
            <a:spLocks noGrp="1"/>
          </p:cNvSpPr>
          <p:nvPr>
            <p:ph type="title"/>
          </p:nvPr>
        </p:nvSpPr>
        <p:spPr>
          <a:xfrm>
            <a:off x="719089" y="369376"/>
            <a:ext cx="3273099" cy="857790"/>
          </a:xfrm>
        </p:spPr>
        <p:txBody>
          <a:bodyPr>
            <a:normAutofit/>
          </a:bodyPr>
          <a:lstStyle/>
          <a:p>
            <a:r>
              <a:rPr lang="en-US" sz="3200" b="1" dirty="0">
                <a:solidFill>
                  <a:schemeClr val="accent5">
                    <a:lumMod val="50000"/>
                  </a:schemeClr>
                </a:solidFill>
                <a:latin typeface="Untitled Sans"/>
              </a:rPr>
              <a:t>Example</a:t>
            </a:r>
          </a:p>
        </p:txBody>
      </p:sp>
      <p:sp>
        <p:nvSpPr>
          <p:cNvPr id="3" name="Content Placeholder 2">
            <a:extLst>
              <a:ext uri="{FF2B5EF4-FFF2-40B4-BE49-F238E27FC236}">
                <a16:creationId xmlns:a16="http://schemas.microsoft.com/office/drawing/2014/main" id="{B58DC14B-E4A2-2BAB-5796-EE6DEC4EE963}"/>
              </a:ext>
            </a:extLst>
          </p:cNvPr>
          <p:cNvSpPr>
            <a:spLocks noGrp="1"/>
          </p:cNvSpPr>
          <p:nvPr>
            <p:ph idx="1"/>
          </p:nvPr>
        </p:nvSpPr>
        <p:spPr>
          <a:xfrm>
            <a:off x="5043713" y="489098"/>
            <a:ext cx="7148287" cy="4964575"/>
          </a:xfrm>
        </p:spPr>
        <p:txBody>
          <a:bodyPr>
            <a:normAutofit/>
          </a:bodyPr>
          <a:lstStyle/>
          <a:p>
            <a:endParaRPr lang="en-US" sz="2400" b="1" dirty="0">
              <a:solidFill>
                <a:schemeClr val="accent5">
                  <a:lumMod val="50000"/>
                </a:schemeClr>
              </a:solidFill>
            </a:endParaRPr>
          </a:p>
        </p:txBody>
      </p:sp>
      <p:sp>
        <p:nvSpPr>
          <p:cNvPr id="6" name="Text Placeholder 5">
            <a:extLst>
              <a:ext uri="{FF2B5EF4-FFF2-40B4-BE49-F238E27FC236}">
                <a16:creationId xmlns:a16="http://schemas.microsoft.com/office/drawing/2014/main" id="{B3CDAAF0-85C5-16DD-DEB5-3796FBA32C2F}"/>
              </a:ext>
            </a:extLst>
          </p:cNvPr>
          <p:cNvSpPr>
            <a:spLocks noGrp="1"/>
          </p:cNvSpPr>
          <p:nvPr>
            <p:ph type="body" sz="half" idx="2"/>
          </p:nvPr>
        </p:nvSpPr>
        <p:spPr>
          <a:xfrm>
            <a:off x="282680" y="1630204"/>
            <a:ext cx="4341312" cy="3919162"/>
          </a:xfrm>
        </p:spPr>
        <p:txBody>
          <a:bodyPr/>
          <a:lstStyle/>
          <a:p>
            <a:pPr marL="0" indent="0" algn="ctr">
              <a:buNone/>
            </a:pPr>
            <a:r>
              <a:rPr lang="en-US" sz="2400" b="1" i="0" dirty="0">
                <a:solidFill>
                  <a:schemeClr val="accent5">
                    <a:lumMod val="50000"/>
                  </a:schemeClr>
                </a:solidFill>
                <a:effectLst/>
                <a:latin typeface="Untitled Sans"/>
              </a:rPr>
              <a:t>Convert the decimal number </a:t>
            </a:r>
            <a:r>
              <a:rPr lang="en-US" sz="2400" b="1" i="0" dirty="0">
                <a:solidFill>
                  <a:schemeClr val="bg1"/>
                </a:solidFill>
                <a:effectLst/>
                <a:latin typeface="Untitled Sans"/>
              </a:rPr>
              <a:t>13</a:t>
            </a:r>
            <a:r>
              <a:rPr lang="en-US" sz="2400" b="1" i="0" baseline="-25000" dirty="0">
                <a:solidFill>
                  <a:schemeClr val="bg1"/>
                </a:solidFill>
                <a:effectLst/>
                <a:latin typeface="Untitled Sans"/>
              </a:rPr>
              <a:t>10</a:t>
            </a:r>
            <a:r>
              <a:rPr lang="en-US" sz="2400" b="1" i="0" dirty="0">
                <a:solidFill>
                  <a:schemeClr val="bg1"/>
                </a:solidFill>
                <a:effectLst/>
                <a:latin typeface="Untitled Sans"/>
              </a:rPr>
              <a:t> to binary.</a:t>
            </a:r>
          </a:p>
          <a:p>
            <a:r>
              <a:rPr lang="en-US" sz="2400" b="1" i="0" dirty="0">
                <a:solidFill>
                  <a:schemeClr val="bg1"/>
                </a:solidFill>
                <a:effectLst/>
                <a:latin typeface="Untitled Sans"/>
              </a:rPr>
              <a:t>Solution:</a:t>
            </a:r>
            <a:r>
              <a:rPr lang="en-US" sz="2400" b="0" i="0" dirty="0">
                <a:solidFill>
                  <a:schemeClr val="bg1"/>
                </a:solidFill>
                <a:effectLst/>
                <a:latin typeface="Untitled Sans"/>
              </a:rPr>
              <a:t> </a:t>
            </a:r>
            <a:r>
              <a:rPr lang="en-US" sz="2400" b="0" i="0" dirty="0">
                <a:solidFill>
                  <a:schemeClr val="tx1"/>
                </a:solidFill>
                <a:effectLst/>
                <a:latin typeface="Untitled Sans"/>
              </a:rPr>
              <a:t>We will start dividing the given number (13) repeatedly by 2 until we get the quotient as 0. We will note the remainders in order.</a:t>
            </a:r>
          </a:p>
          <a:p>
            <a:endParaRPr lang="en-US" dirty="0"/>
          </a:p>
        </p:txBody>
      </p:sp>
      <p:pic>
        <p:nvPicPr>
          <p:cNvPr id="5" name="Picture 4">
            <a:extLst>
              <a:ext uri="{FF2B5EF4-FFF2-40B4-BE49-F238E27FC236}">
                <a16:creationId xmlns:a16="http://schemas.microsoft.com/office/drawing/2014/main" id="{84DC94A0-E403-08E1-B302-3056B79D9727}"/>
              </a:ext>
            </a:extLst>
          </p:cNvPr>
          <p:cNvPicPr>
            <a:picLocks noChangeAspect="1"/>
          </p:cNvPicPr>
          <p:nvPr/>
        </p:nvPicPr>
        <p:blipFill>
          <a:blip r:embed="rId2"/>
          <a:stretch>
            <a:fillRect/>
          </a:stretch>
        </p:blipFill>
        <p:spPr>
          <a:xfrm>
            <a:off x="5043714" y="798973"/>
            <a:ext cx="7054782" cy="4654700"/>
          </a:xfrm>
          <a:prstGeom prst="rect">
            <a:avLst/>
          </a:prstGeom>
        </p:spPr>
      </p:pic>
    </p:spTree>
    <p:extLst>
      <p:ext uri="{BB962C8B-B14F-4D97-AF65-F5344CB8AC3E}">
        <p14:creationId xmlns:p14="http://schemas.microsoft.com/office/powerpoint/2010/main" val="315012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2766418-8B82-814C-A7A0-E82BC0703000}"/>
              </a:ext>
            </a:extLst>
          </p:cNvPr>
          <p:cNvSpPr>
            <a:spLocks noGrp="1"/>
          </p:cNvSpPr>
          <p:nvPr>
            <p:ph type="title"/>
          </p:nvPr>
        </p:nvSpPr>
        <p:spPr>
          <a:xfrm>
            <a:off x="445210" y="315607"/>
            <a:ext cx="4530827" cy="838441"/>
          </a:xfrm>
        </p:spPr>
        <p:txBody>
          <a:bodyPr>
            <a:normAutofit/>
          </a:bodyPr>
          <a:lstStyle/>
          <a:p>
            <a:r>
              <a:rPr lang="en-US" sz="3200" b="1" dirty="0">
                <a:solidFill>
                  <a:schemeClr val="accent5">
                    <a:lumMod val="50000"/>
                  </a:schemeClr>
                </a:solidFill>
              </a:rPr>
              <a:t>Conti…….</a:t>
            </a:r>
          </a:p>
        </p:txBody>
      </p:sp>
      <p:pic>
        <p:nvPicPr>
          <p:cNvPr id="6" name="Content Placeholder 5">
            <a:extLst>
              <a:ext uri="{FF2B5EF4-FFF2-40B4-BE49-F238E27FC236}">
                <a16:creationId xmlns:a16="http://schemas.microsoft.com/office/drawing/2014/main" id="{777BC9EC-FEA2-1C64-518F-FD963BC271A9}"/>
              </a:ext>
            </a:extLst>
          </p:cNvPr>
          <p:cNvPicPr>
            <a:picLocks noGrp="1" noChangeAspect="1"/>
          </p:cNvPicPr>
          <p:nvPr>
            <p:ph idx="1"/>
          </p:nvPr>
        </p:nvPicPr>
        <p:blipFill>
          <a:blip r:embed="rId2"/>
          <a:stretch>
            <a:fillRect/>
          </a:stretch>
        </p:blipFill>
        <p:spPr>
          <a:xfrm>
            <a:off x="4736710" y="1350335"/>
            <a:ext cx="7182388" cy="4210494"/>
          </a:xfrm>
        </p:spPr>
      </p:pic>
      <p:sp>
        <p:nvSpPr>
          <p:cNvPr id="8" name="Text Placeholder 7">
            <a:extLst>
              <a:ext uri="{FF2B5EF4-FFF2-40B4-BE49-F238E27FC236}">
                <a16:creationId xmlns:a16="http://schemas.microsoft.com/office/drawing/2014/main" id="{8865355C-B239-9C3E-8883-1CC0E37AC8FB}"/>
              </a:ext>
            </a:extLst>
          </p:cNvPr>
          <p:cNvSpPr>
            <a:spLocks noGrp="1"/>
          </p:cNvSpPr>
          <p:nvPr>
            <p:ph type="body" sz="half" idx="2"/>
          </p:nvPr>
        </p:nvSpPr>
        <p:spPr>
          <a:xfrm>
            <a:off x="350875" y="1456660"/>
            <a:ext cx="4368811" cy="4210494"/>
          </a:xfrm>
        </p:spPr>
        <p:txBody>
          <a:bodyPr>
            <a:noAutofit/>
          </a:bodyPr>
          <a:lstStyle/>
          <a:p>
            <a:pPr algn="l" fontAlgn="base"/>
            <a:r>
              <a:rPr lang="en-US" sz="2400" b="0" i="0" dirty="0">
                <a:solidFill>
                  <a:schemeClr val="tx1"/>
                </a:solidFill>
                <a:effectLst/>
                <a:latin typeface="Untitled Sans"/>
              </a:rPr>
              <a:t>After noting the remainders, write them in such a way that the Most Significant Bit (MSB) of the binary number is written first, followed by the rest. Therefore, the binary equivalent for the given decimal number 13</a:t>
            </a:r>
            <a:r>
              <a:rPr lang="en-US" sz="2400" b="0" i="0" baseline="-25000" dirty="0">
                <a:solidFill>
                  <a:schemeClr val="tx1"/>
                </a:solidFill>
                <a:effectLst/>
                <a:latin typeface="Untitled Sans"/>
              </a:rPr>
              <a:t>10</a:t>
            </a:r>
            <a:r>
              <a:rPr lang="en-US" sz="2400" b="0" i="0" dirty="0">
                <a:solidFill>
                  <a:schemeClr val="tx1"/>
                </a:solidFill>
                <a:effectLst/>
                <a:latin typeface="Untitled Sans"/>
              </a:rPr>
              <a:t> is 1101</a:t>
            </a:r>
            <a:r>
              <a:rPr lang="en-US" sz="2400" b="0" i="0" baseline="-25000" dirty="0">
                <a:solidFill>
                  <a:schemeClr val="tx1"/>
                </a:solidFill>
                <a:effectLst/>
                <a:latin typeface="Untitled Sans"/>
              </a:rPr>
              <a:t>2</a:t>
            </a:r>
            <a:r>
              <a:rPr lang="en-US" sz="2400" b="0" i="0" dirty="0">
                <a:solidFill>
                  <a:schemeClr val="tx1"/>
                </a:solidFill>
                <a:effectLst/>
                <a:latin typeface="Untitled Sans"/>
              </a:rPr>
              <a:t>. This means that 13</a:t>
            </a:r>
            <a:r>
              <a:rPr lang="en-US" sz="2400" b="0" i="0" baseline="-25000" dirty="0">
                <a:solidFill>
                  <a:schemeClr val="tx1"/>
                </a:solidFill>
                <a:effectLst/>
                <a:latin typeface="Untitled Sans"/>
              </a:rPr>
              <a:t>10</a:t>
            </a:r>
            <a:r>
              <a:rPr lang="en-US" sz="2400" b="0" i="0" dirty="0">
                <a:solidFill>
                  <a:schemeClr val="tx1"/>
                </a:solidFill>
                <a:effectLst/>
                <a:latin typeface="Untitled Sans"/>
              </a:rPr>
              <a:t> = 1101</a:t>
            </a:r>
            <a:r>
              <a:rPr lang="en-US" sz="2400" b="0" i="0" baseline="-25000" dirty="0">
                <a:solidFill>
                  <a:schemeClr val="tx1"/>
                </a:solidFill>
                <a:effectLst/>
                <a:latin typeface="Untitled Sans"/>
              </a:rPr>
              <a:t>2</a:t>
            </a:r>
            <a:r>
              <a:rPr lang="en-US" sz="2400" b="0" i="0" dirty="0">
                <a:solidFill>
                  <a:schemeClr val="tx1"/>
                </a:solidFill>
                <a:effectLst/>
                <a:latin typeface="Untitled Sans"/>
              </a:rPr>
              <a:t>.</a:t>
            </a:r>
          </a:p>
          <a:p>
            <a:br>
              <a:rPr lang="en-US" sz="2400" b="0" i="0" dirty="0">
                <a:solidFill>
                  <a:srgbClr val="000000"/>
                </a:solidFill>
                <a:effectLst/>
                <a:latin typeface="Untitled Sans"/>
              </a:rPr>
            </a:br>
            <a:endParaRPr lang="en-US" sz="2400" dirty="0"/>
          </a:p>
        </p:txBody>
      </p:sp>
    </p:spTree>
    <p:extLst>
      <p:ext uri="{BB962C8B-B14F-4D97-AF65-F5344CB8AC3E}">
        <p14:creationId xmlns:p14="http://schemas.microsoft.com/office/powerpoint/2010/main" val="3358509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E8BAF6-ABF7-1311-78AB-808A3E632916}"/>
              </a:ext>
            </a:extLst>
          </p:cNvPr>
          <p:cNvSpPr>
            <a:spLocks noGrp="1"/>
          </p:cNvSpPr>
          <p:nvPr>
            <p:ph type="title"/>
          </p:nvPr>
        </p:nvSpPr>
        <p:spPr>
          <a:xfrm>
            <a:off x="790538" y="304406"/>
            <a:ext cx="8534400" cy="1507067"/>
          </a:xfrm>
        </p:spPr>
        <p:txBody>
          <a:bodyPr>
            <a:normAutofit/>
          </a:bodyPr>
          <a:lstStyle/>
          <a:p>
            <a:r>
              <a:rPr lang="en-US" b="1" dirty="0">
                <a:solidFill>
                  <a:schemeClr val="accent5">
                    <a:lumMod val="50000"/>
                  </a:schemeClr>
                </a:solidFill>
                <a:latin typeface="Untitled Sans"/>
              </a:rPr>
              <a:t>Convert 2.625 to binary</a:t>
            </a:r>
            <a:r>
              <a:rPr lang="en-US" b="1" i="0" dirty="0">
                <a:solidFill>
                  <a:srgbClr val="232629"/>
                </a:solidFill>
                <a:effectLst/>
                <a:latin typeface="-apple-system"/>
              </a:rPr>
              <a:t>.</a:t>
            </a:r>
            <a:br>
              <a:rPr lang="en-US" b="1" i="0" dirty="0">
                <a:solidFill>
                  <a:srgbClr val="232629"/>
                </a:solidFill>
                <a:effectLst/>
                <a:latin typeface="-apple-system"/>
              </a:rPr>
            </a:br>
            <a:endParaRPr lang="en-US" dirty="0"/>
          </a:p>
        </p:txBody>
      </p:sp>
      <p:sp>
        <p:nvSpPr>
          <p:cNvPr id="6" name="Content Placeholder 5">
            <a:extLst>
              <a:ext uri="{FF2B5EF4-FFF2-40B4-BE49-F238E27FC236}">
                <a16:creationId xmlns:a16="http://schemas.microsoft.com/office/drawing/2014/main" id="{FB2908E7-56AE-0F2E-DB54-08D947E5136B}"/>
              </a:ext>
            </a:extLst>
          </p:cNvPr>
          <p:cNvSpPr>
            <a:spLocks noGrp="1"/>
          </p:cNvSpPr>
          <p:nvPr>
            <p:ph idx="1"/>
          </p:nvPr>
        </p:nvSpPr>
        <p:spPr>
          <a:xfrm>
            <a:off x="790538" y="1695893"/>
            <a:ext cx="8534400" cy="3615267"/>
          </a:xfrm>
        </p:spPr>
        <p:txBody>
          <a:bodyPr>
            <a:normAutofit/>
          </a:bodyPr>
          <a:lstStyle/>
          <a:p>
            <a:r>
              <a:rPr lang="en-US" sz="2400" dirty="0">
                <a:solidFill>
                  <a:schemeClr val="tx1"/>
                </a:solidFill>
              </a:rPr>
              <a:t>The integer part is easy 2=10</a:t>
            </a:r>
          </a:p>
          <a:p>
            <a:r>
              <a:rPr lang="en-US" sz="2400" dirty="0">
                <a:solidFill>
                  <a:schemeClr val="tx1"/>
                </a:solidFill>
              </a:rPr>
              <a:t>For the fractional part</a:t>
            </a:r>
          </a:p>
          <a:p>
            <a:r>
              <a:rPr lang="en-US" sz="2400" dirty="0">
                <a:solidFill>
                  <a:schemeClr val="tx1"/>
                </a:solidFill>
              </a:rPr>
              <a:t>0.625  *2 =1.25     1    generate 1 and continue with the rest</a:t>
            </a:r>
          </a:p>
          <a:p>
            <a:r>
              <a:rPr lang="en-US" sz="2400" dirty="0">
                <a:solidFill>
                  <a:schemeClr val="tx1"/>
                </a:solidFill>
              </a:rPr>
              <a:t>0.25 *2 =0.5          0    generate 0 and continue</a:t>
            </a:r>
          </a:p>
          <a:p>
            <a:r>
              <a:rPr lang="en-US" sz="2400" dirty="0">
                <a:solidFill>
                  <a:schemeClr val="tx1"/>
                </a:solidFill>
              </a:rPr>
              <a:t>0.5 *2 =1.0            1    generate 1 and nothing remains.</a:t>
            </a:r>
          </a:p>
          <a:p>
            <a:r>
              <a:rPr lang="en-US" sz="2400" b="0" i="0" dirty="0">
                <a:solidFill>
                  <a:schemeClr val="tx1"/>
                </a:solidFill>
                <a:effectLst/>
                <a:latin typeface="-apple-system"/>
              </a:rPr>
              <a:t>So 0.625 = 0.101, and 2.625 = 10.101.</a:t>
            </a:r>
            <a:endParaRPr lang="en-US" sz="2400" dirty="0">
              <a:solidFill>
                <a:schemeClr val="tx1"/>
              </a:solidFill>
            </a:endParaRPr>
          </a:p>
        </p:txBody>
      </p:sp>
    </p:spTree>
    <p:extLst>
      <p:ext uri="{BB962C8B-B14F-4D97-AF65-F5344CB8AC3E}">
        <p14:creationId xmlns:p14="http://schemas.microsoft.com/office/powerpoint/2010/main" val="538867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0DA804E-7E24-5FF8-80DF-642D6365B8C6}"/>
              </a:ext>
            </a:extLst>
          </p:cNvPr>
          <p:cNvSpPr>
            <a:spLocks noGrp="1"/>
          </p:cNvSpPr>
          <p:nvPr>
            <p:ph type="title"/>
          </p:nvPr>
        </p:nvSpPr>
        <p:spPr>
          <a:xfrm>
            <a:off x="1451579" y="804520"/>
            <a:ext cx="9603275" cy="694672"/>
          </a:xfrm>
        </p:spPr>
        <p:txBody>
          <a:bodyPr>
            <a:normAutofit fontScale="90000"/>
          </a:bodyPr>
          <a:lstStyle/>
          <a:p>
            <a:pPr algn="l" fontAlgn="base"/>
            <a:r>
              <a:rPr lang="en-US" b="1" i="0" dirty="0">
                <a:solidFill>
                  <a:schemeClr val="accent5">
                    <a:lumMod val="50000"/>
                  </a:schemeClr>
                </a:solidFill>
                <a:effectLst/>
                <a:latin typeface="Untitled Sans"/>
              </a:rPr>
              <a:t>Decimal to Binary Examples</a:t>
            </a:r>
            <a:br>
              <a:rPr lang="en-US" b="1" i="0" dirty="0">
                <a:effectLst/>
                <a:latin typeface="Untitled Sans"/>
              </a:rPr>
            </a:br>
            <a:br>
              <a:rPr lang="en-US" b="0" i="0" dirty="0">
                <a:solidFill>
                  <a:srgbClr val="333333"/>
                </a:solidFill>
                <a:effectLst/>
                <a:latin typeface="inherit"/>
              </a:rPr>
            </a:br>
            <a:endParaRPr lang="en-US" dirty="0"/>
          </a:p>
        </p:txBody>
      </p:sp>
      <p:sp>
        <p:nvSpPr>
          <p:cNvPr id="7" name="Content Placeholder 6">
            <a:extLst>
              <a:ext uri="{FF2B5EF4-FFF2-40B4-BE49-F238E27FC236}">
                <a16:creationId xmlns:a16="http://schemas.microsoft.com/office/drawing/2014/main" id="{5E324A99-DF6E-DE1A-A375-8A68AEE5283D}"/>
              </a:ext>
            </a:extLst>
          </p:cNvPr>
          <p:cNvSpPr>
            <a:spLocks noGrp="1"/>
          </p:cNvSpPr>
          <p:nvPr>
            <p:ph idx="1"/>
          </p:nvPr>
        </p:nvSpPr>
        <p:spPr>
          <a:xfrm>
            <a:off x="786809" y="1233377"/>
            <a:ext cx="10268045" cy="4232969"/>
          </a:xfrm>
        </p:spPr>
        <p:txBody>
          <a:bodyPr>
            <a:normAutofit/>
          </a:bodyPr>
          <a:lstStyle/>
          <a:p>
            <a:r>
              <a:rPr lang="en-US" sz="2400" b="1" i="0" dirty="0">
                <a:solidFill>
                  <a:schemeClr val="bg1"/>
                </a:solidFill>
                <a:effectLst/>
                <a:latin typeface="Untitled Sans"/>
              </a:rPr>
              <a:t>Example 1:</a:t>
            </a:r>
            <a:r>
              <a:rPr lang="en-US" sz="2400" b="0" i="0" dirty="0">
                <a:solidFill>
                  <a:schemeClr val="tx1"/>
                </a:solidFill>
                <a:effectLst/>
                <a:latin typeface="Untitled Sans"/>
              </a:rPr>
              <a:t> Convert 174</a:t>
            </a:r>
            <a:r>
              <a:rPr lang="en-US" sz="2400" b="0" i="0" baseline="-25000" dirty="0">
                <a:solidFill>
                  <a:schemeClr val="tx1"/>
                </a:solidFill>
                <a:effectLst/>
                <a:latin typeface="Untitled Sans"/>
              </a:rPr>
              <a:t>10</a:t>
            </a:r>
            <a:r>
              <a:rPr lang="en-US" sz="2400" b="0" i="0" dirty="0">
                <a:solidFill>
                  <a:schemeClr val="tx1"/>
                </a:solidFill>
                <a:effectLst/>
                <a:latin typeface="Untitled Sans"/>
              </a:rPr>
              <a:t> to binary ( 174</a:t>
            </a:r>
            <a:r>
              <a:rPr lang="en-US" sz="2400" b="0" i="0" baseline="-25000" dirty="0">
                <a:solidFill>
                  <a:schemeClr val="tx1"/>
                </a:solidFill>
                <a:effectLst/>
                <a:latin typeface="Untitled Sans"/>
              </a:rPr>
              <a:t>10</a:t>
            </a:r>
            <a:r>
              <a:rPr lang="en-US" sz="2400" b="0" i="0" dirty="0">
                <a:solidFill>
                  <a:schemeClr val="tx1"/>
                </a:solidFill>
                <a:effectLst/>
                <a:latin typeface="Untitled Sans"/>
              </a:rPr>
              <a:t> is 10101110</a:t>
            </a:r>
            <a:r>
              <a:rPr lang="en-US" sz="2400" b="0" i="0" baseline="-25000" dirty="0">
                <a:solidFill>
                  <a:schemeClr val="tx1"/>
                </a:solidFill>
                <a:effectLst/>
                <a:latin typeface="Untitled Sans"/>
              </a:rPr>
              <a:t>2</a:t>
            </a:r>
            <a:r>
              <a:rPr lang="en-US" sz="2400" b="0" i="0" dirty="0">
                <a:solidFill>
                  <a:schemeClr val="tx1"/>
                </a:solidFill>
                <a:effectLst/>
                <a:latin typeface="Untitled Sans"/>
              </a:rPr>
              <a:t>)</a:t>
            </a:r>
          </a:p>
          <a:p>
            <a:r>
              <a:rPr lang="en-US" sz="2400" b="1" i="0" dirty="0">
                <a:solidFill>
                  <a:schemeClr val="bg1"/>
                </a:solidFill>
                <a:effectLst/>
                <a:latin typeface="Untitled Sans"/>
              </a:rPr>
              <a:t>Example 2:</a:t>
            </a:r>
            <a:r>
              <a:rPr lang="en-US" sz="2400" b="0" i="0" dirty="0">
                <a:solidFill>
                  <a:schemeClr val="tx1"/>
                </a:solidFill>
                <a:effectLst/>
                <a:latin typeface="Untitled Sans"/>
              </a:rPr>
              <a:t> Convert the  decimal number to binary (156</a:t>
            </a:r>
            <a:r>
              <a:rPr lang="en-US" sz="2400" b="0" i="0" baseline="-25000" dirty="0">
                <a:solidFill>
                  <a:schemeClr val="tx1"/>
                </a:solidFill>
                <a:effectLst/>
                <a:latin typeface="Untitled Sans"/>
              </a:rPr>
              <a:t>10</a:t>
            </a:r>
            <a:r>
              <a:rPr lang="en-US" sz="2400" b="0" i="0" dirty="0">
                <a:solidFill>
                  <a:schemeClr val="tx1"/>
                </a:solidFill>
                <a:effectLst/>
                <a:latin typeface="Untitled Sans"/>
              </a:rPr>
              <a:t> is 10011100</a:t>
            </a:r>
            <a:r>
              <a:rPr lang="en-US" sz="2400" b="0" i="0" baseline="-25000" dirty="0">
                <a:solidFill>
                  <a:schemeClr val="tx1"/>
                </a:solidFill>
                <a:effectLst/>
                <a:latin typeface="Untitled Sans"/>
              </a:rPr>
              <a:t>2</a:t>
            </a:r>
            <a:r>
              <a:rPr lang="en-US" sz="2400" b="0" i="0" dirty="0">
                <a:solidFill>
                  <a:schemeClr val="tx1"/>
                </a:solidFill>
                <a:effectLst/>
                <a:latin typeface="Untitled Sans"/>
              </a:rPr>
              <a:t>)</a:t>
            </a:r>
          </a:p>
          <a:p>
            <a:r>
              <a:rPr lang="en-US" sz="2400" b="1" i="0" dirty="0">
                <a:solidFill>
                  <a:schemeClr val="bg1"/>
                </a:solidFill>
                <a:effectLst/>
                <a:latin typeface="Untitled Sans"/>
              </a:rPr>
              <a:t>Example 3:</a:t>
            </a:r>
            <a:r>
              <a:rPr lang="en-US" sz="2400" b="0" i="0" dirty="0">
                <a:solidFill>
                  <a:schemeClr val="tx1"/>
                </a:solidFill>
                <a:effectLst/>
                <a:latin typeface="Untitled Sans"/>
              </a:rPr>
              <a:t> Convert the  decimal number to binary (3.703125</a:t>
            </a:r>
            <a:r>
              <a:rPr lang="en-US" sz="2400" b="0" i="0" baseline="-25000" dirty="0">
                <a:solidFill>
                  <a:schemeClr val="tx1"/>
                </a:solidFill>
                <a:effectLst/>
                <a:latin typeface="Untitled Sans"/>
              </a:rPr>
              <a:t>10</a:t>
            </a:r>
            <a:r>
              <a:rPr lang="en-US" sz="2400" b="0" i="0" dirty="0">
                <a:solidFill>
                  <a:schemeClr val="tx1"/>
                </a:solidFill>
                <a:effectLst/>
                <a:latin typeface="Untitled Sans"/>
              </a:rPr>
              <a:t> is 11.101101</a:t>
            </a:r>
            <a:r>
              <a:rPr lang="en-US" sz="2400" b="0" i="0" baseline="-25000" dirty="0">
                <a:solidFill>
                  <a:schemeClr val="tx1"/>
                </a:solidFill>
                <a:effectLst/>
                <a:latin typeface="Untitled Sans"/>
              </a:rPr>
              <a:t>2</a:t>
            </a:r>
            <a:r>
              <a:rPr lang="en-US" sz="2400" b="0" i="0" dirty="0">
                <a:solidFill>
                  <a:schemeClr val="tx1"/>
                </a:solidFill>
                <a:effectLst/>
                <a:latin typeface="Untitled Sans"/>
              </a:rPr>
              <a:t>)</a:t>
            </a:r>
          </a:p>
          <a:p>
            <a:endParaRPr lang="en-US" sz="2400" dirty="0"/>
          </a:p>
        </p:txBody>
      </p:sp>
    </p:spTree>
    <p:extLst>
      <p:ext uri="{BB962C8B-B14F-4D97-AF65-F5344CB8AC3E}">
        <p14:creationId xmlns:p14="http://schemas.microsoft.com/office/powerpoint/2010/main" val="152479471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537</TotalTime>
  <Words>805</Words>
  <Application>Microsoft Office PowerPoint</Application>
  <PresentationFormat>Widescreen</PresentationFormat>
  <Paragraphs>43</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Slice</vt:lpstr>
      <vt:lpstr>Decimal to Binary Convert</vt:lpstr>
      <vt:lpstr>Decimal to binary conversion </vt:lpstr>
      <vt:lpstr>Decimal Number System Definition </vt:lpstr>
      <vt:lpstr>Binary Number System Definition </vt:lpstr>
      <vt:lpstr>How to Convert Decimal to Binary? </vt:lpstr>
      <vt:lpstr>Conti……</vt:lpstr>
      <vt:lpstr>Example</vt:lpstr>
      <vt:lpstr>Conti…….</vt:lpstr>
      <vt:lpstr>Convert 2.625 to binary. </vt:lpstr>
      <vt:lpstr>Decimal to Binary Examples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Decimal to Binary Convert</dc:title>
  <dc:creator>Vish Khambhati</dc:creator>
  <cp:lastModifiedBy>Lakshraj Singh</cp:lastModifiedBy>
  <cp:revision>4</cp:revision>
  <dcterms:created xsi:type="dcterms:W3CDTF">2022-07-25T16:07:18Z</dcterms:created>
  <dcterms:modified xsi:type="dcterms:W3CDTF">2022-08-30T15:15:04Z</dcterms:modified>
</cp:coreProperties>
</file>