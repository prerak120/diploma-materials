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2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关系图"/>
          <p:cNvPicPr>
            <a:picLocks noChangeAspect="1"/>
          </p:cNvPicPr>
          <p:nvPr/>
        </p:nvPicPr>
        <p:blipFill>
          <a:blip r:embed="rId2"/>
          <a:srcRect r="2528" b="10909"/>
          <a:stretch>
            <a:fillRect/>
          </a:stretch>
        </p:blipFill>
        <p:spPr>
          <a:xfrm>
            <a:off x="239184" y="692150"/>
            <a:ext cx="11885083" cy="61102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2117" y="549275"/>
            <a:ext cx="12192000" cy="151130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ChangeArrowheads="1"/>
          </p:cNvSpPr>
          <p:nvPr>
            <p:ph type="subTitle" idx="1"/>
          </p:nvPr>
        </p:nvSpPr>
        <p:spPr>
          <a:xfrm>
            <a:off x="2544233" y="2492375"/>
            <a:ext cx="7393517" cy="12223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2056" name="Rectangle 8"/>
          <p:cNvSpPr>
            <a:spLocks noChangeArrowheads="1"/>
          </p:cNvSpPr>
          <p:nvPr>
            <p:ph type="ctrTitle"/>
          </p:nvPr>
        </p:nvSpPr>
        <p:spPr>
          <a:xfrm>
            <a:off x="1007533" y="620713"/>
            <a:ext cx="10363200" cy="1470025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11" name="Rectangle 4"/>
          <p:cNvSpPr>
            <a:spLocks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2" name="Rectangle 5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3" name="Rectangle 6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</p:bldLst>
  </p:timing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2117" y="333375"/>
            <a:ext cx="12192000" cy="100965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pic>
        <p:nvPicPr>
          <p:cNvPr id="1027" name="Picture 3" descr="关系图"/>
          <p:cNvPicPr>
            <a:picLocks noChangeAspect="1"/>
          </p:cNvPicPr>
          <p:nvPr/>
        </p:nvPicPr>
        <p:blipFill>
          <a:blip r:embed="rId12"/>
          <a:srcRect t="1094" r="8122" b="13318"/>
          <a:stretch>
            <a:fillRect/>
          </a:stretch>
        </p:blipFill>
        <p:spPr>
          <a:xfrm>
            <a:off x="7730067" y="4438650"/>
            <a:ext cx="4453467" cy="2333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8" name="Rectangle 4"/>
          <p:cNvSpPr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5"/>
          <p:cNvSpPr/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30" name="Rectangle 6"/>
          <p:cNvSpPr>
            <a:spLocks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2" name="Rectangle 8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altLang="en-US" sz="72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SIMPLE FUTURE TENSE</a:t>
            </a:r>
            <a:endParaRPr lang="en-IN" altLang="en-US" sz="7200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97404" y="263397"/>
            <a:ext cx="7784465" cy="689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IN" sz="4400" dirty="0">
                <a:latin typeface="+mj-lt"/>
                <a:ea typeface="+mj-ea"/>
                <a:cs typeface="+mj-cs"/>
              </a:rPr>
              <a:t>SIMPLE </a:t>
            </a:r>
            <a:r>
              <a:rPr kumimoji="0" lang="en-IN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FUTURE</a:t>
            </a:r>
            <a:r>
              <a:rPr kumimoji="0" lang="en-IN" sz="4400" b="0" i="0" u="none" strike="noStrike" kern="1200" cap="none" spc="-9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 </a:t>
            </a:r>
            <a:r>
              <a:rPr kumimoji="0" lang="en-IN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TENSE</a:t>
            </a:r>
            <a:endParaRPr kumimoji="0" lang="en-IN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59940" y="1630121"/>
            <a:ext cx="8072755" cy="4954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1485265" algn="just">
              <a:spcBef>
                <a:spcPts val="105"/>
              </a:spcBef>
            </a:pPr>
            <a:r>
              <a:rPr lang="en-IN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      The simple future tense is used to describe an action which will take place in future</a:t>
            </a:r>
            <a:r>
              <a:rPr lang="en-IN" sz="3200" spc="-10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.</a:t>
            </a:r>
            <a:endParaRPr lang="en-IN" sz="3200" dirty="0">
              <a:latin typeface="Verdana" panose="020B0604030504040204"/>
              <a:cs typeface="Verdana" panose="020B0604030504040204"/>
            </a:endParaRPr>
          </a:p>
          <a:p>
            <a:pPr marL="355600" marR="5080" indent="1485265" algn="just">
              <a:lnSpc>
                <a:spcPct val="100000"/>
              </a:lnSpc>
              <a:spcBef>
                <a:spcPts val="105"/>
              </a:spcBef>
            </a:pPr>
            <a:endParaRPr sz="3200"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sz="320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For</a:t>
            </a:r>
            <a:r>
              <a:rPr sz="3200" spc="-2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200" spc="-5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Example</a:t>
            </a: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:</a:t>
            </a:r>
            <a:endParaRPr lang="en-US" sz="3200" spc="-5" dirty="0">
              <a:solidFill>
                <a:srgbClr val="006699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1. I will become an engineer.</a:t>
            </a:r>
            <a:endParaRPr lang="en-US" sz="3200" spc="-5" dirty="0">
              <a:solidFill>
                <a:srgbClr val="006699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2. He will meet you.</a:t>
            </a:r>
            <a:endParaRPr lang="en-US" sz="3200" spc="-5" dirty="0">
              <a:solidFill>
                <a:srgbClr val="006699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</a:t>
            </a:r>
            <a:endParaRPr sz="3200">
              <a:latin typeface="Verdana" panose="020B0604030504040204"/>
              <a:cs typeface="Verdana" panose="020B0604030504040204"/>
            </a:endParaRPr>
          </a:p>
          <a:p>
            <a:pPr marL="927100" algn="just">
              <a:lnSpc>
                <a:spcPct val="100000"/>
              </a:lnSpc>
              <a:spcBef>
                <a:spcPts val="765"/>
              </a:spcBef>
            </a:pPr>
            <a:endParaRPr sz="3200"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38348" y="214290"/>
            <a:ext cx="7784465" cy="689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4400" dirty="0">
                <a:latin typeface="+mj-lt"/>
                <a:ea typeface="+mj-ea"/>
                <a:cs typeface="+mj-cs"/>
              </a:rPr>
              <a:t>SENTENCE STRUCTURE</a:t>
            </a:r>
            <a:endParaRPr kumimoji="0" lang="en-IN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59940" y="1630121"/>
            <a:ext cx="8072755" cy="3364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lang="en-US" sz="3200" spc="-5" dirty="0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Subject + will/shall + verb(v1) + object +other words </a:t>
            </a:r>
            <a:endParaRPr lang="en-US" sz="3200" spc="-5" dirty="0">
              <a:solidFill>
                <a:srgbClr val="7030A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For example:</a:t>
            </a:r>
            <a:endParaRPr lang="en-US" sz="3200" spc="-5" dirty="0">
              <a:solidFill>
                <a:srgbClr val="006699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 1.I will drink orange juice.              </a:t>
            </a:r>
            <a:endParaRPr lang="en-US" sz="3200" spc="-5" dirty="0">
              <a:solidFill>
                <a:srgbClr val="006699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</a:t>
            </a:r>
            <a:endParaRPr sz="3200">
              <a:latin typeface="Verdana" panose="020B0604030504040204"/>
              <a:cs typeface="Verdana" panose="020B0604030504040204"/>
            </a:endParaRPr>
          </a:p>
          <a:p>
            <a:pPr marL="927100" algn="just">
              <a:lnSpc>
                <a:spcPct val="100000"/>
              </a:lnSpc>
              <a:spcBef>
                <a:spcPts val="765"/>
              </a:spcBef>
            </a:pPr>
            <a:endParaRPr sz="3200"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38348" y="214290"/>
            <a:ext cx="7784465" cy="1366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INTERROGATIVE &amp; NEGATIVE</a:t>
            </a:r>
            <a:r>
              <a:rPr kumimoji="0" lang="en-US" sz="4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SENTENCE</a:t>
            </a:r>
            <a:endParaRPr kumimoji="0" lang="en-IN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24034" y="1643050"/>
            <a:ext cx="8072755" cy="6915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75"/>
              </a:spcBef>
            </a:pPr>
            <a:endParaRPr lang="en-US" sz="3200" spc="-5" dirty="0">
              <a:solidFill>
                <a:srgbClr val="7030A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Will/Shall + Subject + verb(V1) + object +other words?</a:t>
            </a:r>
            <a:endParaRPr lang="en-US" sz="3200" spc="-5" dirty="0">
              <a:solidFill>
                <a:srgbClr val="7030A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For example:</a:t>
            </a:r>
            <a:endParaRPr lang="en-US" sz="3200" spc="-5" dirty="0">
              <a:solidFill>
                <a:srgbClr val="006699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1.She will come tomorrow.</a:t>
            </a:r>
            <a:endParaRPr lang="en-US" sz="3200" spc="-5" dirty="0">
              <a:solidFill>
                <a:srgbClr val="006699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  Will she come tomorrow?</a:t>
            </a:r>
            <a:endParaRPr lang="en-US" sz="3200" spc="-5" dirty="0">
              <a:solidFill>
                <a:srgbClr val="006699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   Yes, She will come tomorrow.</a:t>
            </a:r>
            <a:endParaRPr lang="en-US" sz="3200" spc="-5" dirty="0">
              <a:solidFill>
                <a:srgbClr val="006699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   No, She will not come tomorrow.</a:t>
            </a:r>
            <a:endParaRPr lang="en-US" sz="3200" spc="-5" dirty="0">
              <a:solidFill>
                <a:srgbClr val="006699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endParaRPr lang="en-US" sz="3200" spc="-5" dirty="0">
              <a:solidFill>
                <a:srgbClr val="7030A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              </a:t>
            </a:r>
            <a:endParaRPr lang="en-US" sz="3200" spc="-5" dirty="0">
              <a:solidFill>
                <a:srgbClr val="006699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</a:t>
            </a:r>
            <a:endParaRPr sz="3200">
              <a:latin typeface="Verdana" panose="020B0604030504040204"/>
              <a:cs typeface="Verdana" panose="020B0604030504040204"/>
            </a:endParaRPr>
          </a:p>
          <a:p>
            <a:pPr marL="927100" algn="just">
              <a:lnSpc>
                <a:spcPct val="100000"/>
              </a:lnSpc>
              <a:spcBef>
                <a:spcPts val="765"/>
              </a:spcBef>
            </a:pPr>
            <a:endParaRPr sz="3200"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38348" y="214290"/>
            <a:ext cx="7784465" cy="689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SIGNAL</a:t>
            </a:r>
            <a:r>
              <a:rPr kumimoji="0" lang="en-US" sz="4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WORDS</a:t>
            </a:r>
            <a:endParaRPr kumimoji="0" lang="en-IN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24034" y="1643050"/>
            <a:ext cx="8072755" cy="20821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70C0"/>
                </a:solidFill>
                <a:latin typeface="Verdana" panose="020B0604030504040204"/>
                <a:cs typeface="Verdana" panose="020B0604030504040204"/>
              </a:rPr>
              <a:t>          Tomorrow , next Monday, week, month, year, a day after tomorrow, after a week etc. </a:t>
            </a:r>
            <a:endParaRPr lang="en-US" sz="3200" spc="-5" dirty="0">
              <a:solidFill>
                <a:srgbClr val="0070C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endParaRPr lang="en-US" sz="3200" spc="-5" dirty="0">
              <a:solidFill>
                <a:srgbClr val="0070C0"/>
              </a:solidFill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38348" y="214290"/>
            <a:ext cx="7784465" cy="689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4400" dirty="0">
                <a:latin typeface="+mj-lt"/>
                <a:ea typeface="+mj-ea"/>
                <a:cs typeface="+mj-cs"/>
              </a:rPr>
              <a:t>EXERCISE</a:t>
            </a:r>
            <a:endParaRPr kumimoji="0" lang="en-IN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24034" y="1643050"/>
            <a:ext cx="8072755" cy="135083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7030A0"/>
                </a:solidFill>
                <a:cs typeface="Verdana" panose="020B0604030504040204"/>
              </a:rPr>
              <a:t>Fill in the blanks with appropriate verb form.</a:t>
            </a:r>
            <a:endParaRPr lang="en-US" sz="3200" spc="-5" dirty="0">
              <a:solidFill>
                <a:srgbClr val="7030A0"/>
              </a:solidFill>
              <a:cs typeface="Verdana" panose="020B0604030504040204"/>
            </a:endParaRPr>
          </a:p>
          <a:p>
            <a:pPr marL="527050" indent="-51435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70C0"/>
                </a:solidFill>
                <a:cs typeface="Verdana" panose="020B0604030504040204"/>
              </a:rPr>
              <a:t>1.I ____ the truth. (tell)</a:t>
            </a:r>
            <a:endParaRPr lang="en-US" sz="3200" spc="-5" dirty="0">
              <a:solidFill>
                <a:srgbClr val="0070C0"/>
              </a:solidFill>
              <a:cs typeface="Verdana" panose="020B0604030504040204"/>
            </a:endParaRPr>
          </a:p>
          <a:p>
            <a:pPr fontAlgn="base"/>
            <a:r>
              <a:rPr lang="en-US" sz="3200" spc="-5" dirty="0">
                <a:solidFill>
                  <a:srgbClr val="0070C0"/>
                </a:solidFill>
                <a:cs typeface="Verdana" panose="020B0604030504040204"/>
              </a:rPr>
              <a:t>2.</a:t>
            </a:r>
            <a:r>
              <a:rPr lang="en-IN" sz="3200" spc="-5" dirty="0">
                <a:solidFill>
                  <a:srgbClr val="0070C0"/>
                </a:solidFill>
                <a:cs typeface="Verdana" panose="020B0604030504040204"/>
              </a:rPr>
              <a:t>He ___ </a:t>
            </a:r>
            <a:r>
              <a:rPr lang="en-IN" sz="3200" dirty="0">
                <a:solidFill>
                  <a:srgbClr val="0070C0"/>
                </a:solidFill>
              </a:rPr>
              <a:t>articles on different topics.(write)</a:t>
            </a:r>
            <a:endParaRPr lang="en-IN" sz="3200" dirty="0">
              <a:solidFill>
                <a:srgbClr val="0070C0"/>
              </a:solidFill>
            </a:endParaRPr>
          </a:p>
          <a:p>
            <a:pPr fontAlgn="base"/>
            <a:r>
              <a:rPr lang="en-US" sz="3200" dirty="0">
                <a:solidFill>
                  <a:srgbClr val="0070C0"/>
                </a:solidFill>
              </a:rPr>
              <a:t>3.</a:t>
            </a:r>
            <a:r>
              <a:rPr lang="en-IN" sz="3200" dirty="0">
                <a:solidFill>
                  <a:srgbClr val="0070C0"/>
                </a:solidFill>
              </a:rPr>
              <a:t> We ___ a movie in this Cineplex  next Friday. (watch)</a:t>
            </a:r>
            <a:endParaRPr lang="en-IN" sz="3200" dirty="0">
              <a:solidFill>
                <a:srgbClr val="0070C0"/>
              </a:solidFill>
            </a:endParaRPr>
          </a:p>
          <a:p>
            <a:pPr fontAlgn="base"/>
            <a:r>
              <a:rPr lang="en-US" sz="3200" dirty="0">
                <a:solidFill>
                  <a:srgbClr val="0070C0"/>
                </a:solidFill>
              </a:rPr>
              <a:t>4.</a:t>
            </a:r>
            <a:r>
              <a:rPr lang="en-IN" sz="3200" dirty="0">
                <a:solidFill>
                  <a:srgbClr val="0070C0"/>
                </a:solidFill>
              </a:rPr>
              <a:t> Robin ___us in the meeting.(join)</a:t>
            </a:r>
            <a:endParaRPr lang="en-IN" sz="3200" dirty="0">
              <a:solidFill>
                <a:srgbClr val="0070C0"/>
              </a:solidFill>
            </a:endParaRPr>
          </a:p>
          <a:p>
            <a:pPr fontAlgn="base"/>
            <a:r>
              <a:rPr lang="en-US" sz="3200" dirty="0">
                <a:solidFill>
                  <a:srgbClr val="0070C0"/>
                </a:solidFill>
              </a:rPr>
              <a:t>5.</a:t>
            </a:r>
            <a:r>
              <a:rPr lang="en-IN" sz="3200" dirty="0">
                <a:solidFill>
                  <a:srgbClr val="0070C0"/>
                </a:solidFill>
              </a:rPr>
              <a:t> I ____ all the necessary materials for the program. (arrange)</a:t>
            </a:r>
            <a:endParaRPr lang="en-IN" sz="3200" dirty="0">
              <a:solidFill>
                <a:srgbClr val="0070C0"/>
              </a:solidFill>
            </a:endParaRPr>
          </a:p>
          <a:p>
            <a:pPr fontAlgn="base"/>
            <a:r>
              <a:rPr lang="en-US" sz="3200" dirty="0">
                <a:solidFill>
                  <a:srgbClr val="0070C0"/>
                </a:solidFill>
              </a:rPr>
              <a:t>6.</a:t>
            </a:r>
            <a:r>
              <a:rPr lang="en-IN" sz="3200" dirty="0">
                <a:solidFill>
                  <a:srgbClr val="0070C0"/>
                </a:solidFill>
              </a:rPr>
              <a:t>We ___ our house next week. (paint)</a:t>
            </a:r>
            <a:br>
              <a:rPr lang="en-IN" sz="3200" dirty="0">
                <a:solidFill>
                  <a:srgbClr val="0070C0"/>
                </a:solidFill>
              </a:rPr>
            </a:br>
            <a:endParaRPr lang="en-IN" sz="3200" dirty="0">
              <a:solidFill>
                <a:srgbClr val="0070C0"/>
              </a:solidFill>
            </a:endParaRPr>
          </a:p>
          <a:p>
            <a:pPr fontAlgn="base"/>
            <a:endParaRPr lang="en-IN" sz="3200" dirty="0"/>
          </a:p>
          <a:p>
            <a:br>
              <a:rPr lang="en-IN" sz="3200" dirty="0"/>
            </a:br>
            <a:endParaRPr lang="en-IN" sz="3200" dirty="0"/>
          </a:p>
          <a:p>
            <a:br>
              <a:rPr lang="en-IN" sz="3200" dirty="0"/>
            </a:br>
            <a:endParaRPr lang="en-IN" sz="3200" dirty="0"/>
          </a:p>
          <a:p>
            <a:br>
              <a:rPr lang="en-IN" sz="3200" dirty="0"/>
            </a:br>
            <a:endParaRPr lang="en-IN" sz="3200" dirty="0"/>
          </a:p>
          <a:p>
            <a:br>
              <a:rPr lang="en-IN" sz="3200" dirty="0"/>
            </a:br>
            <a:endParaRPr lang="en-IN" sz="3200" dirty="0">
              <a:solidFill>
                <a:srgbClr val="0070C0"/>
              </a:solidFill>
            </a:endParaRPr>
          </a:p>
          <a:p>
            <a:br>
              <a:rPr lang="en-IN" sz="3200" dirty="0"/>
            </a:br>
            <a:endParaRPr lang="en-IN" sz="3200" dirty="0">
              <a:solidFill>
                <a:srgbClr val="0070C0"/>
              </a:solidFill>
            </a:endParaRPr>
          </a:p>
          <a:p>
            <a:br>
              <a:rPr lang="en-IN" sz="3200" dirty="0"/>
            </a:br>
            <a:endParaRPr lang="en-IN" sz="3200" dirty="0"/>
          </a:p>
          <a:p>
            <a:endParaRPr lang="en-IN" sz="3200" dirty="0"/>
          </a:p>
          <a:p>
            <a:br>
              <a:rPr lang="en-IN" sz="3200" dirty="0"/>
            </a:br>
            <a:endParaRPr lang="en-US" sz="3200" spc="-5" dirty="0">
              <a:solidFill>
                <a:srgbClr val="0070C0"/>
              </a:solidFill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endParaRPr lang="en-US" sz="3200" spc="-5" dirty="0">
              <a:solidFill>
                <a:srgbClr val="0070C0"/>
              </a:solidFill>
              <a:cs typeface="Verdana" panose="020B060403050404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38348" y="214290"/>
            <a:ext cx="7784465" cy="689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4400" dirty="0">
                <a:latin typeface="+mj-lt"/>
                <a:ea typeface="+mj-ea"/>
                <a:cs typeface="+mj-cs"/>
              </a:rPr>
              <a:t>EXERCISE</a:t>
            </a:r>
            <a:endParaRPr kumimoji="0" lang="en-IN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24034" y="1643050"/>
            <a:ext cx="8072755" cy="188258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IN" sz="3200" dirty="0"/>
              <a:t> </a:t>
            </a:r>
            <a:r>
              <a:rPr lang="en-IN" sz="3200" dirty="0">
                <a:solidFill>
                  <a:srgbClr val="0070C0"/>
                </a:solidFill>
              </a:rPr>
              <a:t>7. __ your sister ___ in a large church? (get married)</a:t>
            </a:r>
            <a:endParaRPr lang="en-IN" sz="3200" dirty="0">
              <a:solidFill>
                <a:srgbClr val="0070C0"/>
              </a:solidFill>
            </a:endParaRPr>
          </a:p>
          <a:p>
            <a:r>
              <a:rPr lang="en-US" sz="3200" dirty="0">
                <a:solidFill>
                  <a:srgbClr val="0070C0"/>
                </a:solidFill>
              </a:rPr>
              <a:t>8.</a:t>
            </a:r>
            <a:r>
              <a:rPr lang="en-IN" sz="3200" dirty="0">
                <a:solidFill>
                  <a:srgbClr val="0070C0"/>
                </a:solidFill>
              </a:rPr>
              <a:t> I __ him this time. He mustn’t do that again. (forgive)</a:t>
            </a:r>
            <a:endParaRPr lang="en-IN" sz="3200" dirty="0">
              <a:solidFill>
                <a:srgbClr val="0070C0"/>
              </a:solidFill>
            </a:endParaRPr>
          </a:p>
          <a:p>
            <a:r>
              <a:rPr lang="en-US" sz="3200" dirty="0">
                <a:solidFill>
                  <a:srgbClr val="0070C0"/>
                </a:solidFill>
              </a:rPr>
              <a:t>9.</a:t>
            </a:r>
            <a:r>
              <a:rPr lang="en-IN" sz="3200" dirty="0">
                <a:solidFill>
                  <a:srgbClr val="0070C0"/>
                </a:solidFill>
              </a:rPr>
              <a:t> __Ms. Thompson __ you extra for that work?(pay)</a:t>
            </a:r>
            <a:endParaRPr lang="en-IN" sz="3200" dirty="0">
              <a:solidFill>
                <a:srgbClr val="0070C0"/>
              </a:solidFill>
            </a:endParaRPr>
          </a:p>
          <a:p>
            <a:r>
              <a:rPr lang="en-US" sz="3200" dirty="0">
                <a:solidFill>
                  <a:srgbClr val="0070C0"/>
                </a:solidFill>
              </a:rPr>
              <a:t>10.</a:t>
            </a:r>
            <a:r>
              <a:rPr lang="en-IN" sz="3200" dirty="0">
                <a:solidFill>
                  <a:srgbClr val="0070C0"/>
                </a:solidFill>
              </a:rPr>
              <a:t> Allen  </a:t>
            </a:r>
            <a:r>
              <a:rPr lang="en-IN" sz="3200" b="1" dirty="0">
                <a:solidFill>
                  <a:srgbClr val="0070C0"/>
                </a:solidFill>
              </a:rPr>
              <a:t>__ </a:t>
            </a:r>
            <a:r>
              <a:rPr lang="en-IN" sz="3200" dirty="0">
                <a:solidFill>
                  <a:srgbClr val="0070C0"/>
                </a:solidFill>
              </a:rPr>
              <a:t>not</a:t>
            </a:r>
            <a:r>
              <a:rPr lang="en-IN" sz="3200" b="1" dirty="0">
                <a:solidFill>
                  <a:srgbClr val="0070C0"/>
                </a:solidFill>
              </a:rPr>
              <a:t> ____ </a:t>
            </a:r>
            <a:r>
              <a:rPr lang="en-IN" sz="3200" dirty="0">
                <a:solidFill>
                  <a:srgbClr val="0070C0"/>
                </a:solidFill>
              </a:rPr>
              <a:t>in the science fair next week ? (participate)</a:t>
            </a:r>
            <a:endParaRPr lang="en-IN" sz="3200" dirty="0">
              <a:solidFill>
                <a:srgbClr val="0070C0"/>
              </a:solidFill>
            </a:endParaRPr>
          </a:p>
          <a:p>
            <a:r>
              <a:rPr lang="en-US" sz="3200" dirty="0">
                <a:solidFill>
                  <a:srgbClr val="0070C0"/>
                </a:solidFill>
              </a:rPr>
              <a:t>11.</a:t>
            </a:r>
            <a:r>
              <a:rPr lang="en-IN" sz="3200" dirty="0">
                <a:solidFill>
                  <a:srgbClr val="0070C0"/>
                </a:solidFill>
              </a:rPr>
              <a:t> How many students ____  next month?     ( graduate)</a:t>
            </a:r>
            <a:endParaRPr lang="en-IN" sz="3200" dirty="0">
              <a:solidFill>
                <a:srgbClr val="0070C0"/>
              </a:solidFill>
            </a:endParaRPr>
          </a:p>
          <a:p>
            <a:br>
              <a:rPr lang="en-IN" sz="3200" dirty="0"/>
            </a:br>
            <a:endParaRPr lang="en-IN" sz="3200" dirty="0"/>
          </a:p>
          <a:p>
            <a:br>
              <a:rPr lang="en-IN" sz="3200" dirty="0"/>
            </a:br>
            <a:endParaRPr lang="en-IN" sz="3200" dirty="0"/>
          </a:p>
          <a:p>
            <a:br>
              <a:rPr lang="en-IN" sz="3200" dirty="0"/>
            </a:br>
            <a:endParaRPr lang="en-IN" sz="3200" dirty="0"/>
          </a:p>
          <a:p>
            <a:br>
              <a:rPr lang="en-IN" sz="3200" dirty="0"/>
            </a:br>
            <a:endParaRPr lang="en-IN" sz="3200" dirty="0"/>
          </a:p>
          <a:p>
            <a:br>
              <a:rPr lang="en-IN" sz="3200" dirty="0"/>
            </a:br>
            <a:r>
              <a:rPr lang="en-IN" sz="3200" dirty="0"/>
              <a:t> </a:t>
            </a:r>
            <a:br>
              <a:rPr lang="en-IN" sz="3200" dirty="0">
                <a:solidFill>
                  <a:srgbClr val="0070C0"/>
                </a:solidFill>
              </a:rPr>
            </a:br>
            <a:endParaRPr lang="en-IN" sz="3200" dirty="0">
              <a:solidFill>
                <a:srgbClr val="0070C0"/>
              </a:solidFill>
            </a:endParaRPr>
          </a:p>
          <a:p>
            <a:pPr fontAlgn="base"/>
            <a:endParaRPr lang="en-IN" sz="3200" dirty="0"/>
          </a:p>
          <a:p>
            <a:br>
              <a:rPr lang="en-IN" sz="3200" dirty="0"/>
            </a:br>
            <a:endParaRPr lang="en-IN" sz="3200" dirty="0"/>
          </a:p>
          <a:p>
            <a:br>
              <a:rPr lang="en-IN" sz="3200" dirty="0"/>
            </a:br>
            <a:endParaRPr lang="en-IN" sz="3200" dirty="0"/>
          </a:p>
          <a:p>
            <a:br>
              <a:rPr lang="en-IN" sz="3200" dirty="0"/>
            </a:br>
            <a:endParaRPr lang="en-IN" sz="3200" dirty="0"/>
          </a:p>
          <a:p>
            <a:br>
              <a:rPr lang="en-IN" sz="3200" dirty="0"/>
            </a:br>
            <a:endParaRPr lang="en-IN" sz="3200" dirty="0">
              <a:solidFill>
                <a:srgbClr val="0070C0"/>
              </a:solidFill>
            </a:endParaRPr>
          </a:p>
          <a:p>
            <a:br>
              <a:rPr lang="en-IN" sz="3200" dirty="0"/>
            </a:br>
            <a:endParaRPr lang="en-IN" sz="3200" dirty="0">
              <a:solidFill>
                <a:srgbClr val="0070C0"/>
              </a:solidFill>
            </a:endParaRPr>
          </a:p>
          <a:p>
            <a:br>
              <a:rPr lang="en-IN" sz="3200" dirty="0"/>
            </a:br>
            <a:endParaRPr lang="en-IN" sz="3200" dirty="0"/>
          </a:p>
          <a:p>
            <a:endParaRPr lang="en-IN" sz="3200" dirty="0"/>
          </a:p>
          <a:p>
            <a:br>
              <a:rPr lang="en-IN" sz="3200" dirty="0"/>
            </a:br>
            <a:endParaRPr lang="en-US" sz="3200" spc="-5" dirty="0">
              <a:solidFill>
                <a:srgbClr val="0070C0"/>
              </a:solidFill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endParaRPr lang="en-US" sz="3200" spc="-5" dirty="0">
              <a:solidFill>
                <a:srgbClr val="0070C0"/>
              </a:solidFill>
              <a:cs typeface="Verdana" panose="020B060403050404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38348" y="214290"/>
            <a:ext cx="7784465" cy="689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4400" dirty="0">
                <a:latin typeface="+mj-lt"/>
                <a:ea typeface="+mj-ea"/>
                <a:cs typeface="+mj-cs"/>
              </a:rPr>
              <a:t>EXERCISE</a:t>
            </a:r>
            <a:endParaRPr kumimoji="0" lang="en-IN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24034" y="1643050"/>
            <a:ext cx="8072755" cy="203034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IN" sz="3200" dirty="0">
                <a:solidFill>
                  <a:srgbClr val="0070C0"/>
                </a:solidFill>
              </a:rPr>
              <a:t> 12. Bob ___ to the library tomorrow.(go)</a:t>
            </a:r>
            <a:endParaRPr lang="en-IN" sz="3200" dirty="0">
              <a:solidFill>
                <a:srgbClr val="0070C0"/>
              </a:solidFill>
            </a:endParaRPr>
          </a:p>
          <a:p>
            <a:r>
              <a:rPr lang="en-US" sz="3200" dirty="0">
                <a:solidFill>
                  <a:srgbClr val="0070C0"/>
                </a:solidFill>
              </a:rPr>
              <a:t>13.</a:t>
            </a:r>
            <a:r>
              <a:rPr lang="en-IN" sz="3200" dirty="0">
                <a:solidFill>
                  <a:srgbClr val="0070C0"/>
                </a:solidFill>
              </a:rPr>
              <a:t> I ___</a:t>
            </a:r>
            <a:r>
              <a:rPr lang="en-IN" sz="3200" b="1" dirty="0">
                <a:solidFill>
                  <a:srgbClr val="0070C0"/>
                </a:solidFill>
              </a:rPr>
              <a:t> </a:t>
            </a:r>
            <a:r>
              <a:rPr lang="en-IN" sz="3200" dirty="0">
                <a:solidFill>
                  <a:srgbClr val="0070C0"/>
                </a:solidFill>
              </a:rPr>
              <a:t>you the information when I get it. (send)</a:t>
            </a:r>
            <a:endParaRPr lang="en-IN" sz="3200" dirty="0">
              <a:solidFill>
                <a:srgbClr val="0070C0"/>
              </a:solidFill>
            </a:endParaRPr>
          </a:p>
          <a:p>
            <a:r>
              <a:rPr lang="en-US" sz="3200" dirty="0">
                <a:solidFill>
                  <a:srgbClr val="0070C0"/>
                </a:solidFill>
              </a:rPr>
              <a:t>14. </a:t>
            </a:r>
            <a:r>
              <a:rPr lang="en-IN" sz="3200" dirty="0">
                <a:solidFill>
                  <a:srgbClr val="0070C0"/>
                </a:solidFill>
              </a:rPr>
              <a:t>I __ not ___ anyone your secret. (tell)</a:t>
            </a:r>
            <a:endParaRPr lang="en-IN" sz="3200" dirty="0">
              <a:solidFill>
                <a:srgbClr val="0070C0"/>
              </a:solidFill>
            </a:endParaRPr>
          </a:p>
          <a:p>
            <a:r>
              <a:rPr lang="en-US" sz="3200" dirty="0">
                <a:solidFill>
                  <a:srgbClr val="0070C0"/>
                </a:solidFill>
              </a:rPr>
              <a:t>15. ___ we ___ Cricket? (play)</a:t>
            </a:r>
            <a:endParaRPr lang="en-IN" sz="3200" dirty="0">
              <a:solidFill>
                <a:srgbClr val="0070C0"/>
              </a:solidFill>
            </a:endParaRPr>
          </a:p>
          <a:p>
            <a:br>
              <a:rPr lang="en-IN" sz="3200" dirty="0"/>
            </a:br>
            <a:endParaRPr lang="en-IN" sz="3200" dirty="0"/>
          </a:p>
          <a:p>
            <a:br>
              <a:rPr lang="en-IN" sz="3200" dirty="0"/>
            </a:br>
            <a:endParaRPr lang="en-IN" sz="3200" dirty="0"/>
          </a:p>
          <a:p>
            <a:endParaRPr lang="en-IN" sz="3200" dirty="0"/>
          </a:p>
          <a:p>
            <a:br>
              <a:rPr lang="en-IN" sz="3200" dirty="0"/>
            </a:br>
            <a:endParaRPr lang="en-IN" sz="3200" dirty="0">
              <a:solidFill>
                <a:srgbClr val="0070C0"/>
              </a:solidFill>
            </a:endParaRPr>
          </a:p>
          <a:p>
            <a:endParaRPr lang="en-IN" sz="3200" dirty="0">
              <a:solidFill>
                <a:srgbClr val="0070C0"/>
              </a:solidFill>
            </a:endParaRPr>
          </a:p>
          <a:p>
            <a:br>
              <a:rPr lang="en-IN" sz="3200" dirty="0"/>
            </a:br>
            <a:endParaRPr lang="en-IN" sz="3200" dirty="0"/>
          </a:p>
          <a:p>
            <a:br>
              <a:rPr lang="en-IN" sz="3200" dirty="0"/>
            </a:br>
            <a:endParaRPr lang="en-IN" sz="3200" dirty="0"/>
          </a:p>
          <a:p>
            <a:br>
              <a:rPr lang="en-IN" sz="3200" dirty="0"/>
            </a:br>
            <a:endParaRPr lang="en-IN" sz="3200" dirty="0"/>
          </a:p>
          <a:p>
            <a:br>
              <a:rPr lang="en-IN" sz="3200" dirty="0"/>
            </a:br>
            <a:endParaRPr lang="en-IN" sz="3200" dirty="0"/>
          </a:p>
          <a:p>
            <a:br>
              <a:rPr lang="en-IN" sz="3200" dirty="0"/>
            </a:br>
            <a:r>
              <a:rPr lang="en-IN" sz="3200" dirty="0"/>
              <a:t> </a:t>
            </a:r>
            <a:br>
              <a:rPr lang="en-IN" sz="3200" dirty="0">
                <a:solidFill>
                  <a:srgbClr val="0070C0"/>
                </a:solidFill>
              </a:rPr>
            </a:br>
            <a:endParaRPr lang="en-IN" sz="3200" dirty="0">
              <a:solidFill>
                <a:srgbClr val="0070C0"/>
              </a:solidFill>
            </a:endParaRPr>
          </a:p>
          <a:p>
            <a:pPr fontAlgn="base"/>
            <a:endParaRPr lang="en-IN" sz="3200" dirty="0"/>
          </a:p>
          <a:p>
            <a:br>
              <a:rPr lang="en-IN" sz="3200" dirty="0"/>
            </a:br>
            <a:endParaRPr lang="en-IN" sz="3200" dirty="0"/>
          </a:p>
          <a:p>
            <a:br>
              <a:rPr lang="en-IN" sz="3200" dirty="0"/>
            </a:br>
            <a:endParaRPr lang="en-IN" sz="3200" dirty="0"/>
          </a:p>
          <a:p>
            <a:br>
              <a:rPr lang="en-IN" sz="3200" dirty="0"/>
            </a:br>
            <a:endParaRPr lang="en-IN" sz="3200" dirty="0"/>
          </a:p>
          <a:p>
            <a:br>
              <a:rPr lang="en-IN" sz="3200" dirty="0"/>
            </a:br>
            <a:endParaRPr lang="en-IN" sz="3200" dirty="0">
              <a:solidFill>
                <a:srgbClr val="0070C0"/>
              </a:solidFill>
            </a:endParaRPr>
          </a:p>
          <a:p>
            <a:br>
              <a:rPr lang="en-IN" sz="3200" dirty="0"/>
            </a:br>
            <a:endParaRPr lang="en-IN" sz="3200" dirty="0">
              <a:solidFill>
                <a:srgbClr val="0070C0"/>
              </a:solidFill>
            </a:endParaRPr>
          </a:p>
          <a:p>
            <a:br>
              <a:rPr lang="en-IN" sz="3200" dirty="0"/>
            </a:br>
            <a:endParaRPr lang="en-IN" sz="3200" dirty="0"/>
          </a:p>
          <a:p>
            <a:endParaRPr lang="en-IN" sz="3200" dirty="0"/>
          </a:p>
          <a:p>
            <a:br>
              <a:rPr lang="en-IN" sz="3200" dirty="0"/>
            </a:br>
            <a:endParaRPr lang="en-US" sz="3200" spc="-5" dirty="0">
              <a:solidFill>
                <a:srgbClr val="0070C0"/>
              </a:solidFill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endParaRPr lang="en-US" sz="3200" spc="-5" dirty="0">
              <a:solidFill>
                <a:srgbClr val="0070C0"/>
              </a:solidFill>
              <a:cs typeface="Verdana" panose="020B060403050404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usiness Cooperate">
  <a:themeElements>
    <a:clrScheme name="Business Cooper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siness Cooperate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usiness Cooper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1491</Words>
  <Application>WPS Presentation</Application>
  <PresentationFormat>Widescreen</PresentationFormat>
  <Paragraphs>108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Verdana</vt:lpstr>
      <vt:lpstr>Business Cooperate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FUTURE TENSE</dc:title>
  <dc:creator/>
  <cp:lastModifiedBy>Paresh Parmar</cp:lastModifiedBy>
  <cp:revision>1</cp:revision>
  <dcterms:created xsi:type="dcterms:W3CDTF">2020-09-07T09:55:30Z</dcterms:created>
  <dcterms:modified xsi:type="dcterms:W3CDTF">2020-09-07T09:55:30Z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1033-11.2.0.9635</vt:lpwstr>
  </property>
</Properties>
</file>