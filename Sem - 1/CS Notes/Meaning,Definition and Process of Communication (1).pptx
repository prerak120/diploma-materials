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83" r:id="rId4"/>
    <p:sldId id="284" r:id="rId5"/>
    <p:sldId id="259" r:id="rId6"/>
    <p:sldId id="260" r:id="rId7"/>
    <p:sldId id="261" r:id="rId8"/>
    <p:sldId id="262" r:id="rId9"/>
    <p:sldId id="263" r:id="rId10"/>
    <p:sldId id="264" r:id="rId11"/>
    <p:sldId id="265" r:id="rId12"/>
    <p:sldId id="266" r:id="rId13"/>
    <p:sldId id="295" r:id="rId14"/>
    <p:sldId id="267" r:id="rId1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4" d="100"/>
          <a:sy n="94" d="100"/>
        </p:scale>
        <p:origin x="-1284" y="18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7A9799"/>
                </a:solidFill>
                <a:latin typeface="Georgia" panose="02040502050405020303"/>
                <a:cs typeface="Georgia" panose="02040502050405020303"/>
              </a:defRPr>
            </a:lvl1pPr>
          </a:lstStyle>
          <a:p/>
        </p:txBody>
      </p:sp>
      <p:sp>
        <p:nvSpPr>
          <p:cNvPr id="3" name="Holder 3"/>
          <p:cNvSpPr>
            <a:spLocks noGrp="1"/>
          </p:cNvSpPr>
          <p:nvPr>
            <p:ph type="body" idx="1"/>
          </p:nvPr>
        </p:nvSpPr>
        <p:spPr/>
        <p:txBody>
          <a:bodyPr lIns="0" tIns="0" rIns="0" bIns="0"/>
          <a:lstStyle>
            <a:lvl1pPr>
              <a:defRPr sz="2100" b="1" i="0">
                <a:solidFill>
                  <a:srgbClr val="001F5F"/>
                </a:solidFill>
                <a:latin typeface="Georgia" panose="02040502050405020303"/>
                <a:cs typeface="Georgia" panose="02040502050405020303"/>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7A9799"/>
                </a:solidFill>
                <a:latin typeface="Georgia" panose="02040502050405020303"/>
                <a:cs typeface="Georgia" panose="02040502050405020303"/>
              </a:defRPr>
            </a:lvl1pPr>
          </a:lstStyle>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7A9799"/>
                </a:solidFill>
                <a:latin typeface="Georgia" panose="02040502050405020303"/>
                <a:cs typeface="Georgia" panose="02040502050405020303"/>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400" y="1394460"/>
            <a:ext cx="8839200" cy="4993640"/>
          </a:xfrm>
          <a:custGeom>
            <a:avLst/>
            <a:gdLst/>
            <a:ahLst/>
            <a:cxnLst/>
            <a:rect l="l" t="t" r="r" b="b"/>
            <a:pathLst>
              <a:path w="8839200" h="4993640">
                <a:moveTo>
                  <a:pt x="0" y="4993640"/>
                </a:moveTo>
                <a:lnTo>
                  <a:pt x="8839200" y="4993640"/>
                </a:lnTo>
                <a:lnTo>
                  <a:pt x="8839200" y="0"/>
                </a:lnTo>
                <a:lnTo>
                  <a:pt x="0" y="0"/>
                </a:lnTo>
                <a:lnTo>
                  <a:pt x="0" y="4993640"/>
                </a:lnTo>
                <a:close/>
              </a:path>
            </a:pathLst>
          </a:custGeom>
          <a:solidFill>
            <a:srgbClr val="C4D0D6"/>
          </a:solidFill>
        </p:spPr>
        <p:txBody>
          <a:bodyPr wrap="square" lIns="0" tIns="0" rIns="0" bIns="0" rtlCol="0"/>
          <a:lstStyle/>
          <a:p/>
        </p:txBody>
      </p:sp>
      <p:sp>
        <p:nvSpPr>
          <p:cNvPr id="17" name="bg object 17"/>
          <p:cNvSpPr/>
          <p:nvPr/>
        </p:nvSpPr>
        <p:spPr>
          <a:xfrm>
            <a:off x="152400" y="6697980"/>
            <a:ext cx="8839200" cy="7620"/>
          </a:xfrm>
          <a:custGeom>
            <a:avLst/>
            <a:gdLst/>
            <a:ahLst/>
            <a:cxnLst/>
            <a:rect l="l" t="t" r="r" b="b"/>
            <a:pathLst>
              <a:path w="8839200" h="7620">
                <a:moveTo>
                  <a:pt x="0" y="7620"/>
                </a:moveTo>
                <a:lnTo>
                  <a:pt x="8839200" y="7620"/>
                </a:lnTo>
                <a:lnTo>
                  <a:pt x="8839200" y="0"/>
                </a:lnTo>
                <a:lnTo>
                  <a:pt x="0" y="0"/>
                </a:lnTo>
                <a:lnTo>
                  <a:pt x="0" y="7620"/>
                </a:lnTo>
                <a:close/>
              </a:path>
            </a:pathLst>
          </a:custGeom>
          <a:solidFill>
            <a:srgbClr val="C4D0D6"/>
          </a:solidFill>
        </p:spPr>
        <p:txBody>
          <a:bodyPr wrap="square" lIns="0" tIns="0" rIns="0" bIns="0" rtlCol="0"/>
          <a:lstStyle/>
          <a:p/>
        </p:txBody>
      </p:sp>
      <p:sp>
        <p:nvSpPr>
          <p:cNvPr id="18" name="bg object 18"/>
          <p:cNvSpPr/>
          <p:nvPr/>
        </p:nvSpPr>
        <p:spPr>
          <a:xfrm>
            <a:off x="0" y="6705600"/>
            <a:ext cx="9144000" cy="152400"/>
          </a:xfrm>
          <a:custGeom>
            <a:avLst/>
            <a:gdLst/>
            <a:ahLst/>
            <a:cxnLst/>
            <a:rect l="l" t="t" r="r" b="b"/>
            <a:pathLst>
              <a:path w="9144000" h="152400">
                <a:moveTo>
                  <a:pt x="9144000" y="0"/>
                </a:moveTo>
                <a:lnTo>
                  <a:pt x="0" y="0"/>
                </a:lnTo>
                <a:lnTo>
                  <a:pt x="0" y="152400"/>
                </a:lnTo>
                <a:lnTo>
                  <a:pt x="9144000" y="152400"/>
                </a:lnTo>
                <a:close/>
              </a:path>
            </a:pathLst>
          </a:custGeom>
          <a:solidFill>
            <a:srgbClr val="FFFFFF"/>
          </a:solidFill>
        </p:spPr>
        <p:txBody>
          <a:bodyPr wrap="square" lIns="0" tIns="0" rIns="0" bIns="0" rtlCol="0"/>
          <a:lstStyle/>
          <a:p/>
        </p:txBody>
      </p:sp>
      <p:sp>
        <p:nvSpPr>
          <p:cNvPr id="19" name="bg object 19"/>
          <p:cNvSpPr/>
          <p:nvPr/>
        </p:nvSpPr>
        <p:spPr>
          <a:xfrm>
            <a:off x="0" y="0"/>
            <a:ext cx="9144000" cy="6858000"/>
          </a:xfrm>
          <a:custGeom>
            <a:avLst/>
            <a:gdLst/>
            <a:ahLst/>
            <a:cxnLst/>
            <a:rect l="l" t="t" r="r" b="b"/>
            <a:pathLst>
              <a:path w="9144000" h="6858000">
                <a:moveTo>
                  <a:pt x="9144000" y="0"/>
                </a:moveTo>
                <a:lnTo>
                  <a:pt x="8991600" y="0"/>
                </a:lnTo>
                <a:lnTo>
                  <a:pt x="152400" y="0"/>
                </a:lnTo>
                <a:lnTo>
                  <a:pt x="0" y="0"/>
                </a:lnTo>
                <a:lnTo>
                  <a:pt x="0" y="1394460"/>
                </a:lnTo>
                <a:lnTo>
                  <a:pt x="0" y="6858000"/>
                </a:lnTo>
                <a:lnTo>
                  <a:pt x="152400" y="6858000"/>
                </a:lnTo>
                <a:lnTo>
                  <a:pt x="152400" y="1394460"/>
                </a:lnTo>
                <a:lnTo>
                  <a:pt x="8991600" y="1394460"/>
                </a:lnTo>
                <a:lnTo>
                  <a:pt x="8991600" y="6858000"/>
                </a:lnTo>
                <a:lnTo>
                  <a:pt x="9144000" y="6858000"/>
                </a:lnTo>
                <a:lnTo>
                  <a:pt x="9144000" y="1394460"/>
                </a:lnTo>
                <a:lnTo>
                  <a:pt x="9144000" y="0"/>
                </a:lnTo>
                <a:close/>
              </a:path>
            </a:pathLst>
          </a:custGeom>
          <a:solidFill>
            <a:srgbClr val="FFFFFF"/>
          </a:solidFill>
        </p:spPr>
        <p:txBody>
          <a:bodyPr wrap="square" lIns="0" tIns="0" rIns="0" bIns="0" rtlCol="0"/>
          <a:lstStyle/>
          <a:p/>
        </p:txBody>
      </p:sp>
      <p:sp>
        <p:nvSpPr>
          <p:cNvPr id="20" name="bg object 20"/>
          <p:cNvSpPr/>
          <p:nvPr/>
        </p:nvSpPr>
        <p:spPr>
          <a:xfrm>
            <a:off x="148589" y="6388100"/>
            <a:ext cx="8832850" cy="309880"/>
          </a:xfrm>
          <a:custGeom>
            <a:avLst/>
            <a:gdLst/>
            <a:ahLst/>
            <a:cxnLst/>
            <a:rect l="l" t="t" r="r" b="b"/>
            <a:pathLst>
              <a:path w="8832850" h="309879">
                <a:moveTo>
                  <a:pt x="8832850" y="0"/>
                </a:moveTo>
                <a:lnTo>
                  <a:pt x="0" y="0"/>
                </a:lnTo>
                <a:lnTo>
                  <a:pt x="0" y="309880"/>
                </a:lnTo>
                <a:lnTo>
                  <a:pt x="8832850" y="309880"/>
                </a:lnTo>
                <a:close/>
              </a:path>
            </a:pathLst>
          </a:custGeom>
          <a:solidFill>
            <a:srgbClr val="8BACAD"/>
          </a:solidFill>
        </p:spPr>
        <p:txBody>
          <a:bodyPr wrap="square" lIns="0" tIns="0" rIns="0" bIns="0" rtlCol="0"/>
          <a:lstStyle/>
          <a:p/>
        </p:txBody>
      </p:sp>
      <p:sp>
        <p:nvSpPr>
          <p:cNvPr id="21" name="bg object 21"/>
          <p:cNvSpPr/>
          <p:nvPr/>
        </p:nvSpPr>
        <p:spPr>
          <a:xfrm>
            <a:off x="152400" y="154939"/>
            <a:ext cx="8832850" cy="6548120"/>
          </a:xfrm>
          <a:custGeom>
            <a:avLst/>
            <a:gdLst/>
            <a:ahLst/>
            <a:cxnLst/>
            <a:rect l="l" t="t" r="r" b="b"/>
            <a:pathLst>
              <a:path w="8832850" h="6548120">
                <a:moveTo>
                  <a:pt x="4415790" y="6548119"/>
                </a:moveTo>
                <a:lnTo>
                  <a:pt x="0" y="6548119"/>
                </a:lnTo>
                <a:lnTo>
                  <a:pt x="0" y="0"/>
                </a:lnTo>
                <a:lnTo>
                  <a:pt x="8832850" y="0"/>
                </a:lnTo>
                <a:lnTo>
                  <a:pt x="8832850" y="6548119"/>
                </a:lnTo>
                <a:lnTo>
                  <a:pt x="4415790" y="6548119"/>
                </a:lnTo>
                <a:close/>
              </a:path>
            </a:pathLst>
          </a:custGeom>
          <a:ln w="9344">
            <a:solidFill>
              <a:srgbClr val="7A9799"/>
            </a:solidFill>
          </a:ln>
        </p:spPr>
        <p:txBody>
          <a:bodyPr wrap="square" lIns="0" tIns="0" rIns="0" bIns="0" rtlCol="0"/>
          <a:lstStyle/>
          <a:p/>
        </p:txBody>
      </p:sp>
      <p:sp>
        <p:nvSpPr>
          <p:cNvPr id="22" name="bg object 22"/>
          <p:cNvSpPr/>
          <p:nvPr/>
        </p:nvSpPr>
        <p:spPr>
          <a:xfrm>
            <a:off x="152400" y="1276350"/>
            <a:ext cx="8832850" cy="0"/>
          </a:xfrm>
          <a:custGeom>
            <a:avLst/>
            <a:gdLst/>
            <a:ahLst/>
            <a:cxnLst/>
            <a:rect l="l" t="t" r="r" b="b"/>
            <a:pathLst>
              <a:path w="8832850">
                <a:moveTo>
                  <a:pt x="0" y="0"/>
                </a:moveTo>
                <a:lnTo>
                  <a:pt x="8832850" y="0"/>
                </a:lnTo>
              </a:path>
            </a:pathLst>
          </a:custGeom>
          <a:ln w="8890">
            <a:solidFill>
              <a:srgbClr val="7A9799"/>
            </a:solidFill>
            <a:prstDash val="sysDot"/>
          </a:ln>
        </p:spPr>
        <p:txBody>
          <a:bodyPr wrap="square" lIns="0" tIns="0" rIns="0" bIns="0" rtlCol="0"/>
          <a:lstStyle/>
          <a:p/>
        </p:txBody>
      </p:sp>
      <p:sp>
        <p:nvSpPr>
          <p:cNvPr id="23" name="bg object 23"/>
          <p:cNvSpPr/>
          <p:nvPr/>
        </p:nvSpPr>
        <p:spPr>
          <a:xfrm>
            <a:off x="4267200" y="955039"/>
            <a:ext cx="609600" cy="609600"/>
          </a:xfrm>
          <a:custGeom>
            <a:avLst/>
            <a:gdLst/>
            <a:ahLst/>
            <a:cxnLst/>
            <a:rect l="l" t="t" r="r" b="b"/>
            <a:pathLst>
              <a:path w="609600" h="609600">
                <a:moveTo>
                  <a:pt x="609600" y="304800"/>
                </a:moveTo>
                <a:lnTo>
                  <a:pt x="605726" y="254304"/>
                </a:lnTo>
                <a:lnTo>
                  <a:pt x="594474" y="206781"/>
                </a:lnTo>
                <a:lnTo>
                  <a:pt x="576402" y="162801"/>
                </a:lnTo>
                <a:lnTo>
                  <a:pt x="552043" y="122897"/>
                </a:lnTo>
                <a:lnTo>
                  <a:pt x="521970" y="87630"/>
                </a:lnTo>
                <a:lnTo>
                  <a:pt x="486702" y="57556"/>
                </a:lnTo>
                <a:lnTo>
                  <a:pt x="446798" y="33197"/>
                </a:lnTo>
                <a:lnTo>
                  <a:pt x="402818" y="15125"/>
                </a:lnTo>
                <a:lnTo>
                  <a:pt x="355295" y="3873"/>
                </a:lnTo>
                <a:lnTo>
                  <a:pt x="304800" y="0"/>
                </a:lnTo>
                <a:lnTo>
                  <a:pt x="254292" y="3873"/>
                </a:lnTo>
                <a:lnTo>
                  <a:pt x="206768" y="15125"/>
                </a:lnTo>
                <a:lnTo>
                  <a:pt x="162788" y="33197"/>
                </a:lnTo>
                <a:lnTo>
                  <a:pt x="122885" y="57556"/>
                </a:lnTo>
                <a:lnTo>
                  <a:pt x="87630" y="87642"/>
                </a:lnTo>
                <a:lnTo>
                  <a:pt x="57543" y="122897"/>
                </a:lnTo>
                <a:lnTo>
                  <a:pt x="33185" y="162801"/>
                </a:lnTo>
                <a:lnTo>
                  <a:pt x="15113" y="206781"/>
                </a:lnTo>
                <a:lnTo>
                  <a:pt x="3860" y="254304"/>
                </a:lnTo>
                <a:lnTo>
                  <a:pt x="0" y="304800"/>
                </a:lnTo>
                <a:lnTo>
                  <a:pt x="3860" y="355307"/>
                </a:lnTo>
                <a:lnTo>
                  <a:pt x="15113" y="402831"/>
                </a:lnTo>
                <a:lnTo>
                  <a:pt x="33185" y="446811"/>
                </a:lnTo>
                <a:lnTo>
                  <a:pt x="57543" y="486714"/>
                </a:lnTo>
                <a:lnTo>
                  <a:pt x="87630" y="521970"/>
                </a:lnTo>
                <a:lnTo>
                  <a:pt x="122885" y="552056"/>
                </a:lnTo>
                <a:lnTo>
                  <a:pt x="162788" y="576414"/>
                </a:lnTo>
                <a:lnTo>
                  <a:pt x="206768" y="594487"/>
                </a:lnTo>
                <a:lnTo>
                  <a:pt x="254292" y="605739"/>
                </a:lnTo>
                <a:lnTo>
                  <a:pt x="304800" y="609600"/>
                </a:lnTo>
                <a:lnTo>
                  <a:pt x="355295" y="605739"/>
                </a:lnTo>
                <a:lnTo>
                  <a:pt x="402818" y="594487"/>
                </a:lnTo>
                <a:lnTo>
                  <a:pt x="446798" y="576414"/>
                </a:lnTo>
                <a:lnTo>
                  <a:pt x="486702" y="552056"/>
                </a:lnTo>
                <a:lnTo>
                  <a:pt x="521957" y="521970"/>
                </a:lnTo>
                <a:lnTo>
                  <a:pt x="552043" y="486714"/>
                </a:lnTo>
                <a:lnTo>
                  <a:pt x="576402" y="446811"/>
                </a:lnTo>
                <a:lnTo>
                  <a:pt x="594474" y="402831"/>
                </a:lnTo>
                <a:lnTo>
                  <a:pt x="605726" y="355307"/>
                </a:lnTo>
                <a:lnTo>
                  <a:pt x="609600" y="304800"/>
                </a:lnTo>
                <a:close/>
              </a:path>
            </a:pathLst>
          </a:custGeom>
          <a:solidFill>
            <a:srgbClr val="FFFFFF"/>
          </a:solidFill>
        </p:spPr>
        <p:txBody>
          <a:bodyPr wrap="square" lIns="0" tIns="0" rIns="0" bIns="0" rtlCol="0"/>
          <a:lstStyle/>
          <a:p/>
        </p:txBody>
      </p:sp>
      <p:sp>
        <p:nvSpPr>
          <p:cNvPr id="24" name="bg object 24"/>
          <p:cNvSpPr/>
          <p:nvPr/>
        </p:nvSpPr>
        <p:spPr>
          <a:xfrm>
            <a:off x="4362450" y="1050289"/>
            <a:ext cx="419100" cy="421640"/>
          </a:xfrm>
          <a:custGeom>
            <a:avLst/>
            <a:gdLst/>
            <a:ahLst/>
            <a:cxnLst/>
            <a:rect l="l" t="t" r="r" b="b"/>
            <a:pathLst>
              <a:path w="419100" h="421640">
                <a:moveTo>
                  <a:pt x="209550" y="0"/>
                </a:moveTo>
                <a:lnTo>
                  <a:pt x="258746" y="5413"/>
                </a:lnTo>
                <a:lnTo>
                  <a:pt x="303300" y="20912"/>
                </a:lnTo>
                <a:lnTo>
                  <a:pt x="342144" y="45386"/>
                </a:lnTo>
                <a:lnTo>
                  <a:pt x="374213" y="77725"/>
                </a:lnTo>
                <a:lnTo>
                  <a:pt x="398439" y="116817"/>
                </a:lnTo>
                <a:lnTo>
                  <a:pt x="413757" y="161552"/>
                </a:lnTo>
                <a:lnTo>
                  <a:pt x="419100" y="210820"/>
                </a:lnTo>
                <a:lnTo>
                  <a:pt x="413757" y="260087"/>
                </a:lnTo>
                <a:lnTo>
                  <a:pt x="398439" y="304822"/>
                </a:lnTo>
                <a:lnTo>
                  <a:pt x="374213" y="343914"/>
                </a:lnTo>
                <a:lnTo>
                  <a:pt x="342144" y="376253"/>
                </a:lnTo>
                <a:lnTo>
                  <a:pt x="303300" y="400727"/>
                </a:lnTo>
                <a:lnTo>
                  <a:pt x="258746" y="416226"/>
                </a:lnTo>
                <a:lnTo>
                  <a:pt x="209550" y="421639"/>
                </a:lnTo>
                <a:lnTo>
                  <a:pt x="160353" y="416226"/>
                </a:lnTo>
                <a:lnTo>
                  <a:pt x="115799" y="400727"/>
                </a:lnTo>
                <a:lnTo>
                  <a:pt x="76955" y="376253"/>
                </a:lnTo>
                <a:lnTo>
                  <a:pt x="44886" y="343914"/>
                </a:lnTo>
                <a:lnTo>
                  <a:pt x="20660" y="304822"/>
                </a:lnTo>
                <a:lnTo>
                  <a:pt x="5342" y="260087"/>
                </a:lnTo>
                <a:lnTo>
                  <a:pt x="0" y="210820"/>
                </a:lnTo>
                <a:lnTo>
                  <a:pt x="5342" y="161552"/>
                </a:lnTo>
                <a:lnTo>
                  <a:pt x="20660" y="116817"/>
                </a:lnTo>
                <a:lnTo>
                  <a:pt x="44886" y="77725"/>
                </a:lnTo>
                <a:lnTo>
                  <a:pt x="76955" y="45386"/>
                </a:lnTo>
                <a:lnTo>
                  <a:pt x="115799" y="20912"/>
                </a:lnTo>
                <a:lnTo>
                  <a:pt x="160353" y="5413"/>
                </a:lnTo>
                <a:lnTo>
                  <a:pt x="209550" y="0"/>
                </a:lnTo>
                <a:close/>
              </a:path>
              <a:path w="419100" h="421640">
                <a:moveTo>
                  <a:pt x="0" y="0"/>
                </a:moveTo>
                <a:lnTo>
                  <a:pt x="0" y="0"/>
                </a:lnTo>
              </a:path>
              <a:path w="419100" h="421640">
                <a:moveTo>
                  <a:pt x="419100" y="421639"/>
                </a:moveTo>
                <a:lnTo>
                  <a:pt x="419100" y="421639"/>
                </a:lnTo>
              </a:path>
            </a:pathLst>
          </a:custGeom>
          <a:ln w="50676">
            <a:solidFill>
              <a:srgbClr val="7A9799"/>
            </a:solidFill>
          </a:ln>
        </p:spPr>
        <p:txBody>
          <a:bodyPr wrap="square" lIns="0" tIns="0" rIns="0" bIns="0" rtlCol="0"/>
          <a:lstStyle/>
          <a:p/>
        </p:txBody>
      </p:sp>
      <p:sp>
        <p:nvSpPr>
          <p:cNvPr id="2" name="Holder 2"/>
          <p:cNvSpPr>
            <a:spLocks noGrp="1"/>
          </p:cNvSpPr>
          <p:nvPr>
            <p:ph type="title"/>
          </p:nvPr>
        </p:nvSpPr>
        <p:spPr>
          <a:xfrm>
            <a:off x="789940" y="247650"/>
            <a:ext cx="7564119" cy="938530"/>
          </a:xfrm>
          <a:prstGeom prst="rect">
            <a:avLst/>
          </a:prstGeom>
        </p:spPr>
        <p:txBody>
          <a:bodyPr wrap="square" lIns="0" tIns="0" rIns="0" bIns="0">
            <a:spAutoFit/>
          </a:bodyPr>
          <a:lstStyle>
            <a:lvl1pPr>
              <a:defRPr sz="3000" b="1" i="0">
                <a:solidFill>
                  <a:srgbClr val="7A9799"/>
                </a:solidFill>
                <a:latin typeface="Georgia" panose="02040502050405020303"/>
                <a:cs typeface="Georgia" panose="02040502050405020303"/>
              </a:defRPr>
            </a:lvl1pPr>
          </a:lstStyle>
          <a:p/>
        </p:txBody>
      </p:sp>
      <p:sp>
        <p:nvSpPr>
          <p:cNvPr id="3" name="Holder 3"/>
          <p:cNvSpPr>
            <a:spLocks noGrp="1"/>
          </p:cNvSpPr>
          <p:nvPr>
            <p:ph type="body" idx="1"/>
          </p:nvPr>
        </p:nvSpPr>
        <p:spPr>
          <a:xfrm>
            <a:off x="575309" y="2580639"/>
            <a:ext cx="7928609" cy="3239770"/>
          </a:xfrm>
          <a:prstGeom prst="rect">
            <a:avLst/>
          </a:prstGeom>
        </p:spPr>
        <p:txBody>
          <a:bodyPr wrap="square" lIns="0" tIns="0" rIns="0" bIns="0">
            <a:spAutoFit/>
          </a:bodyPr>
          <a:lstStyle>
            <a:lvl1pPr>
              <a:defRPr sz="2100" b="1" i="0">
                <a:solidFill>
                  <a:srgbClr val="001F5F"/>
                </a:solidFill>
                <a:latin typeface="Georgia" panose="02040502050405020303"/>
                <a:cs typeface="Georgia" panose="02040502050405020303"/>
              </a:defRPr>
            </a:lvl1pPr>
          </a:lstStyle>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2400" y="2514600"/>
            <a:ext cx="8839200" cy="3876040"/>
          </a:xfrm>
          <a:custGeom>
            <a:avLst/>
            <a:gdLst/>
            <a:ahLst/>
            <a:cxnLst/>
            <a:rect l="l" t="t" r="r" b="b"/>
            <a:pathLst>
              <a:path w="8839200" h="3876040">
                <a:moveTo>
                  <a:pt x="0" y="3876040"/>
                </a:moveTo>
                <a:lnTo>
                  <a:pt x="8839200" y="3876040"/>
                </a:lnTo>
                <a:lnTo>
                  <a:pt x="8839200" y="0"/>
                </a:lnTo>
                <a:lnTo>
                  <a:pt x="0" y="0"/>
                </a:lnTo>
                <a:lnTo>
                  <a:pt x="0" y="3876040"/>
                </a:lnTo>
                <a:close/>
              </a:path>
            </a:pathLst>
          </a:custGeom>
          <a:solidFill>
            <a:srgbClr val="C4D0D6"/>
          </a:solidFill>
        </p:spPr>
        <p:txBody>
          <a:bodyPr wrap="square" lIns="0" tIns="0" rIns="0" bIns="0" rtlCol="0"/>
          <a:lstStyle/>
          <a:p/>
        </p:txBody>
      </p:sp>
      <p:sp>
        <p:nvSpPr>
          <p:cNvPr id="3" name="object 3"/>
          <p:cNvSpPr/>
          <p:nvPr/>
        </p:nvSpPr>
        <p:spPr>
          <a:xfrm>
            <a:off x="152400" y="6700519"/>
            <a:ext cx="8839200" cy="5080"/>
          </a:xfrm>
          <a:custGeom>
            <a:avLst/>
            <a:gdLst/>
            <a:ahLst/>
            <a:cxnLst/>
            <a:rect l="l" t="t" r="r" b="b"/>
            <a:pathLst>
              <a:path w="8839200" h="5079">
                <a:moveTo>
                  <a:pt x="0" y="5079"/>
                </a:moveTo>
                <a:lnTo>
                  <a:pt x="8839200" y="5079"/>
                </a:lnTo>
                <a:lnTo>
                  <a:pt x="8839200" y="0"/>
                </a:lnTo>
                <a:lnTo>
                  <a:pt x="0" y="0"/>
                </a:lnTo>
                <a:lnTo>
                  <a:pt x="0" y="5079"/>
                </a:lnTo>
                <a:close/>
              </a:path>
            </a:pathLst>
          </a:custGeom>
          <a:solidFill>
            <a:srgbClr val="C4D0D6"/>
          </a:solidFill>
        </p:spPr>
        <p:txBody>
          <a:bodyPr wrap="square" lIns="0" tIns="0" rIns="0" bIns="0" rtlCol="0"/>
          <a:lstStyle/>
          <a:p/>
        </p:txBody>
      </p:sp>
      <p:sp>
        <p:nvSpPr>
          <p:cNvPr id="4" name="object 4"/>
          <p:cNvSpPr/>
          <p:nvPr/>
        </p:nvSpPr>
        <p:spPr>
          <a:xfrm>
            <a:off x="0" y="6705600"/>
            <a:ext cx="9144000" cy="152400"/>
          </a:xfrm>
          <a:custGeom>
            <a:avLst/>
            <a:gdLst/>
            <a:ahLst/>
            <a:cxnLst/>
            <a:rect l="l" t="t" r="r" b="b"/>
            <a:pathLst>
              <a:path w="9144000" h="152400">
                <a:moveTo>
                  <a:pt x="9144000" y="0"/>
                </a:moveTo>
                <a:lnTo>
                  <a:pt x="0" y="0"/>
                </a:lnTo>
                <a:lnTo>
                  <a:pt x="0" y="152400"/>
                </a:lnTo>
                <a:lnTo>
                  <a:pt x="9144000" y="152400"/>
                </a:lnTo>
                <a:close/>
              </a:path>
            </a:pathLst>
          </a:custGeom>
          <a:solidFill>
            <a:srgbClr val="FFFFFF"/>
          </a:solidFill>
        </p:spPr>
        <p:txBody>
          <a:bodyPr wrap="square" lIns="0" tIns="0" rIns="0" bIns="0" rtlCol="0"/>
          <a:lstStyle/>
          <a:p/>
        </p:txBody>
      </p:sp>
      <p:sp>
        <p:nvSpPr>
          <p:cNvPr id="5" name="object 5"/>
          <p:cNvSpPr/>
          <p:nvPr/>
        </p:nvSpPr>
        <p:spPr>
          <a:xfrm>
            <a:off x="8991600" y="3810"/>
            <a:ext cx="152400" cy="6854190"/>
          </a:xfrm>
          <a:custGeom>
            <a:avLst/>
            <a:gdLst/>
            <a:ahLst/>
            <a:cxnLst/>
            <a:rect l="l" t="t" r="r" b="b"/>
            <a:pathLst>
              <a:path w="152400" h="6854190">
                <a:moveTo>
                  <a:pt x="152400" y="6854190"/>
                </a:moveTo>
                <a:lnTo>
                  <a:pt x="0" y="6854190"/>
                </a:lnTo>
                <a:lnTo>
                  <a:pt x="0" y="0"/>
                </a:lnTo>
                <a:lnTo>
                  <a:pt x="152400" y="0"/>
                </a:lnTo>
                <a:lnTo>
                  <a:pt x="152400" y="6854190"/>
                </a:lnTo>
                <a:close/>
              </a:path>
            </a:pathLst>
          </a:custGeom>
          <a:solidFill>
            <a:srgbClr val="FFFFFF"/>
          </a:solidFill>
        </p:spPr>
        <p:txBody>
          <a:bodyPr wrap="square" lIns="0" tIns="0" rIns="0" bIns="0" rtlCol="0"/>
          <a:lstStyle/>
          <a:p/>
        </p:txBody>
      </p:sp>
      <p:grpSp>
        <p:nvGrpSpPr>
          <p:cNvPr id="6" name="object 6"/>
          <p:cNvGrpSpPr/>
          <p:nvPr/>
        </p:nvGrpSpPr>
        <p:grpSpPr>
          <a:xfrm>
            <a:off x="0" y="0"/>
            <a:ext cx="9144000" cy="6858000"/>
            <a:chOff x="0" y="0"/>
            <a:chExt cx="9144000" cy="6858000"/>
          </a:xfrm>
        </p:grpSpPr>
        <p:sp>
          <p:nvSpPr>
            <p:cNvPr id="7" name="object 7"/>
            <p:cNvSpPr/>
            <p:nvPr/>
          </p:nvSpPr>
          <p:spPr>
            <a:xfrm>
              <a:off x="0" y="0"/>
              <a:ext cx="9144000" cy="6858000"/>
            </a:xfrm>
            <a:custGeom>
              <a:avLst/>
              <a:gdLst/>
              <a:ahLst/>
              <a:cxnLst/>
              <a:rect l="l" t="t" r="r" b="b"/>
              <a:pathLst>
                <a:path w="9144000" h="6858000">
                  <a:moveTo>
                    <a:pt x="9144000" y="0"/>
                  </a:moveTo>
                  <a:lnTo>
                    <a:pt x="152400" y="0"/>
                  </a:lnTo>
                  <a:lnTo>
                    <a:pt x="0" y="0"/>
                  </a:lnTo>
                  <a:lnTo>
                    <a:pt x="0" y="2514600"/>
                  </a:lnTo>
                  <a:lnTo>
                    <a:pt x="0" y="6858000"/>
                  </a:lnTo>
                  <a:lnTo>
                    <a:pt x="152400" y="6858000"/>
                  </a:lnTo>
                  <a:lnTo>
                    <a:pt x="152400" y="2514600"/>
                  </a:lnTo>
                  <a:lnTo>
                    <a:pt x="9144000" y="2514600"/>
                  </a:lnTo>
                  <a:lnTo>
                    <a:pt x="9144000" y="0"/>
                  </a:lnTo>
                  <a:close/>
                </a:path>
              </a:pathLst>
            </a:custGeom>
            <a:solidFill>
              <a:srgbClr val="FFFFFF"/>
            </a:solidFill>
          </p:spPr>
          <p:txBody>
            <a:bodyPr wrap="square" lIns="0" tIns="0" rIns="0" bIns="0" rtlCol="0"/>
            <a:lstStyle/>
            <a:p/>
          </p:txBody>
        </p:sp>
        <p:sp>
          <p:nvSpPr>
            <p:cNvPr id="8" name="object 8"/>
            <p:cNvSpPr/>
            <p:nvPr/>
          </p:nvSpPr>
          <p:spPr>
            <a:xfrm>
              <a:off x="146050" y="6390640"/>
              <a:ext cx="8832850" cy="309880"/>
            </a:xfrm>
            <a:custGeom>
              <a:avLst/>
              <a:gdLst/>
              <a:ahLst/>
              <a:cxnLst/>
              <a:rect l="l" t="t" r="r" b="b"/>
              <a:pathLst>
                <a:path w="8832850" h="309879">
                  <a:moveTo>
                    <a:pt x="8832850" y="0"/>
                  </a:moveTo>
                  <a:lnTo>
                    <a:pt x="0" y="0"/>
                  </a:lnTo>
                  <a:lnTo>
                    <a:pt x="0" y="309880"/>
                  </a:lnTo>
                  <a:lnTo>
                    <a:pt x="8832850" y="309880"/>
                  </a:lnTo>
                  <a:close/>
                </a:path>
              </a:pathLst>
            </a:custGeom>
            <a:solidFill>
              <a:srgbClr val="8BACAD"/>
            </a:solidFill>
          </p:spPr>
          <p:txBody>
            <a:bodyPr wrap="square" lIns="0" tIns="0" rIns="0" bIns="0" rtlCol="0"/>
            <a:lstStyle/>
            <a:p/>
          </p:txBody>
        </p:sp>
        <p:sp>
          <p:nvSpPr>
            <p:cNvPr id="9" name="object 9"/>
            <p:cNvSpPr/>
            <p:nvPr/>
          </p:nvSpPr>
          <p:spPr>
            <a:xfrm>
              <a:off x="154939" y="2419350"/>
              <a:ext cx="8827770" cy="0"/>
            </a:xfrm>
            <a:custGeom>
              <a:avLst/>
              <a:gdLst/>
              <a:ahLst/>
              <a:cxnLst/>
              <a:rect l="l" t="t" r="r" b="b"/>
              <a:pathLst>
                <a:path w="8827770">
                  <a:moveTo>
                    <a:pt x="0" y="0"/>
                  </a:moveTo>
                  <a:lnTo>
                    <a:pt x="8827769" y="0"/>
                  </a:lnTo>
                </a:path>
              </a:pathLst>
            </a:custGeom>
            <a:ln w="11429">
              <a:solidFill>
                <a:srgbClr val="7A9799"/>
              </a:solidFill>
              <a:prstDash val="sysDot"/>
            </a:ln>
          </p:spPr>
          <p:txBody>
            <a:bodyPr wrap="square" lIns="0" tIns="0" rIns="0" bIns="0" rtlCol="0"/>
            <a:lstStyle/>
            <a:p/>
          </p:txBody>
        </p:sp>
        <p:sp>
          <p:nvSpPr>
            <p:cNvPr id="10" name="object 10"/>
            <p:cNvSpPr/>
            <p:nvPr/>
          </p:nvSpPr>
          <p:spPr>
            <a:xfrm>
              <a:off x="152400" y="152400"/>
              <a:ext cx="8832850" cy="6546850"/>
            </a:xfrm>
            <a:custGeom>
              <a:avLst/>
              <a:gdLst/>
              <a:ahLst/>
              <a:cxnLst/>
              <a:rect l="l" t="t" r="r" b="b"/>
              <a:pathLst>
                <a:path w="8832850" h="6546850">
                  <a:moveTo>
                    <a:pt x="4415790" y="6546850"/>
                  </a:moveTo>
                  <a:lnTo>
                    <a:pt x="0" y="6546850"/>
                  </a:lnTo>
                  <a:lnTo>
                    <a:pt x="0" y="0"/>
                  </a:lnTo>
                  <a:lnTo>
                    <a:pt x="8832850" y="0"/>
                  </a:lnTo>
                  <a:lnTo>
                    <a:pt x="8832850" y="6546850"/>
                  </a:lnTo>
                  <a:lnTo>
                    <a:pt x="4415790" y="6546850"/>
                  </a:lnTo>
                  <a:close/>
                </a:path>
              </a:pathLst>
            </a:custGeom>
            <a:ln w="9344">
              <a:solidFill>
                <a:srgbClr val="7A9799"/>
              </a:solidFill>
            </a:ln>
          </p:spPr>
          <p:txBody>
            <a:bodyPr wrap="square" lIns="0" tIns="0" rIns="0" bIns="0" rtlCol="0"/>
            <a:lstStyle/>
            <a:p/>
          </p:txBody>
        </p:sp>
        <p:sp>
          <p:nvSpPr>
            <p:cNvPr id="11" name="object 11"/>
            <p:cNvSpPr/>
            <p:nvPr/>
          </p:nvSpPr>
          <p:spPr>
            <a:xfrm>
              <a:off x="4267200" y="2114549"/>
              <a:ext cx="609600" cy="609600"/>
            </a:xfrm>
            <a:custGeom>
              <a:avLst/>
              <a:gdLst/>
              <a:ahLst/>
              <a:cxnLst/>
              <a:rect l="l" t="t" r="r" b="b"/>
              <a:pathLst>
                <a:path w="609600" h="609600">
                  <a:moveTo>
                    <a:pt x="609600" y="304800"/>
                  </a:moveTo>
                  <a:lnTo>
                    <a:pt x="605726" y="254304"/>
                  </a:lnTo>
                  <a:lnTo>
                    <a:pt x="594474" y="206781"/>
                  </a:lnTo>
                  <a:lnTo>
                    <a:pt x="576402" y="162801"/>
                  </a:lnTo>
                  <a:lnTo>
                    <a:pt x="552043" y="122897"/>
                  </a:lnTo>
                  <a:lnTo>
                    <a:pt x="521970" y="87642"/>
                  </a:lnTo>
                  <a:lnTo>
                    <a:pt x="486702" y="57556"/>
                  </a:lnTo>
                  <a:lnTo>
                    <a:pt x="446798" y="33197"/>
                  </a:lnTo>
                  <a:lnTo>
                    <a:pt x="402818" y="15125"/>
                  </a:lnTo>
                  <a:lnTo>
                    <a:pt x="355295" y="3873"/>
                  </a:lnTo>
                  <a:lnTo>
                    <a:pt x="304800" y="0"/>
                  </a:lnTo>
                  <a:lnTo>
                    <a:pt x="254292" y="3873"/>
                  </a:lnTo>
                  <a:lnTo>
                    <a:pt x="206768" y="15125"/>
                  </a:lnTo>
                  <a:lnTo>
                    <a:pt x="162788" y="33197"/>
                  </a:lnTo>
                  <a:lnTo>
                    <a:pt x="122885" y="57556"/>
                  </a:lnTo>
                  <a:lnTo>
                    <a:pt x="87630" y="87630"/>
                  </a:lnTo>
                  <a:lnTo>
                    <a:pt x="57543" y="122897"/>
                  </a:lnTo>
                  <a:lnTo>
                    <a:pt x="33185" y="162801"/>
                  </a:lnTo>
                  <a:lnTo>
                    <a:pt x="15113" y="206781"/>
                  </a:lnTo>
                  <a:lnTo>
                    <a:pt x="3860" y="254304"/>
                  </a:lnTo>
                  <a:lnTo>
                    <a:pt x="0" y="304800"/>
                  </a:lnTo>
                  <a:lnTo>
                    <a:pt x="3860" y="355307"/>
                  </a:lnTo>
                  <a:lnTo>
                    <a:pt x="15113" y="402831"/>
                  </a:lnTo>
                  <a:lnTo>
                    <a:pt x="33185" y="446811"/>
                  </a:lnTo>
                  <a:lnTo>
                    <a:pt x="57543" y="486714"/>
                  </a:lnTo>
                  <a:lnTo>
                    <a:pt x="87630" y="521970"/>
                  </a:lnTo>
                  <a:lnTo>
                    <a:pt x="122885" y="552056"/>
                  </a:lnTo>
                  <a:lnTo>
                    <a:pt x="162788" y="576414"/>
                  </a:lnTo>
                  <a:lnTo>
                    <a:pt x="206768" y="594487"/>
                  </a:lnTo>
                  <a:lnTo>
                    <a:pt x="254292" y="605739"/>
                  </a:lnTo>
                  <a:lnTo>
                    <a:pt x="304800" y="609600"/>
                  </a:lnTo>
                  <a:lnTo>
                    <a:pt x="355295" y="605739"/>
                  </a:lnTo>
                  <a:lnTo>
                    <a:pt x="402818" y="594487"/>
                  </a:lnTo>
                  <a:lnTo>
                    <a:pt x="446798" y="576414"/>
                  </a:lnTo>
                  <a:lnTo>
                    <a:pt x="486702" y="552056"/>
                  </a:lnTo>
                  <a:lnTo>
                    <a:pt x="521957" y="521970"/>
                  </a:lnTo>
                  <a:lnTo>
                    <a:pt x="552043" y="486714"/>
                  </a:lnTo>
                  <a:lnTo>
                    <a:pt x="576402" y="446811"/>
                  </a:lnTo>
                  <a:lnTo>
                    <a:pt x="594474" y="402831"/>
                  </a:lnTo>
                  <a:lnTo>
                    <a:pt x="605726" y="355307"/>
                  </a:lnTo>
                  <a:lnTo>
                    <a:pt x="609600" y="304800"/>
                  </a:lnTo>
                  <a:close/>
                </a:path>
              </a:pathLst>
            </a:custGeom>
            <a:solidFill>
              <a:srgbClr val="FFFFFF"/>
            </a:solidFill>
          </p:spPr>
          <p:txBody>
            <a:bodyPr wrap="square" lIns="0" tIns="0" rIns="0" bIns="0" rtlCol="0"/>
            <a:lstStyle/>
            <a:p/>
          </p:txBody>
        </p:sp>
        <p:sp>
          <p:nvSpPr>
            <p:cNvPr id="12" name="object 12"/>
            <p:cNvSpPr/>
            <p:nvPr/>
          </p:nvSpPr>
          <p:spPr>
            <a:xfrm>
              <a:off x="4362450" y="2209800"/>
              <a:ext cx="419100" cy="420370"/>
            </a:xfrm>
            <a:custGeom>
              <a:avLst/>
              <a:gdLst/>
              <a:ahLst/>
              <a:cxnLst/>
              <a:rect l="l" t="t" r="r" b="b"/>
              <a:pathLst>
                <a:path w="419100" h="420369">
                  <a:moveTo>
                    <a:pt x="209550" y="0"/>
                  </a:moveTo>
                  <a:lnTo>
                    <a:pt x="258746" y="5342"/>
                  </a:lnTo>
                  <a:lnTo>
                    <a:pt x="303300" y="20660"/>
                  </a:lnTo>
                  <a:lnTo>
                    <a:pt x="342144" y="44886"/>
                  </a:lnTo>
                  <a:lnTo>
                    <a:pt x="374213" y="76955"/>
                  </a:lnTo>
                  <a:lnTo>
                    <a:pt x="398439" y="115799"/>
                  </a:lnTo>
                  <a:lnTo>
                    <a:pt x="413757" y="160353"/>
                  </a:lnTo>
                  <a:lnTo>
                    <a:pt x="419100" y="209550"/>
                  </a:lnTo>
                  <a:lnTo>
                    <a:pt x="413757" y="258817"/>
                  </a:lnTo>
                  <a:lnTo>
                    <a:pt x="398439" y="303552"/>
                  </a:lnTo>
                  <a:lnTo>
                    <a:pt x="374213" y="342644"/>
                  </a:lnTo>
                  <a:lnTo>
                    <a:pt x="342144" y="374983"/>
                  </a:lnTo>
                  <a:lnTo>
                    <a:pt x="303300" y="399457"/>
                  </a:lnTo>
                  <a:lnTo>
                    <a:pt x="258746" y="414956"/>
                  </a:lnTo>
                  <a:lnTo>
                    <a:pt x="209550" y="420370"/>
                  </a:lnTo>
                  <a:lnTo>
                    <a:pt x="160353" y="414956"/>
                  </a:lnTo>
                  <a:lnTo>
                    <a:pt x="115799" y="399457"/>
                  </a:lnTo>
                  <a:lnTo>
                    <a:pt x="76955" y="374983"/>
                  </a:lnTo>
                  <a:lnTo>
                    <a:pt x="44886" y="342644"/>
                  </a:lnTo>
                  <a:lnTo>
                    <a:pt x="20660" y="303552"/>
                  </a:lnTo>
                  <a:lnTo>
                    <a:pt x="5342" y="258817"/>
                  </a:lnTo>
                  <a:lnTo>
                    <a:pt x="0" y="209550"/>
                  </a:lnTo>
                  <a:lnTo>
                    <a:pt x="5342" y="160353"/>
                  </a:lnTo>
                  <a:lnTo>
                    <a:pt x="20660" y="115799"/>
                  </a:lnTo>
                  <a:lnTo>
                    <a:pt x="44886" y="76955"/>
                  </a:lnTo>
                  <a:lnTo>
                    <a:pt x="76955" y="44886"/>
                  </a:lnTo>
                  <a:lnTo>
                    <a:pt x="115799" y="20660"/>
                  </a:lnTo>
                  <a:lnTo>
                    <a:pt x="160353" y="5342"/>
                  </a:lnTo>
                  <a:lnTo>
                    <a:pt x="209550" y="0"/>
                  </a:lnTo>
                  <a:close/>
                </a:path>
                <a:path w="419100" h="420369">
                  <a:moveTo>
                    <a:pt x="0" y="0"/>
                  </a:moveTo>
                  <a:lnTo>
                    <a:pt x="0" y="0"/>
                  </a:lnTo>
                </a:path>
                <a:path w="419100" h="420369">
                  <a:moveTo>
                    <a:pt x="419100" y="420370"/>
                  </a:moveTo>
                  <a:lnTo>
                    <a:pt x="419100" y="420370"/>
                  </a:lnTo>
                </a:path>
              </a:pathLst>
            </a:custGeom>
            <a:ln w="50676">
              <a:solidFill>
                <a:srgbClr val="7A9799"/>
              </a:solidFill>
            </a:ln>
          </p:spPr>
          <p:txBody>
            <a:bodyPr wrap="square" lIns="0" tIns="0" rIns="0" bIns="0" rtlCol="0"/>
            <a:lstStyle/>
            <a:p/>
          </p:txBody>
        </p:sp>
      </p:grpSp>
      <p:sp>
        <p:nvSpPr>
          <p:cNvPr id="13" name="object 13"/>
          <p:cNvSpPr txBox="1">
            <a:spLocks noGrp="1"/>
          </p:cNvSpPr>
          <p:nvPr>
            <p:ph type="title"/>
          </p:nvPr>
        </p:nvSpPr>
        <p:spPr>
          <a:xfrm>
            <a:off x="1033780" y="505459"/>
            <a:ext cx="7225665" cy="1671320"/>
          </a:xfrm>
          <a:prstGeom prst="rect">
            <a:avLst/>
          </a:prstGeom>
        </p:spPr>
        <p:txBody>
          <a:bodyPr vert="horz" wrap="square" lIns="0" tIns="12700" rIns="0" bIns="0" rtlCol="0">
            <a:spAutoFit/>
          </a:bodyPr>
          <a:lstStyle/>
          <a:p>
            <a:pPr marL="1622425" marR="5080" indent="-1610360">
              <a:lnSpc>
                <a:spcPct val="100000"/>
              </a:lnSpc>
              <a:spcBef>
                <a:spcPts val="100"/>
              </a:spcBef>
            </a:pPr>
            <a:r>
              <a:rPr sz="5400" spc="-5" dirty="0">
                <a:solidFill>
                  <a:srgbClr val="D06248"/>
                </a:solidFill>
              </a:rPr>
              <a:t>Communication</a:t>
            </a:r>
            <a:r>
              <a:rPr sz="5400" spc="-110" dirty="0">
                <a:solidFill>
                  <a:srgbClr val="D06248"/>
                </a:solidFill>
              </a:rPr>
              <a:t> </a:t>
            </a:r>
            <a:r>
              <a:rPr sz="5400" spc="-5" dirty="0">
                <a:solidFill>
                  <a:srgbClr val="D06248"/>
                </a:solidFill>
              </a:rPr>
              <a:t>and  Its</a:t>
            </a:r>
            <a:r>
              <a:rPr sz="5400" spc="-15" dirty="0">
                <a:solidFill>
                  <a:srgbClr val="D06248"/>
                </a:solidFill>
              </a:rPr>
              <a:t> </a:t>
            </a:r>
            <a:r>
              <a:rPr sz="5400" dirty="0">
                <a:solidFill>
                  <a:srgbClr val="D06248"/>
                </a:solidFill>
              </a:rPr>
              <a:t>Process</a:t>
            </a:r>
            <a:r>
              <a:rPr sz="4200" b="0" dirty="0">
                <a:solidFill>
                  <a:srgbClr val="D06248"/>
                </a:solidFill>
                <a:latin typeface="Georgia" panose="02040502050405020303"/>
                <a:cs typeface="Georgia" panose="02040502050405020303"/>
              </a:rPr>
              <a:t>.</a:t>
            </a:r>
            <a:endParaRPr sz="4200">
              <a:latin typeface="Georgia" panose="02040502050405020303"/>
              <a:cs typeface="Georgia" panose="02040502050405020303"/>
            </a:endParaRPr>
          </a:p>
        </p:txBody>
      </p:sp>
      <p:sp>
        <p:nvSpPr>
          <p:cNvPr id="14" name="object 14"/>
          <p:cNvSpPr/>
          <p:nvPr/>
        </p:nvSpPr>
        <p:spPr>
          <a:xfrm>
            <a:off x="4645659" y="2889250"/>
            <a:ext cx="3529330" cy="3163570"/>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789940" y="247650"/>
            <a:ext cx="7564119" cy="615315"/>
          </a:xfrm>
        </p:spPr>
        <p:txBody>
          <a:bodyPr wrap="square"/>
          <a:p>
            <a:r>
              <a:rPr lang="en-IN" altLang="en-US" sz="4000">
                <a:solidFill>
                  <a:srgbClr val="00B050"/>
                </a:solidFill>
              </a:rPr>
              <a:t>                  MEANING</a:t>
            </a:r>
            <a:endParaRPr lang="en-IN" altLang="en-US" sz="4000">
              <a:solidFill>
                <a:srgbClr val="00B050"/>
              </a:solidFill>
            </a:endParaRPr>
          </a:p>
        </p:txBody>
      </p:sp>
      <p:sp>
        <p:nvSpPr>
          <p:cNvPr id="5" name="Text Placeholder 4"/>
          <p:cNvSpPr>
            <a:spLocks noGrp="1"/>
          </p:cNvSpPr>
          <p:nvPr>
            <p:ph type="body" idx="1"/>
          </p:nvPr>
        </p:nvSpPr>
        <p:spPr>
          <a:xfrm>
            <a:off x="291465" y="1670050"/>
            <a:ext cx="8527415" cy="4847590"/>
          </a:xfrm>
        </p:spPr>
        <p:txBody>
          <a:bodyPr wrap="square"/>
          <a:p>
            <a:pPr marL="342900" indent="-342900">
              <a:buFont typeface="Wingdings" panose="05000000000000000000" charset="0"/>
              <a:buChar char="Ø"/>
            </a:pPr>
            <a:r>
              <a:rPr lang="en-IN" altLang="en-US">
                <a:solidFill>
                  <a:schemeClr val="tx1"/>
                </a:solidFill>
              </a:rPr>
              <a:t>The word communication has been derived from the Latin word “ </a:t>
            </a:r>
            <a:r>
              <a:rPr lang="en-IN" altLang="en-US">
                <a:solidFill>
                  <a:srgbClr val="FF0000"/>
                </a:solidFill>
              </a:rPr>
              <a:t>communicare</a:t>
            </a:r>
            <a:r>
              <a:rPr lang="en-IN" altLang="en-US">
                <a:solidFill>
                  <a:schemeClr val="tx1"/>
                </a:solidFill>
              </a:rPr>
              <a:t>” means ‘</a:t>
            </a:r>
            <a:r>
              <a:rPr lang="en-IN" altLang="en-US">
                <a:solidFill>
                  <a:srgbClr val="FF0000"/>
                </a:solidFill>
              </a:rPr>
              <a:t>to share’</a:t>
            </a:r>
            <a:r>
              <a:rPr lang="en-IN" altLang="en-US">
                <a:solidFill>
                  <a:schemeClr val="tx1"/>
                </a:solidFill>
              </a:rPr>
              <a:t>.</a:t>
            </a:r>
            <a:endParaRPr lang="en-IN" altLang="en-US">
              <a:solidFill>
                <a:schemeClr val="tx1"/>
              </a:solidFill>
            </a:endParaRPr>
          </a:p>
          <a:p>
            <a:pPr marL="342900" indent="-342900">
              <a:buFont typeface="Wingdings" panose="05000000000000000000" charset="0"/>
              <a:buChar char="Ø"/>
            </a:pPr>
            <a:endParaRPr lang="en-IN" altLang="en-US">
              <a:solidFill>
                <a:schemeClr val="tx1"/>
              </a:solidFill>
            </a:endParaRPr>
          </a:p>
          <a:p>
            <a:pPr marL="342900" indent="-342900">
              <a:buFont typeface="Wingdings" panose="05000000000000000000" charset="0"/>
              <a:buChar char="Ø"/>
            </a:pPr>
            <a:r>
              <a:rPr lang="en-IN" altLang="en-US">
                <a:solidFill>
                  <a:schemeClr val="tx1"/>
                </a:solidFill>
              </a:rPr>
              <a:t> Communication can be defined as exchange of </a:t>
            </a:r>
            <a:r>
              <a:rPr lang="en-IN" altLang="en-US">
                <a:solidFill>
                  <a:srgbClr val="FF0000"/>
                </a:solidFill>
              </a:rPr>
              <a:t>facts</a:t>
            </a:r>
            <a:r>
              <a:rPr lang="en-IN" altLang="en-US">
                <a:solidFill>
                  <a:schemeClr val="tx1"/>
                </a:solidFill>
              </a:rPr>
              <a:t>, </a:t>
            </a:r>
            <a:r>
              <a:rPr lang="en-IN" altLang="en-US">
                <a:solidFill>
                  <a:srgbClr val="FF0000"/>
                </a:solidFill>
              </a:rPr>
              <a:t>ideas</a:t>
            </a:r>
            <a:r>
              <a:rPr lang="en-IN" altLang="en-US">
                <a:solidFill>
                  <a:schemeClr val="tx1"/>
                </a:solidFill>
              </a:rPr>
              <a:t>, </a:t>
            </a:r>
            <a:r>
              <a:rPr lang="en-IN" altLang="en-US">
                <a:solidFill>
                  <a:srgbClr val="FF0000"/>
                </a:solidFill>
              </a:rPr>
              <a:t>opinions </a:t>
            </a:r>
            <a:r>
              <a:rPr lang="en-IN" altLang="en-US">
                <a:solidFill>
                  <a:schemeClr val="tx1"/>
                </a:solidFill>
              </a:rPr>
              <a:t>or </a:t>
            </a:r>
            <a:r>
              <a:rPr lang="en-IN" altLang="en-US">
                <a:solidFill>
                  <a:srgbClr val="FF0000"/>
                </a:solidFill>
              </a:rPr>
              <a:t>emotions </a:t>
            </a:r>
            <a:r>
              <a:rPr lang="en-IN" altLang="en-US">
                <a:solidFill>
                  <a:schemeClr val="tx1"/>
                </a:solidFill>
              </a:rPr>
              <a:t>of two or more person.</a:t>
            </a:r>
            <a:endParaRPr lang="en-IN" altLang="en-US">
              <a:solidFill>
                <a:schemeClr val="tx1"/>
              </a:solidFill>
            </a:endParaRPr>
          </a:p>
          <a:p>
            <a:pPr indent="0">
              <a:buFont typeface="Wingdings" panose="05000000000000000000" charset="0"/>
              <a:buNone/>
            </a:pPr>
            <a:endParaRPr lang="en-IN" altLang="en-US">
              <a:solidFill>
                <a:schemeClr val="tx1"/>
              </a:solidFill>
            </a:endParaRPr>
          </a:p>
          <a:p>
            <a:pPr marL="342900" indent="-342900">
              <a:buFont typeface="Wingdings" panose="05000000000000000000" charset="0"/>
              <a:buChar char="Ø"/>
            </a:pPr>
            <a:r>
              <a:rPr lang="en-IN" altLang="en-US">
                <a:solidFill>
                  <a:schemeClr val="tx1"/>
                </a:solidFill>
              </a:rPr>
              <a:t> It is a process through which two or more persons exchange ideas to create better understanding.</a:t>
            </a:r>
            <a:endParaRPr lang="en-IN" altLang="en-US">
              <a:solidFill>
                <a:schemeClr val="tx1"/>
              </a:solidFill>
            </a:endParaRPr>
          </a:p>
          <a:p>
            <a:pPr indent="0">
              <a:buFont typeface="Wingdings" panose="05000000000000000000" charset="0"/>
              <a:buNone/>
            </a:pPr>
            <a:endParaRPr lang="en-IN" altLang="en-US">
              <a:solidFill>
                <a:schemeClr val="tx1"/>
              </a:solidFill>
            </a:endParaRPr>
          </a:p>
          <a:p>
            <a:pPr marL="342900" indent="-342900">
              <a:buFont typeface="Wingdings" panose="05000000000000000000" charset="0"/>
              <a:buChar char="Ø"/>
            </a:pPr>
            <a:r>
              <a:rPr lang="en-IN" altLang="en-US">
                <a:solidFill>
                  <a:schemeClr val="tx1"/>
                </a:solidFill>
              </a:rPr>
              <a:t> Communication is completed when the receiver understands the message in the same sense that the communicator intends to convey.</a:t>
            </a:r>
            <a:endParaRPr lang="en-IN" altLang="en-US">
              <a:solidFill>
                <a:schemeClr val="tx1"/>
              </a:solidFill>
            </a:endParaRPr>
          </a:p>
          <a:p>
            <a:pPr marL="342900" indent="-342900">
              <a:buFont typeface="Wingdings" panose="05000000000000000000" charset="0"/>
              <a:buChar char="Ø"/>
            </a:pPr>
            <a:endParaRPr lang="en-IN" altLang="en-US">
              <a:solidFill>
                <a:schemeClr val="tx1"/>
              </a:solidFill>
            </a:endParaRPr>
          </a:p>
          <a:p>
            <a:pPr marL="342900" indent="-342900">
              <a:buFont typeface="Wingdings" panose="05000000000000000000" charset="0"/>
              <a:buChar char="Ø"/>
            </a:pPr>
            <a:endParaRPr lang="en-IN" altLang="en-US">
              <a:solidFill>
                <a:schemeClr val="tx1"/>
              </a:solidFill>
            </a:endParaRPr>
          </a:p>
          <a:p>
            <a:pPr marL="342900" indent="-342900">
              <a:buFont typeface="Wingdings" panose="05000000000000000000" charset="0"/>
              <a:buChar char="Ø"/>
            </a:pPr>
            <a:endParaRPr lang="en-I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789940" y="247650"/>
            <a:ext cx="7564119" cy="615315"/>
          </a:xfrm>
        </p:spPr>
        <p:txBody>
          <a:bodyPr wrap="square"/>
          <a:p>
            <a:r>
              <a:rPr lang="en-IN" altLang="en-US" sz="4000">
                <a:solidFill>
                  <a:srgbClr val="00B050"/>
                </a:solidFill>
              </a:rPr>
              <a:t>            DEFINITION</a:t>
            </a:r>
            <a:endParaRPr lang="en-IN" altLang="en-US" sz="4000">
              <a:solidFill>
                <a:srgbClr val="00B050"/>
              </a:solidFill>
            </a:endParaRPr>
          </a:p>
        </p:txBody>
      </p:sp>
      <p:sp>
        <p:nvSpPr>
          <p:cNvPr id="5" name="Text Placeholder 4"/>
          <p:cNvSpPr>
            <a:spLocks noGrp="1"/>
          </p:cNvSpPr>
          <p:nvPr>
            <p:ph type="body" idx="1"/>
          </p:nvPr>
        </p:nvSpPr>
        <p:spPr>
          <a:xfrm>
            <a:off x="291465" y="1670050"/>
            <a:ext cx="8527415" cy="5170805"/>
          </a:xfrm>
        </p:spPr>
        <p:txBody>
          <a:bodyPr wrap="square"/>
          <a:p>
            <a:pPr marL="342900" indent="-342900">
              <a:buFont typeface="Wingdings" panose="05000000000000000000" charset="0"/>
              <a:buChar char="Ø"/>
            </a:pPr>
            <a:r>
              <a:rPr lang="en-IN" altLang="en-US">
                <a:solidFill>
                  <a:schemeClr val="tx1"/>
                </a:solidFill>
              </a:rPr>
              <a:t> According to </a:t>
            </a:r>
            <a:r>
              <a:rPr lang="en-IN" altLang="en-US">
                <a:solidFill>
                  <a:srgbClr val="FF0000"/>
                </a:solidFill>
              </a:rPr>
              <a:t>THEO HAIMANN </a:t>
            </a:r>
            <a:endParaRPr lang="en-IN" altLang="en-US">
              <a:solidFill>
                <a:srgbClr val="FF0000"/>
              </a:solidFill>
            </a:endParaRPr>
          </a:p>
          <a:p>
            <a:pPr indent="0">
              <a:buFont typeface="Wingdings" panose="05000000000000000000" charset="0"/>
              <a:buNone/>
            </a:pPr>
            <a:r>
              <a:rPr lang="en-IN" altLang="en-US">
                <a:solidFill>
                  <a:srgbClr val="FF0000"/>
                </a:solidFill>
              </a:rPr>
              <a:t>                </a:t>
            </a:r>
            <a:r>
              <a:rPr lang="en-IN" altLang="en-US">
                <a:solidFill>
                  <a:schemeClr val="tx1"/>
                </a:solidFill>
              </a:rPr>
              <a:t>“ Communication means the process of  passing information and understanding from one person to another.</a:t>
            </a:r>
            <a:endParaRPr lang="en-IN" altLang="en-US">
              <a:solidFill>
                <a:schemeClr val="tx1"/>
              </a:solidFill>
            </a:endParaRPr>
          </a:p>
          <a:p>
            <a:pPr marL="342900" indent="-342900">
              <a:buFont typeface="Wingdings" panose="05000000000000000000" charset="0"/>
              <a:buChar char="Ø"/>
            </a:pPr>
            <a:endParaRPr lang="en-IN" altLang="en-US">
              <a:solidFill>
                <a:schemeClr val="tx1"/>
              </a:solidFill>
            </a:endParaRPr>
          </a:p>
          <a:p>
            <a:pPr marL="342900" indent="-342900">
              <a:buFont typeface="Wingdings" panose="05000000000000000000" charset="0"/>
              <a:buChar char="Ø"/>
            </a:pPr>
            <a:r>
              <a:rPr lang="en-IN" altLang="en-US">
                <a:solidFill>
                  <a:schemeClr val="tx1"/>
                </a:solidFill>
              </a:rPr>
              <a:t> According to the </a:t>
            </a:r>
            <a:r>
              <a:rPr lang="en-IN" altLang="en-US">
                <a:solidFill>
                  <a:srgbClr val="FF0000"/>
                </a:solidFill>
              </a:rPr>
              <a:t>W</a:t>
            </a:r>
            <a:r>
              <a:rPr lang="en-IN" altLang="en-US">
                <a:solidFill>
                  <a:schemeClr val="tx1"/>
                </a:solidFill>
              </a:rPr>
              <a:t>.</a:t>
            </a:r>
            <a:r>
              <a:rPr lang="en-IN" altLang="en-US">
                <a:solidFill>
                  <a:srgbClr val="FF0000"/>
                </a:solidFill>
              </a:rPr>
              <a:t>H NEWMAN </a:t>
            </a:r>
            <a:r>
              <a:rPr lang="en-IN" altLang="en-US">
                <a:solidFill>
                  <a:schemeClr val="tx1"/>
                </a:solidFill>
              </a:rPr>
              <a:t>and  </a:t>
            </a:r>
            <a:r>
              <a:rPr lang="en-IN" altLang="en-US">
                <a:solidFill>
                  <a:srgbClr val="FF0000"/>
                </a:solidFill>
              </a:rPr>
              <a:t>C</a:t>
            </a:r>
            <a:r>
              <a:rPr lang="en-IN" altLang="en-US">
                <a:solidFill>
                  <a:schemeClr val="tx1"/>
                </a:solidFill>
              </a:rPr>
              <a:t>.</a:t>
            </a:r>
            <a:r>
              <a:rPr lang="en-IN" altLang="en-US">
                <a:solidFill>
                  <a:srgbClr val="FF0000"/>
                </a:solidFill>
              </a:rPr>
              <a:t>F SAUMMER</a:t>
            </a:r>
            <a:endParaRPr lang="en-IN" altLang="en-US">
              <a:solidFill>
                <a:schemeClr val="tx1"/>
              </a:solidFill>
            </a:endParaRPr>
          </a:p>
          <a:p>
            <a:pPr indent="0">
              <a:buFont typeface="Wingdings" panose="05000000000000000000" charset="0"/>
              <a:buNone/>
            </a:pPr>
            <a:endParaRPr lang="en-IN" altLang="en-US">
              <a:solidFill>
                <a:schemeClr val="tx1"/>
              </a:solidFill>
            </a:endParaRPr>
          </a:p>
          <a:p>
            <a:pPr indent="0">
              <a:buFont typeface="Wingdings" panose="05000000000000000000" charset="0"/>
              <a:buNone/>
            </a:pPr>
            <a:r>
              <a:rPr lang="en-IN" altLang="en-US">
                <a:solidFill>
                  <a:schemeClr val="tx1"/>
                </a:solidFill>
              </a:rPr>
              <a:t>“ Communication is an exchange of facts, ideas, opinions or emotions by two or more person”</a:t>
            </a:r>
            <a:endParaRPr lang="en-IN" altLang="en-US">
              <a:solidFill>
                <a:schemeClr val="tx1"/>
              </a:solidFill>
            </a:endParaRPr>
          </a:p>
          <a:p>
            <a:pPr indent="0">
              <a:buFont typeface="Wingdings" panose="05000000000000000000" charset="0"/>
              <a:buNone/>
            </a:pPr>
            <a:endParaRPr lang="en-IN" altLang="en-US">
              <a:solidFill>
                <a:schemeClr val="tx1"/>
              </a:solidFill>
            </a:endParaRPr>
          </a:p>
          <a:p>
            <a:pPr marL="342900" indent="-342900">
              <a:buFont typeface="Wingdings" panose="05000000000000000000" charset="0"/>
              <a:buChar char="Ø"/>
            </a:pPr>
            <a:r>
              <a:rPr lang="en-IN" altLang="en-US">
                <a:solidFill>
                  <a:schemeClr val="tx1"/>
                </a:solidFill>
              </a:rPr>
              <a:t> According to </a:t>
            </a:r>
            <a:r>
              <a:rPr lang="en-IN" altLang="en-US">
                <a:solidFill>
                  <a:srgbClr val="FF0000"/>
                </a:solidFill>
              </a:rPr>
              <a:t>Aristotle</a:t>
            </a:r>
            <a:endParaRPr lang="en-IN" altLang="en-US">
              <a:solidFill>
                <a:schemeClr val="tx1"/>
              </a:solidFill>
            </a:endParaRPr>
          </a:p>
          <a:p>
            <a:pPr indent="0">
              <a:buFont typeface="Wingdings" panose="05000000000000000000" charset="0"/>
              <a:buNone/>
            </a:pPr>
            <a:r>
              <a:rPr lang="en-IN" altLang="en-US">
                <a:solidFill>
                  <a:schemeClr val="tx1"/>
                </a:solidFill>
              </a:rPr>
              <a:t>  “ Communication is means of persuasion to influence others so that desired effect is achieved.</a:t>
            </a:r>
            <a:endParaRPr lang="en-IN" altLang="en-US">
              <a:solidFill>
                <a:schemeClr val="tx1"/>
              </a:solidFill>
            </a:endParaRPr>
          </a:p>
          <a:p>
            <a:pPr indent="0">
              <a:buFont typeface="Wingdings" panose="05000000000000000000" charset="0"/>
              <a:buNone/>
            </a:pPr>
            <a:endParaRPr lang="en-IN" altLang="en-US">
              <a:solidFill>
                <a:schemeClr val="tx1"/>
              </a:solidFill>
            </a:endParaRPr>
          </a:p>
          <a:p>
            <a:pPr marL="342900" indent="-342900">
              <a:buFont typeface="Wingdings" panose="05000000000000000000" charset="0"/>
              <a:buChar char="Ø"/>
            </a:pPr>
            <a:endParaRPr lang="en-IN" altLang="en-US">
              <a:solidFill>
                <a:schemeClr val="tx1"/>
              </a:solidFill>
            </a:endParaRPr>
          </a:p>
          <a:p>
            <a:pPr marL="342900" indent="-342900">
              <a:buFont typeface="Wingdings" panose="05000000000000000000" charset="0"/>
              <a:buChar char="Ø"/>
            </a:pPr>
            <a:endParaRPr lang="en-IN" altLang="en-US">
              <a:solidFill>
                <a:schemeClr val="tx1"/>
              </a:solidFill>
            </a:endParaRPr>
          </a:p>
          <a:p>
            <a:pPr marL="342900" indent="-342900">
              <a:buFont typeface="Wingdings" panose="05000000000000000000" charset="0"/>
              <a:buChar char="Ø"/>
            </a:pPr>
            <a:endParaRPr lang="en-I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 calcmode="lin" valueType="num">
                                      <p:cBhvr additive="base">
                                        <p:cTn id="1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 calcmode="lin" valueType="num">
                                      <p:cBhvr additive="base">
                                        <p:cTn id="25"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 calcmode="lin" valueType="num">
                                      <p:cBhvr additive="base">
                                        <p:cTn id="3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 calcmode="lin" valueType="num">
                                      <p:cBhvr additive="base">
                                        <p:cTn id="37"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02870" y="1447800"/>
              <a:ext cx="8812530" cy="4800600"/>
            </a:xfrm>
            <a:prstGeom prst="rect">
              <a:avLst/>
            </a:prstGeom>
            <a:blipFill>
              <a:blip r:embed="rId1" cstate="print"/>
              <a:stretch>
                <a:fillRect/>
              </a:stretch>
            </a:blipFill>
          </p:spPr>
          <p:txBody>
            <a:bodyPr wrap="square" lIns="0" tIns="0" rIns="0" bIns="0" rtlCol="0"/>
            <a:lstStyle/>
            <a:p/>
          </p:txBody>
        </p:sp>
        <p:sp>
          <p:nvSpPr>
            <p:cNvPr id="4" name="object 4"/>
            <p:cNvSpPr/>
            <p:nvPr/>
          </p:nvSpPr>
          <p:spPr>
            <a:xfrm>
              <a:off x="292100" y="226059"/>
              <a:ext cx="8547100" cy="999490"/>
            </a:xfrm>
            <a:prstGeom prst="rect">
              <a:avLst/>
            </a:prstGeom>
            <a:blipFill>
              <a:blip r:embed="rId2" cstate="print"/>
              <a:stretch>
                <a:fillRect/>
              </a:stretch>
            </a:blipFill>
          </p:spPr>
          <p:txBody>
            <a:bodyPr wrap="square" lIns="0" tIns="0" rIns="0" bIns="0" rtlCol="0"/>
            <a:lstStyle/>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0540" y="1953259"/>
            <a:ext cx="7886700" cy="2593340"/>
          </a:xfrm>
          <a:prstGeom prst="rect">
            <a:avLst/>
          </a:prstGeom>
        </p:spPr>
        <p:txBody>
          <a:bodyPr vert="horz" wrap="square" lIns="0" tIns="85725" rIns="0" bIns="0" rtlCol="0">
            <a:spAutoFit/>
          </a:bodyPr>
          <a:lstStyle/>
          <a:p>
            <a:pPr marL="311150" marR="30480" indent="-273050">
              <a:lnSpc>
                <a:spcPct val="80000"/>
              </a:lnSpc>
              <a:spcBef>
                <a:spcPts val="675"/>
              </a:spcBef>
            </a:pPr>
            <a:r>
              <a:rPr sz="3075" b="0" spc="15" baseline="9000" dirty="0">
                <a:solidFill>
                  <a:srgbClr val="D06248"/>
                </a:solidFill>
                <a:latin typeface="UnDotum"/>
                <a:cs typeface="UnDotum"/>
              </a:rPr>
              <a:t></a:t>
            </a:r>
            <a:r>
              <a:rPr lang="en-IN" sz="3075" b="0" spc="15" baseline="9000" dirty="0">
                <a:solidFill>
                  <a:srgbClr val="D06248"/>
                </a:solidFill>
                <a:latin typeface="UnDotum"/>
                <a:cs typeface="UnDotum"/>
              </a:rPr>
              <a:t>                     </a:t>
            </a:r>
            <a:r>
              <a:rPr sz="3600" spc="10" dirty="0">
                <a:solidFill>
                  <a:srgbClr val="7030A0"/>
                </a:solidFill>
                <a:latin typeface="Times New Roman" panose="02020603050405020304"/>
                <a:cs typeface="Times New Roman" panose="02020603050405020304"/>
              </a:rPr>
              <a:t>Message</a:t>
            </a:r>
            <a:br>
              <a:rPr sz="3600" spc="10" dirty="0">
                <a:solidFill>
                  <a:srgbClr val="7030A0"/>
                </a:solidFill>
                <a:latin typeface="Times New Roman" panose="02020603050405020304"/>
                <a:cs typeface="Times New Roman" panose="02020603050405020304"/>
              </a:rPr>
            </a:br>
            <a:br>
              <a:rPr sz="2400" b="0" spc="10" dirty="0">
                <a:solidFill>
                  <a:srgbClr val="000000"/>
                </a:solidFill>
                <a:latin typeface="Times New Roman" panose="02020603050405020304"/>
                <a:cs typeface="Times New Roman" panose="02020603050405020304"/>
              </a:rPr>
            </a:br>
            <a:r>
              <a:rPr lang="en-IN" sz="2400" b="0" spc="10" dirty="0">
                <a:solidFill>
                  <a:srgbClr val="000000"/>
                </a:solidFill>
                <a:latin typeface="Times New Roman" panose="02020603050405020304"/>
                <a:cs typeface="Times New Roman" panose="02020603050405020304"/>
              </a:rPr>
              <a:t>    </a:t>
            </a:r>
            <a:br>
              <a:rPr lang="en-IN" sz="2400" b="0" spc="10" dirty="0">
                <a:solidFill>
                  <a:srgbClr val="000000"/>
                </a:solidFill>
                <a:latin typeface="Times New Roman" panose="02020603050405020304"/>
                <a:cs typeface="Times New Roman" panose="02020603050405020304"/>
              </a:rPr>
            </a:br>
            <a:r>
              <a:rPr sz="2400" b="0" spc="-5" dirty="0">
                <a:solidFill>
                  <a:srgbClr val="000000"/>
                </a:solidFill>
                <a:latin typeface="Times New Roman" panose="02020603050405020304"/>
                <a:cs typeface="Times New Roman" panose="02020603050405020304"/>
              </a:rPr>
              <a:t>Message </a:t>
            </a:r>
            <a:r>
              <a:rPr sz="2400" b="0" dirty="0">
                <a:solidFill>
                  <a:srgbClr val="000000"/>
                </a:solidFill>
                <a:latin typeface="Times New Roman" panose="02020603050405020304"/>
                <a:cs typeface="Times New Roman" panose="02020603050405020304"/>
              </a:rPr>
              <a:t>is a key idea that the </a:t>
            </a:r>
            <a:r>
              <a:rPr sz="2400" b="0" spc="-5" dirty="0">
                <a:solidFill>
                  <a:srgbClr val="000000"/>
                </a:solidFill>
                <a:latin typeface="Times New Roman" panose="02020603050405020304"/>
                <a:cs typeface="Times New Roman" panose="02020603050405020304"/>
              </a:rPr>
              <a:t>sender wants </a:t>
            </a:r>
            <a:r>
              <a:rPr sz="2400" b="0" dirty="0">
                <a:solidFill>
                  <a:srgbClr val="000000"/>
                </a:solidFill>
                <a:latin typeface="Times New Roman" panose="02020603050405020304"/>
                <a:cs typeface="Times New Roman" panose="02020603050405020304"/>
              </a:rPr>
              <a:t>to  </a:t>
            </a:r>
            <a:r>
              <a:rPr sz="2400" b="0" spc="-5" dirty="0">
                <a:solidFill>
                  <a:srgbClr val="000000"/>
                </a:solidFill>
                <a:latin typeface="Times New Roman" panose="02020603050405020304"/>
                <a:cs typeface="Times New Roman" panose="02020603050405020304"/>
              </a:rPr>
              <a:t>communicate. </a:t>
            </a:r>
            <a:r>
              <a:rPr sz="2400" b="0" dirty="0">
                <a:solidFill>
                  <a:srgbClr val="000000"/>
                </a:solidFill>
                <a:latin typeface="Times New Roman" panose="02020603050405020304"/>
                <a:cs typeface="Times New Roman" panose="02020603050405020304"/>
              </a:rPr>
              <a:t>It is a sign that elicits the </a:t>
            </a:r>
            <a:r>
              <a:rPr sz="2400" b="0" spc="-5" dirty="0">
                <a:solidFill>
                  <a:srgbClr val="000000"/>
                </a:solidFill>
                <a:latin typeface="Times New Roman" panose="02020603050405020304"/>
                <a:cs typeface="Times New Roman" panose="02020603050405020304"/>
              </a:rPr>
              <a:t>response </a:t>
            </a:r>
            <a:r>
              <a:rPr sz="2400" b="0" dirty="0">
                <a:solidFill>
                  <a:srgbClr val="000000"/>
                </a:solidFill>
                <a:latin typeface="Times New Roman" panose="02020603050405020304"/>
                <a:cs typeface="Times New Roman" panose="02020603050405020304"/>
              </a:rPr>
              <a:t>of recipient.  </a:t>
            </a:r>
            <a:r>
              <a:rPr sz="2400" b="0" spc="-5" dirty="0">
                <a:solidFill>
                  <a:srgbClr val="000000"/>
                </a:solidFill>
                <a:latin typeface="Times New Roman" panose="02020603050405020304"/>
                <a:cs typeface="Times New Roman" panose="02020603050405020304"/>
              </a:rPr>
              <a:t>Communication </a:t>
            </a:r>
            <a:r>
              <a:rPr sz="2400" b="0" dirty="0">
                <a:solidFill>
                  <a:srgbClr val="000000"/>
                </a:solidFill>
                <a:latin typeface="Times New Roman" panose="02020603050405020304"/>
                <a:cs typeface="Times New Roman" panose="02020603050405020304"/>
              </a:rPr>
              <a:t>process </a:t>
            </a:r>
            <a:r>
              <a:rPr sz="2400" b="0" spc="-5" dirty="0">
                <a:solidFill>
                  <a:srgbClr val="000000"/>
                </a:solidFill>
                <a:latin typeface="Times New Roman" panose="02020603050405020304"/>
                <a:cs typeface="Times New Roman" panose="02020603050405020304"/>
              </a:rPr>
              <a:t>begins with </a:t>
            </a:r>
            <a:r>
              <a:rPr sz="2400" b="0" dirty="0">
                <a:solidFill>
                  <a:srgbClr val="000000"/>
                </a:solidFill>
                <a:latin typeface="Times New Roman" panose="02020603050405020304"/>
                <a:cs typeface="Times New Roman" panose="02020603050405020304"/>
              </a:rPr>
              <a:t>deciding about the  </a:t>
            </a:r>
            <a:r>
              <a:rPr sz="2400" b="0" spc="-10" dirty="0">
                <a:solidFill>
                  <a:srgbClr val="000000"/>
                </a:solidFill>
                <a:latin typeface="Times New Roman" panose="02020603050405020304"/>
                <a:cs typeface="Times New Roman" panose="02020603050405020304"/>
              </a:rPr>
              <a:t>message </a:t>
            </a:r>
            <a:r>
              <a:rPr sz="2400" b="0" spc="5" dirty="0">
                <a:solidFill>
                  <a:srgbClr val="000000"/>
                </a:solidFill>
                <a:latin typeface="Times New Roman" panose="02020603050405020304"/>
                <a:cs typeface="Times New Roman" panose="02020603050405020304"/>
              </a:rPr>
              <a:t>to </a:t>
            </a:r>
            <a:r>
              <a:rPr sz="2400" b="0" spc="-5" dirty="0">
                <a:solidFill>
                  <a:srgbClr val="000000"/>
                </a:solidFill>
                <a:latin typeface="Times New Roman" panose="02020603050405020304"/>
                <a:cs typeface="Times New Roman" panose="02020603050405020304"/>
              </a:rPr>
              <a:t>be </a:t>
            </a:r>
            <a:r>
              <a:rPr sz="2400" b="0" dirty="0">
                <a:solidFill>
                  <a:srgbClr val="000000"/>
                </a:solidFill>
                <a:latin typeface="Times New Roman" panose="02020603050405020304"/>
                <a:cs typeface="Times New Roman" panose="02020603050405020304"/>
              </a:rPr>
              <a:t>conveyed. It </a:t>
            </a:r>
            <a:r>
              <a:rPr sz="2400" b="0" spc="-10" dirty="0">
                <a:solidFill>
                  <a:srgbClr val="000000"/>
                </a:solidFill>
                <a:latin typeface="Times New Roman" panose="02020603050405020304"/>
                <a:cs typeface="Times New Roman" panose="02020603050405020304"/>
              </a:rPr>
              <a:t>must </a:t>
            </a:r>
            <a:r>
              <a:rPr sz="2400" b="0" dirty="0">
                <a:solidFill>
                  <a:srgbClr val="000000"/>
                </a:solidFill>
                <a:latin typeface="Times New Roman" panose="02020603050405020304"/>
                <a:cs typeface="Times New Roman" panose="02020603050405020304"/>
              </a:rPr>
              <a:t>be </a:t>
            </a:r>
            <a:r>
              <a:rPr sz="2400" b="0" spc="-5" dirty="0">
                <a:solidFill>
                  <a:srgbClr val="000000"/>
                </a:solidFill>
                <a:latin typeface="Times New Roman" panose="02020603050405020304"/>
                <a:cs typeface="Times New Roman" panose="02020603050405020304"/>
              </a:rPr>
              <a:t>ensured </a:t>
            </a:r>
            <a:r>
              <a:rPr sz="2400" b="0" dirty="0">
                <a:solidFill>
                  <a:srgbClr val="000000"/>
                </a:solidFill>
                <a:latin typeface="Times New Roman" panose="02020603050405020304"/>
                <a:cs typeface="Times New Roman" panose="02020603050405020304"/>
              </a:rPr>
              <a:t>that the </a:t>
            </a:r>
            <a:r>
              <a:rPr sz="2400" b="0" spc="-5" dirty="0">
                <a:solidFill>
                  <a:srgbClr val="000000"/>
                </a:solidFill>
                <a:latin typeface="Times New Roman" panose="02020603050405020304"/>
                <a:cs typeface="Times New Roman" panose="02020603050405020304"/>
              </a:rPr>
              <a:t>main  </a:t>
            </a:r>
            <a:r>
              <a:rPr sz="2400" b="0" dirty="0">
                <a:solidFill>
                  <a:srgbClr val="000000"/>
                </a:solidFill>
                <a:latin typeface="Times New Roman" panose="02020603050405020304"/>
                <a:cs typeface="Times New Roman" panose="02020603050405020304"/>
              </a:rPr>
              <a:t>objective of the </a:t>
            </a:r>
            <a:r>
              <a:rPr sz="2400" b="0" spc="-5" dirty="0">
                <a:solidFill>
                  <a:srgbClr val="000000"/>
                </a:solidFill>
                <a:latin typeface="Times New Roman" panose="02020603050405020304"/>
                <a:cs typeface="Times New Roman" panose="02020603050405020304"/>
              </a:rPr>
              <a:t>message </a:t>
            </a:r>
            <a:r>
              <a:rPr sz="2400" b="0" spc="5" dirty="0">
                <a:solidFill>
                  <a:srgbClr val="000000"/>
                </a:solidFill>
                <a:latin typeface="Times New Roman" panose="02020603050405020304"/>
                <a:cs typeface="Times New Roman" panose="02020603050405020304"/>
              </a:rPr>
              <a:t>is</a:t>
            </a:r>
            <a:r>
              <a:rPr sz="2400" b="0" spc="-30" dirty="0">
                <a:solidFill>
                  <a:srgbClr val="000000"/>
                </a:solidFill>
                <a:latin typeface="Times New Roman" panose="02020603050405020304"/>
                <a:cs typeface="Times New Roman" panose="02020603050405020304"/>
              </a:rPr>
              <a:t> </a:t>
            </a:r>
            <a:r>
              <a:rPr sz="2400" b="0" spc="-25" dirty="0">
                <a:solidFill>
                  <a:srgbClr val="000000"/>
                </a:solidFill>
                <a:latin typeface="Times New Roman" panose="02020603050405020304"/>
                <a:cs typeface="Times New Roman" panose="02020603050405020304"/>
              </a:rPr>
              <a:t>clear.</a:t>
            </a:r>
            <a:endParaRPr sz="2400">
              <a:latin typeface="Times New Roman" panose="02020603050405020304"/>
              <a:cs typeface="Times New Roman" panose="02020603050405020304"/>
            </a:endParaRPr>
          </a:p>
        </p:txBody>
      </p:sp>
    </p:spTree>
  </p:cSld>
  <p:clrMapOvr>
    <a:masterClrMapping/>
  </p:clrMapOvr>
  <p:timing>
    <p:tnLst>
      <p:par>
        <p:cTn id="1" dur="indefinite" restart="never" nodeType="tmRoot"/>
      </p:par>
    </p:tnLst>
    <p:bldLst>
      <p:bldP spid="2" grpId="1"/>
      <p:bldP spid="2" grpId="3"/>
      <p:bldP spid="2" grpId="5"/>
      <p:bldP spid="2" grpId="7"/>
      <p:bldP spid="2" grpId="9"/>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575" rIns="0" bIns="0" rtlCol="0">
            <a:spAutoFit/>
          </a:bodyPr>
          <a:lstStyle/>
          <a:p>
            <a:pPr marL="2816860" marR="5080" indent="-2804160">
              <a:lnSpc>
                <a:spcPts val="3590"/>
              </a:lnSpc>
              <a:spcBef>
                <a:spcPts val="225"/>
              </a:spcBef>
            </a:pPr>
            <a:r>
              <a:rPr spc="-5" dirty="0"/>
              <a:t>COMPONENTS OF</a:t>
            </a:r>
            <a:r>
              <a:rPr spc="-105" dirty="0"/>
              <a:t> </a:t>
            </a:r>
            <a:r>
              <a:rPr spc="-5" dirty="0"/>
              <a:t>COMMUNICATION  PROCESS</a:t>
            </a:r>
            <a:endParaRPr spc="-5" dirty="0"/>
          </a:p>
        </p:txBody>
      </p:sp>
      <p:sp>
        <p:nvSpPr>
          <p:cNvPr id="3" name="object 3"/>
          <p:cNvSpPr txBox="1"/>
          <p:nvPr/>
        </p:nvSpPr>
        <p:spPr>
          <a:xfrm>
            <a:off x="354329" y="1805940"/>
            <a:ext cx="8114665" cy="3238500"/>
          </a:xfrm>
          <a:prstGeom prst="rect">
            <a:avLst/>
          </a:prstGeom>
        </p:spPr>
        <p:txBody>
          <a:bodyPr vert="horz" wrap="square" lIns="0" tIns="12700" rIns="0" bIns="0" rtlCol="0">
            <a:spAutoFit/>
          </a:bodyPr>
          <a:lstStyle/>
          <a:p>
            <a:pPr marL="38100">
              <a:lnSpc>
                <a:spcPct val="100000"/>
              </a:lnSpc>
              <a:spcBef>
                <a:spcPts val="100"/>
              </a:spcBef>
            </a:pPr>
            <a:r>
              <a:rPr sz="2550" baseline="10000" dirty="0">
                <a:solidFill>
                  <a:srgbClr val="D06248"/>
                </a:solidFill>
                <a:latin typeface="UnDotum"/>
                <a:cs typeface="UnDotum"/>
              </a:rPr>
              <a:t> </a:t>
            </a:r>
            <a:r>
              <a:rPr lang="en-IN" sz="2550" baseline="10000" dirty="0">
                <a:solidFill>
                  <a:srgbClr val="D06248"/>
                </a:solidFill>
                <a:latin typeface="UnDotum"/>
                <a:cs typeface="UnDotum"/>
              </a:rPr>
              <a:t>                      </a:t>
            </a:r>
            <a:r>
              <a:rPr lang="en-IN" sz="3200" baseline="10000" dirty="0">
                <a:solidFill>
                  <a:srgbClr val="7030A0"/>
                </a:solidFill>
                <a:latin typeface="UnDotum"/>
                <a:cs typeface="UnDotum"/>
              </a:rPr>
              <a:t> </a:t>
            </a:r>
            <a:r>
              <a:rPr sz="2800" b="1" spc="-5" dirty="0">
                <a:solidFill>
                  <a:srgbClr val="7030A0"/>
                </a:solidFill>
                <a:latin typeface="Georgia" panose="02040502050405020303"/>
                <a:cs typeface="Georgia" panose="02040502050405020303"/>
              </a:rPr>
              <a:t>Sender </a:t>
            </a:r>
            <a:r>
              <a:rPr sz="2800" b="1" dirty="0">
                <a:solidFill>
                  <a:srgbClr val="7030A0"/>
                </a:solidFill>
                <a:latin typeface="Georgia" panose="02040502050405020303"/>
                <a:cs typeface="Georgia" panose="02040502050405020303"/>
              </a:rPr>
              <a:t>/</a:t>
            </a:r>
            <a:r>
              <a:rPr sz="2800" b="1" spc="-65" dirty="0">
                <a:solidFill>
                  <a:srgbClr val="7030A0"/>
                </a:solidFill>
                <a:latin typeface="Georgia" panose="02040502050405020303"/>
                <a:cs typeface="Georgia" panose="02040502050405020303"/>
              </a:rPr>
              <a:t> </a:t>
            </a:r>
            <a:r>
              <a:rPr sz="2800" b="1" spc="-5" dirty="0">
                <a:solidFill>
                  <a:srgbClr val="7030A0"/>
                </a:solidFill>
                <a:latin typeface="Georgia" panose="02040502050405020303"/>
                <a:cs typeface="Georgia" panose="02040502050405020303"/>
              </a:rPr>
              <a:t>Encoder</a:t>
            </a:r>
            <a:endParaRPr sz="2800" dirty="0">
              <a:solidFill>
                <a:srgbClr val="7030A0"/>
              </a:solidFill>
              <a:latin typeface="Georgia" panose="02040502050405020303"/>
              <a:cs typeface="Georgia" panose="02040502050405020303"/>
            </a:endParaRPr>
          </a:p>
          <a:p>
            <a:pPr marL="311150" marR="238760" indent="-20320">
              <a:lnSpc>
                <a:spcPct val="80000"/>
              </a:lnSpc>
              <a:spcBef>
                <a:spcPts val="595"/>
              </a:spcBef>
            </a:pPr>
            <a:r>
              <a:rPr sz="2400" spc="-5" dirty="0">
                <a:latin typeface="Georgia" panose="02040502050405020303"/>
                <a:cs typeface="Georgia" panose="02040502050405020303"/>
              </a:rPr>
              <a:t>Sender </a:t>
            </a:r>
            <a:r>
              <a:rPr sz="2400" dirty="0">
                <a:latin typeface="Georgia" panose="02040502050405020303"/>
                <a:cs typeface="Georgia" panose="02040502050405020303"/>
              </a:rPr>
              <a:t>/ </a:t>
            </a:r>
            <a:r>
              <a:rPr sz="2400" spc="-5" dirty="0">
                <a:latin typeface="Georgia" panose="02040502050405020303"/>
                <a:cs typeface="Georgia" panose="02040502050405020303"/>
              </a:rPr>
              <a:t>Encoder is </a:t>
            </a:r>
            <a:r>
              <a:rPr sz="2400" dirty="0">
                <a:latin typeface="Georgia" panose="02040502050405020303"/>
                <a:cs typeface="Georgia" panose="02040502050405020303"/>
              </a:rPr>
              <a:t>a </a:t>
            </a:r>
            <a:r>
              <a:rPr sz="2400" spc="-5" dirty="0">
                <a:latin typeface="Georgia" panose="02040502050405020303"/>
                <a:cs typeface="Georgia" panose="02040502050405020303"/>
              </a:rPr>
              <a:t>person </a:t>
            </a:r>
            <a:r>
              <a:rPr sz="2400" spc="-10" dirty="0">
                <a:latin typeface="Georgia" panose="02040502050405020303"/>
                <a:cs typeface="Georgia" panose="02040502050405020303"/>
              </a:rPr>
              <a:t>who </a:t>
            </a:r>
            <a:r>
              <a:rPr sz="2400" spc="-5" dirty="0">
                <a:latin typeface="Georgia" panose="02040502050405020303"/>
                <a:cs typeface="Georgia" panose="02040502050405020303"/>
              </a:rPr>
              <a:t>sends the message. </a:t>
            </a:r>
            <a:r>
              <a:rPr sz="2400" dirty="0">
                <a:latin typeface="Georgia" panose="02040502050405020303"/>
                <a:cs typeface="Georgia" panose="02040502050405020303"/>
              </a:rPr>
              <a:t>A  </a:t>
            </a:r>
            <a:r>
              <a:rPr sz="2400" spc="-5" dirty="0">
                <a:latin typeface="Georgia" panose="02040502050405020303"/>
                <a:cs typeface="Georgia" panose="02040502050405020303"/>
              </a:rPr>
              <a:t>sender makes use of symbols (words or graphic or visual  aids) to convey the message and produce the required  response.</a:t>
            </a:r>
            <a:endParaRPr sz="2400" dirty="0">
              <a:latin typeface="Georgia" panose="02040502050405020303"/>
              <a:cs typeface="Georgia" panose="02040502050405020303"/>
            </a:endParaRPr>
          </a:p>
          <a:p>
            <a:pPr marL="311150" marR="30480" indent="20320">
              <a:lnSpc>
                <a:spcPct val="80000"/>
              </a:lnSpc>
              <a:spcBef>
                <a:spcPts val="500"/>
              </a:spcBef>
            </a:pPr>
            <a:r>
              <a:rPr sz="2400" spc="-5" dirty="0">
                <a:latin typeface="Georgia" panose="02040502050405020303"/>
                <a:cs typeface="Georgia" panose="02040502050405020303"/>
              </a:rPr>
              <a:t>For instance </a:t>
            </a:r>
            <a:r>
              <a:rPr sz="2400" dirty="0">
                <a:latin typeface="Georgia" panose="02040502050405020303"/>
                <a:cs typeface="Georgia" panose="02040502050405020303"/>
              </a:rPr>
              <a:t>- a </a:t>
            </a:r>
            <a:r>
              <a:rPr sz="2400" spc="-5" dirty="0">
                <a:latin typeface="Georgia" panose="02040502050405020303"/>
                <a:cs typeface="Georgia" panose="02040502050405020303"/>
              </a:rPr>
              <a:t>training manager conducting training for  new batch of employees. Sender may </a:t>
            </a:r>
            <a:r>
              <a:rPr sz="2400" dirty="0">
                <a:latin typeface="Georgia" panose="02040502050405020303"/>
                <a:cs typeface="Georgia" panose="02040502050405020303"/>
              </a:rPr>
              <a:t>be </a:t>
            </a:r>
            <a:r>
              <a:rPr sz="2400" spc="-5" dirty="0">
                <a:latin typeface="Georgia" panose="02040502050405020303"/>
                <a:cs typeface="Georgia" panose="02040502050405020303"/>
              </a:rPr>
              <a:t>an individual </a:t>
            </a:r>
            <a:r>
              <a:rPr sz="2400" dirty="0">
                <a:latin typeface="Georgia" panose="02040502050405020303"/>
                <a:cs typeface="Georgia" panose="02040502050405020303"/>
              </a:rPr>
              <a:t>or a  group or an </a:t>
            </a:r>
            <a:r>
              <a:rPr sz="2400" spc="-5" dirty="0">
                <a:latin typeface="Georgia" panose="02040502050405020303"/>
                <a:cs typeface="Georgia" panose="02040502050405020303"/>
              </a:rPr>
              <a:t>organization. The views, background,  approach, skills, competencies, and knowledge </a:t>
            </a:r>
            <a:r>
              <a:rPr sz="2400" dirty="0">
                <a:latin typeface="Georgia" panose="02040502050405020303"/>
                <a:cs typeface="Georgia" panose="02040502050405020303"/>
              </a:rPr>
              <a:t>of </a:t>
            </a:r>
            <a:r>
              <a:rPr sz="2400" spc="-10" dirty="0">
                <a:latin typeface="Georgia" panose="02040502050405020303"/>
                <a:cs typeface="Georgia" panose="02040502050405020303"/>
              </a:rPr>
              <a:t>the  </a:t>
            </a:r>
            <a:r>
              <a:rPr sz="2400" spc="-5" dirty="0">
                <a:latin typeface="Georgia" panose="02040502050405020303"/>
                <a:cs typeface="Georgia" panose="02040502050405020303"/>
              </a:rPr>
              <a:t>sender have </a:t>
            </a:r>
            <a:r>
              <a:rPr sz="2400" dirty="0">
                <a:latin typeface="Georgia" panose="02040502050405020303"/>
                <a:cs typeface="Georgia" panose="02040502050405020303"/>
              </a:rPr>
              <a:t>a </a:t>
            </a:r>
            <a:r>
              <a:rPr sz="2400" spc="-5" dirty="0">
                <a:latin typeface="Georgia" panose="02040502050405020303"/>
                <a:cs typeface="Georgia" panose="02040502050405020303"/>
              </a:rPr>
              <a:t>great impact </a:t>
            </a:r>
            <a:r>
              <a:rPr sz="2400" dirty="0">
                <a:latin typeface="Georgia" panose="02040502050405020303"/>
                <a:cs typeface="Georgia" panose="02040502050405020303"/>
              </a:rPr>
              <a:t>on </a:t>
            </a:r>
            <a:r>
              <a:rPr sz="2400" spc="-5" dirty="0">
                <a:latin typeface="Georgia" panose="02040502050405020303"/>
                <a:cs typeface="Georgia" panose="02040502050405020303"/>
              </a:rPr>
              <a:t>the</a:t>
            </a:r>
            <a:r>
              <a:rPr sz="2400" spc="-35" dirty="0">
                <a:latin typeface="Georgia" panose="02040502050405020303"/>
                <a:cs typeface="Georgia" panose="02040502050405020303"/>
              </a:rPr>
              <a:t> </a:t>
            </a:r>
            <a:r>
              <a:rPr sz="2400" spc="-5" dirty="0">
                <a:latin typeface="Georgia" panose="02040502050405020303"/>
                <a:cs typeface="Georgia" panose="02040502050405020303"/>
              </a:rPr>
              <a:t>message.</a:t>
            </a:r>
            <a:endParaRPr sz="2400" dirty="0">
              <a:latin typeface="Georgia" panose="02040502050405020303"/>
              <a:cs typeface="Georgia" panose="020405020504050203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4329" y="1560829"/>
            <a:ext cx="8357870" cy="2511425"/>
          </a:xfrm>
          <a:prstGeom prst="rect">
            <a:avLst/>
          </a:prstGeom>
        </p:spPr>
        <p:txBody>
          <a:bodyPr vert="horz" wrap="square" lIns="0" tIns="12700" rIns="0" bIns="0" rtlCol="0">
            <a:spAutoFit/>
          </a:bodyPr>
          <a:lstStyle/>
          <a:p>
            <a:pPr marL="311150" marR="30480" indent="-273050">
              <a:lnSpc>
                <a:spcPct val="100000"/>
              </a:lnSpc>
              <a:spcBef>
                <a:spcPts val="100"/>
              </a:spcBef>
            </a:pPr>
            <a:r>
              <a:rPr sz="3450" b="0" spc="-7" baseline="10000" dirty="0">
                <a:solidFill>
                  <a:srgbClr val="D06248"/>
                </a:solidFill>
                <a:latin typeface="UnDotum"/>
                <a:cs typeface="UnDotum"/>
              </a:rPr>
              <a:t></a:t>
            </a:r>
            <a:r>
              <a:rPr lang="en-IN" sz="3450" b="0" spc="-7" baseline="10000" dirty="0">
                <a:solidFill>
                  <a:srgbClr val="D06248"/>
                </a:solidFill>
                <a:latin typeface="UnDotum"/>
                <a:cs typeface="UnDotum"/>
              </a:rPr>
              <a:t>           </a:t>
            </a:r>
            <a:br>
              <a:rPr sz="2700" dirty="0">
                <a:solidFill>
                  <a:srgbClr val="000000"/>
                </a:solidFill>
              </a:rPr>
            </a:br>
            <a:r>
              <a:rPr lang="en-IN" sz="2700" dirty="0">
                <a:solidFill>
                  <a:srgbClr val="000000"/>
                </a:solidFill>
              </a:rPr>
              <a:t>                             </a:t>
            </a:r>
            <a:r>
              <a:rPr lang="en-IN" sz="3200" dirty="0">
                <a:solidFill>
                  <a:srgbClr val="7030A0"/>
                </a:solidFill>
              </a:rPr>
              <a:t>ENCODING</a:t>
            </a:r>
            <a:br>
              <a:rPr sz="2700" dirty="0">
                <a:solidFill>
                  <a:srgbClr val="000000"/>
                </a:solidFill>
              </a:rPr>
            </a:br>
            <a:br>
              <a:rPr sz="2700" dirty="0">
                <a:solidFill>
                  <a:srgbClr val="000000"/>
                </a:solidFill>
              </a:rPr>
            </a:br>
            <a:r>
              <a:rPr sz="2700" b="0" spc="-5" dirty="0">
                <a:solidFill>
                  <a:srgbClr val="000000"/>
                </a:solidFill>
                <a:latin typeface="Georgia" panose="02040502050405020303"/>
                <a:cs typeface="Georgia" panose="02040502050405020303"/>
              </a:rPr>
              <a:t>Encoding </a:t>
            </a:r>
            <a:r>
              <a:rPr sz="2700" b="0" dirty="0">
                <a:solidFill>
                  <a:srgbClr val="000000"/>
                </a:solidFill>
                <a:latin typeface="Georgia" panose="02040502050405020303"/>
                <a:cs typeface="Georgia" panose="02040502050405020303"/>
              </a:rPr>
              <a:t>is </a:t>
            </a:r>
            <a:r>
              <a:rPr sz="2700" b="0" spc="-5" dirty="0">
                <a:solidFill>
                  <a:srgbClr val="000000"/>
                </a:solidFill>
                <a:latin typeface="Georgia" panose="02040502050405020303"/>
                <a:cs typeface="Georgia" panose="02040502050405020303"/>
              </a:rPr>
              <a:t>the process where </a:t>
            </a:r>
            <a:r>
              <a:rPr sz="2700" b="0" dirty="0">
                <a:solidFill>
                  <a:srgbClr val="000000"/>
                </a:solidFill>
                <a:latin typeface="Georgia" panose="02040502050405020303"/>
                <a:cs typeface="Georgia" panose="02040502050405020303"/>
              </a:rPr>
              <a:t>the  </a:t>
            </a:r>
            <a:r>
              <a:rPr sz="2700" b="0" spc="-10" dirty="0">
                <a:solidFill>
                  <a:srgbClr val="000000"/>
                </a:solidFill>
                <a:latin typeface="Georgia" panose="02040502050405020303"/>
                <a:cs typeface="Georgia" panose="02040502050405020303"/>
              </a:rPr>
              <a:t>information </a:t>
            </a:r>
            <a:r>
              <a:rPr sz="2700" b="0" spc="-5" dirty="0">
                <a:solidFill>
                  <a:srgbClr val="000000"/>
                </a:solidFill>
                <a:latin typeface="Georgia" panose="02040502050405020303"/>
                <a:cs typeface="Georgia" panose="02040502050405020303"/>
              </a:rPr>
              <a:t>you would like </a:t>
            </a:r>
            <a:r>
              <a:rPr sz="2700" b="0" dirty="0">
                <a:solidFill>
                  <a:srgbClr val="000000"/>
                </a:solidFill>
                <a:latin typeface="Georgia" panose="02040502050405020303"/>
                <a:cs typeface="Georgia" panose="02040502050405020303"/>
              </a:rPr>
              <a:t>to </a:t>
            </a:r>
            <a:r>
              <a:rPr sz="2700" b="0" spc="-10" dirty="0">
                <a:solidFill>
                  <a:srgbClr val="000000"/>
                </a:solidFill>
                <a:latin typeface="Georgia" panose="02040502050405020303"/>
                <a:cs typeface="Georgia" panose="02040502050405020303"/>
              </a:rPr>
              <a:t>communicate </a:t>
            </a:r>
            <a:r>
              <a:rPr sz="2700" b="0" dirty="0">
                <a:solidFill>
                  <a:srgbClr val="000000"/>
                </a:solidFill>
                <a:latin typeface="Georgia" panose="02040502050405020303"/>
                <a:cs typeface="Georgia" panose="02040502050405020303"/>
              </a:rPr>
              <a:t>gets  </a:t>
            </a:r>
            <a:r>
              <a:rPr sz="2700" b="0" spc="-5" dirty="0">
                <a:solidFill>
                  <a:srgbClr val="000000"/>
                </a:solidFill>
                <a:latin typeface="Georgia" panose="02040502050405020303"/>
                <a:cs typeface="Georgia" panose="02040502050405020303"/>
              </a:rPr>
              <a:t>transferred </a:t>
            </a:r>
            <a:r>
              <a:rPr sz="2700" b="0" dirty="0">
                <a:solidFill>
                  <a:srgbClr val="000000"/>
                </a:solidFill>
                <a:latin typeface="Georgia" panose="02040502050405020303"/>
                <a:cs typeface="Georgia" panose="02040502050405020303"/>
              </a:rPr>
              <a:t>into a </a:t>
            </a:r>
            <a:r>
              <a:rPr sz="2700" b="0" spc="-10" dirty="0">
                <a:solidFill>
                  <a:srgbClr val="000000"/>
                </a:solidFill>
                <a:latin typeface="Georgia" panose="02040502050405020303"/>
                <a:cs typeface="Georgia" panose="02040502050405020303"/>
              </a:rPr>
              <a:t>form </a:t>
            </a:r>
            <a:r>
              <a:rPr sz="2700" b="0" spc="-5" dirty="0">
                <a:solidFill>
                  <a:srgbClr val="000000"/>
                </a:solidFill>
                <a:latin typeface="Georgia" panose="02040502050405020303"/>
                <a:cs typeface="Georgia" panose="02040502050405020303"/>
              </a:rPr>
              <a:t>to </a:t>
            </a:r>
            <a:r>
              <a:rPr sz="2700" b="0" dirty="0">
                <a:solidFill>
                  <a:srgbClr val="000000"/>
                </a:solidFill>
                <a:latin typeface="Georgia" panose="02040502050405020303"/>
                <a:cs typeface="Georgia" panose="02040502050405020303"/>
              </a:rPr>
              <a:t>be </a:t>
            </a:r>
            <a:r>
              <a:rPr sz="2700" b="0" spc="-5" dirty="0">
                <a:solidFill>
                  <a:srgbClr val="000000"/>
                </a:solidFill>
                <a:latin typeface="Georgia" panose="02040502050405020303"/>
                <a:cs typeface="Georgia" panose="02040502050405020303"/>
              </a:rPr>
              <a:t>sent and decoded </a:t>
            </a:r>
            <a:r>
              <a:rPr sz="2700" b="0" dirty="0">
                <a:solidFill>
                  <a:srgbClr val="000000"/>
                </a:solidFill>
                <a:latin typeface="Georgia" panose="02040502050405020303"/>
                <a:cs typeface="Georgia" panose="02040502050405020303"/>
              </a:rPr>
              <a:t>by </a:t>
            </a:r>
            <a:r>
              <a:rPr sz="2700" b="0" spc="-5" dirty="0">
                <a:solidFill>
                  <a:srgbClr val="000000"/>
                </a:solidFill>
                <a:latin typeface="Georgia" panose="02040502050405020303"/>
                <a:cs typeface="Georgia" panose="02040502050405020303"/>
              </a:rPr>
              <a:t>the  receiver.</a:t>
            </a:r>
            <a:endParaRPr sz="2700">
              <a:latin typeface="Georgia" panose="02040502050405020303"/>
              <a:cs typeface="Georgia" panose="020405020504050203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2"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2" grpId="2"/>
      <p:bldP spid="2" grpId="3"/>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029" y="1560829"/>
            <a:ext cx="8345170" cy="2351405"/>
          </a:xfrm>
          <a:prstGeom prst="rect">
            <a:avLst/>
          </a:prstGeom>
        </p:spPr>
        <p:txBody>
          <a:bodyPr vert="horz" wrap="square" lIns="0" tIns="12700" rIns="0" bIns="0" rtlCol="0">
            <a:spAutoFit/>
          </a:bodyPr>
          <a:lstStyle/>
          <a:p>
            <a:pPr marL="298450" marR="17780" indent="-273050">
              <a:lnSpc>
                <a:spcPct val="100000"/>
              </a:lnSpc>
              <a:spcBef>
                <a:spcPts val="100"/>
              </a:spcBef>
            </a:pPr>
            <a:r>
              <a:rPr sz="3075" b="0" spc="7" baseline="9000" dirty="0">
                <a:solidFill>
                  <a:srgbClr val="D06248"/>
                </a:solidFill>
                <a:latin typeface="UnDotum"/>
                <a:cs typeface="UnDotum"/>
              </a:rPr>
              <a:t></a:t>
            </a:r>
            <a:r>
              <a:rPr lang="en-IN" sz="3075" b="0" spc="7" baseline="9000" dirty="0">
                <a:solidFill>
                  <a:srgbClr val="D06248"/>
                </a:solidFill>
                <a:latin typeface="UnDotum"/>
                <a:cs typeface="UnDotum"/>
              </a:rPr>
              <a:t>                       </a:t>
            </a:r>
            <a:r>
              <a:rPr sz="3200" spc="5" dirty="0">
                <a:solidFill>
                  <a:srgbClr val="7030A0"/>
                </a:solidFill>
              </a:rPr>
              <a:t>Channel </a:t>
            </a:r>
            <a:br>
              <a:rPr sz="2400" dirty="0">
                <a:solidFill>
                  <a:srgbClr val="000000"/>
                </a:solidFill>
              </a:rPr>
            </a:br>
            <a:r>
              <a:rPr sz="2400" dirty="0">
                <a:solidFill>
                  <a:srgbClr val="000000"/>
                </a:solidFill>
              </a:rPr>
              <a:t> </a:t>
            </a:r>
            <a:r>
              <a:rPr sz="2400" b="0" spc="-5" dirty="0">
                <a:solidFill>
                  <a:srgbClr val="000000"/>
                </a:solidFill>
                <a:latin typeface="Georgia" panose="02040502050405020303"/>
                <a:cs typeface="Georgia" panose="02040502050405020303"/>
              </a:rPr>
              <a:t>Channels are </a:t>
            </a:r>
            <a:r>
              <a:rPr sz="2400" b="0" spc="-10" dirty="0">
                <a:solidFill>
                  <a:srgbClr val="000000"/>
                </a:solidFill>
                <a:latin typeface="Georgia" panose="02040502050405020303"/>
                <a:cs typeface="Georgia" panose="02040502050405020303"/>
              </a:rPr>
              <a:t>the way </a:t>
            </a:r>
            <a:r>
              <a:rPr sz="2400" b="0" spc="-5" dirty="0">
                <a:solidFill>
                  <a:srgbClr val="000000"/>
                </a:solidFill>
                <a:latin typeface="Georgia" panose="02040502050405020303"/>
                <a:cs typeface="Georgia" panose="02040502050405020303"/>
              </a:rPr>
              <a:t>you convey </a:t>
            </a:r>
            <a:r>
              <a:rPr sz="2400" b="0" spc="-10" dirty="0">
                <a:solidFill>
                  <a:srgbClr val="000000"/>
                </a:solidFill>
                <a:latin typeface="Georgia" panose="02040502050405020303"/>
                <a:cs typeface="Georgia" panose="02040502050405020303"/>
              </a:rPr>
              <a:t>your  </a:t>
            </a:r>
            <a:r>
              <a:rPr sz="2400" b="0" spc="-5" dirty="0">
                <a:solidFill>
                  <a:srgbClr val="000000"/>
                </a:solidFill>
                <a:latin typeface="Georgia" panose="02040502050405020303"/>
                <a:cs typeface="Georgia" panose="02040502050405020303"/>
              </a:rPr>
              <a:t>message. These channels include verbal such </a:t>
            </a:r>
            <a:r>
              <a:rPr sz="2400" b="0" dirty="0">
                <a:solidFill>
                  <a:srgbClr val="000000"/>
                </a:solidFill>
                <a:latin typeface="Georgia" panose="02040502050405020303"/>
                <a:cs typeface="Georgia" panose="02040502050405020303"/>
              </a:rPr>
              <a:t>as </a:t>
            </a:r>
            <a:r>
              <a:rPr sz="2400" b="0" spc="-5" dirty="0">
                <a:solidFill>
                  <a:srgbClr val="000000"/>
                </a:solidFill>
                <a:latin typeface="Georgia" panose="02040502050405020303"/>
                <a:cs typeface="Georgia" panose="02040502050405020303"/>
              </a:rPr>
              <a:t>telephone,  and face-to-face conversations as well as non-verbal such as  </a:t>
            </a:r>
            <a:r>
              <a:rPr lang="en-US" sz="2400" b="0" spc="-5" dirty="0" smtClean="0">
                <a:solidFill>
                  <a:srgbClr val="000000"/>
                </a:solidFill>
                <a:latin typeface="Georgia" panose="02040502050405020303"/>
                <a:cs typeface="Georgia" panose="02040502050405020303"/>
              </a:rPr>
              <a:t>picture </a:t>
            </a:r>
            <a:r>
              <a:rPr lang="en-US" sz="2400" b="0" spc="-5" smtClean="0">
                <a:solidFill>
                  <a:srgbClr val="000000"/>
                </a:solidFill>
                <a:latin typeface="Georgia" panose="02040502050405020303"/>
                <a:cs typeface="Georgia" panose="02040502050405020303"/>
              </a:rPr>
              <a:t>and gesture</a:t>
            </a:r>
            <a:r>
              <a:rPr sz="2400" b="0" spc="-5" smtClean="0">
                <a:solidFill>
                  <a:srgbClr val="000000"/>
                </a:solidFill>
                <a:latin typeface="Georgia" panose="02040502050405020303"/>
                <a:cs typeface="Georgia" panose="02040502050405020303"/>
              </a:rPr>
              <a:t>. </a:t>
            </a:r>
            <a:r>
              <a:rPr sz="2400" b="0" spc="-5" dirty="0">
                <a:solidFill>
                  <a:srgbClr val="000000"/>
                </a:solidFill>
                <a:latin typeface="Georgia" panose="02040502050405020303"/>
                <a:cs typeface="Georgia" panose="02040502050405020303"/>
              </a:rPr>
              <a:t>Each individual channel has its  strengths and weaknesses </a:t>
            </a:r>
            <a:r>
              <a:rPr sz="2400" b="0" dirty="0">
                <a:solidFill>
                  <a:srgbClr val="000000"/>
                </a:solidFill>
                <a:latin typeface="Georgia" panose="02040502050405020303"/>
                <a:cs typeface="Georgia" panose="02040502050405020303"/>
              </a:rPr>
              <a:t>in </a:t>
            </a:r>
            <a:r>
              <a:rPr sz="2400" b="0" spc="-5" dirty="0">
                <a:solidFill>
                  <a:srgbClr val="000000"/>
                </a:solidFill>
                <a:latin typeface="Georgia" panose="02040502050405020303"/>
                <a:cs typeface="Georgia" panose="02040502050405020303"/>
              </a:rPr>
              <a:t>terms of</a:t>
            </a:r>
            <a:r>
              <a:rPr sz="2400" b="0" spc="-50" dirty="0">
                <a:solidFill>
                  <a:srgbClr val="000000"/>
                </a:solidFill>
                <a:latin typeface="Georgia" panose="02040502050405020303"/>
                <a:cs typeface="Georgia" panose="02040502050405020303"/>
              </a:rPr>
              <a:t> </a:t>
            </a:r>
            <a:r>
              <a:rPr sz="2400" b="0" spc="-5" dirty="0">
                <a:solidFill>
                  <a:srgbClr val="000000"/>
                </a:solidFill>
                <a:latin typeface="Georgia" panose="02040502050405020303"/>
                <a:cs typeface="Georgia" panose="02040502050405020303"/>
              </a:rPr>
              <a:t>communicating.</a:t>
            </a:r>
            <a:endParaRPr sz="2400" dirty="0">
              <a:latin typeface="Georgia" panose="02040502050405020303"/>
              <a:cs typeface="Georgia" panose="02040502050405020303"/>
            </a:endParaRPr>
          </a:p>
        </p:txBody>
      </p:sp>
      <p:sp>
        <p:nvSpPr>
          <p:cNvPr id="3" name="object 3"/>
          <p:cNvSpPr txBox="1"/>
          <p:nvPr/>
        </p:nvSpPr>
        <p:spPr>
          <a:xfrm>
            <a:off x="367029" y="3477259"/>
            <a:ext cx="8300720" cy="2192655"/>
          </a:xfrm>
          <a:prstGeom prst="rect">
            <a:avLst/>
          </a:prstGeom>
        </p:spPr>
        <p:txBody>
          <a:bodyPr vert="horz" wrap="square" lIns="0" tIns="12700" rIns="0" bIns="0" rtlCol="0">
            <a:spAutoFit/>
          </a:bodyPr>
          <a:lstStyle/>
          <a:p>
            <a:pPr marL="298450" marR="17780" indent="-273050">
              <a:lnSpc>
                <a:spcPct val="100000"/>
              </a:lnSpc>
              <a:spcBef>
                <a:spcPts val="100"/>
              </a:spcBef>
            </a:pPr>
            <a:r>
              <a:rPr sz="3075" spc="30" baseline="9000" dirty="0">
                <a:solidFill>
                  <a:srgbClr val="D06248"/>
                </a:solidFill>
                <a:latin typeface="UnDotum"/>
                <a:cs typeface="UnDotum"/>
              </a:rPr>
              <a:t></a:t>
            </a:r>
            <a:endParaRPr sz="3075" spc="30" baseline="9000" dirty="0">
              <a:solidFill>
                <a:srgbClr val="D06248"/>
              </a:solidFill>
              <a:latin typeface="UnDotum"/>
              <a:cs typeface="UnDotum"/>
            </a:endParaRPr>
          </a:p>
          <a:p>
            <a:pPr marL="298450" marR="17780" indent="-273050">
              <a:lnSpc>
                <a:spcPct val="100000"/>
              </a:lnSpc>
              <a:spcBef>
                <a:spcPts val="100"/>
              </a:spcBef>
            </a:pPr>
            <a:r>
              <a:rPr sz="3075" spc="30" baseline="9000" dirty="0">
                <a:solidFill>
                  <a:srgbClr val="D06248"/>
                </a:solidFill>
                <a:latin typeface="UnDotum"/>
                <a:cs typeface="UnDotum"/>
              </a:rPr>
              <a:t> </a:t>
            </a:r>
            <a:r>
              <a:rPr lang="en-IN" sz="3075" spc="30" baseline="9000" dirty="0">
                <a:solidFill>
                  <a:srgbClr val="D06248"/>
                </a:solidFill>
                <a:latin typeface="UnDotum"/>
                <a:cs typeface="UnDotum"/>
              </a:rPr>
              <a:t> </a:t>
            </a:r>
            <a:endParaRPr lang="en-IN" sz="3075" spc="30" baseline="9000" dirty="0">
              <a:solidFill>
                <a:srgbClr val="D06248"/>
              </a:solidFill>
              <a:latin typeface="UnDotum"/>
              <a:cs typeface="UnDotum"/>
            </a:endParaRPr>
          </a:p>
          <a:p>
            <a:pPr marL="298450" marR="17780" indent="-273050">
              <a:lnSpc>
                <a:spcPct val="100000"/>
              </a:lnSpc>
              <a:spcBef>
                <a:spcPts val="100"/>
              </a:spcBef>
            </a:pPr>
            <a:r>
              <a:rPr lang="en-IN" sz="3075" spc="30" baseline="9000" dirty="0">
                <a:solidFill>
                  <a:srgbClr val="D06248"/>
                </a:solidFill>
                <a:latin typeface="UnDotum"/>
                <a:cs typeface="UnDotum"/>
              </a:rPr>
              <a:t>   </a:t>
            </a:r>
            <a:r>
              <a:rPr sz="2400" spc="20" dirty="0">
                <a:latin typeface="Times New Roman" panose="02020603050405020304"/>
                <a:cs typeface="Times New Roman" panose="02020603050405020304"/>
              </a:rPr>
              <a:t>For </a:t>
            </a:r>
            <a:r>
              <a:rPr sz="2400" spc="-5" dirty="0">
                <a:latin typeface="Times New Roman" panose="02020603050405020304"/>
                <a:cs typeface="Times New Roman" panose="02020603050405020304"/>
              </a:rPr>
              <a:t>instance </a:t>
            </a:r>
            <a:r>
              <a:rPr sz="2400" dirty="0">
                <a:latin typeface="Times New Roman" panose="02020603050405020304"/>
                <a:cs typeface="Times New Roman" panose="02020603050405020304"/>
              </a:rPr>
              <a:t>- </a:t>
            </a:r>
            <a:r>
              <a:rPr sz="2400" spc="-20" dirty="0">
                <a:latin typeface="Times New Roman" panose="02020603050405020304"/>
                <a:cs typeface="Times New Roman" panose="02020603050405020304"/>
              </a:rPr>
              <a:t>Written </a:t>
            </a:r>
            <a:r>
              <a:rPr sz="2400" spc="-5" dirty="0">
                <a:latin typeface="Times New Roman" panose="02020603050405020304"/>
                <a:cs typeface="Times New Roman" panose="02020603050405020304"/>
              </a:rPr>
              <a:t>medium </a:t>
            </a:r>
            <a:r>
              <a:rPr sz="2400" dirty="0">
                <a:latin typeface="Times New Roman" panose="02020603050405020304"/>
                <a:cs typeface="Times New Roman" panose="02020603050405020304"/>
              </a:rPr>
              <a:t>is </a:t>
            </a:r>
            <a:r>
              <a:rPr sz="2400" spc="-5" dirty="0">
                <a:latin typeface="Times New Roman" panose="02020603050405020304"/>
                <a:cs typeface="Times New Roman" panose="02020603050405020304"/>
              </a:rPr>
              <a:t>chosen when </a:t>
            </a:r>
            <a:r>
              <a:rPr sz="2400" dirty="0">
                <a:latin typeface="Times New Roman" panose="02020603050405020304"/>
                <a:cs typeface="Times New Roman" panose="02020603050405020304"/>
              </a:rPr>
              <a:t>a </a:t>
            </a:r>
            <a:r>
              <a:rPr sz="2400" spc="-5" dirty="0">
                <a:latin typeface="Times New Roman" panose="02020603050405020304"/>
                <a:cs typeface="Times New Roman" panose="02020603050405020304"/>
              </a:rPr>
              <a:t>message has </a:t>
            </a:r>
            <a:r>
              <a:rPr sz="2400" dirty="0">
                <a:latin typeface="Times New Roman" panose="02020603050405020304"/>
                <a:cs typeface="Times New Roman" panose="02020603050405020304"/>
              </a:rPr>
              <a:t>to  be conveyed to a </a:t>
            </a:r>
            <a:r>
              <a:rPr sz="2400" spc="-10" dirty="0">
                <a:latin typeface="Times New Roman" panose="02020603050405020304"/>
                <a:cs typeface="Times New Roman" panose="02020603050405020304"/>
              </a:rPr>
              <a:t>small </a:t>
            </a:r>
            <a:r>
              <a:rPr sz="2400" dirty="0">
                <a:latin typeface="Times New Roman" panose="02020603050405020304"/>
                <a:cs typeface="Times New Roman" panose="02020603050405020304"/>
              </a:rPr>
              <a:t>group of people, </a:t>
            </a:r>
            <a:r>
              <a:rPr sz="2400" spc="-5" dirty="0">
                <a:latin typeface="Times New Roman" panose="02020603050405020304"/>
                <a:cs typeface="Times New Roman" panose="02020603050405020304"/>
              </a:rPr>
              <a:t>while an </a:t>
            </a:r>
            <a:r>
              <a:rPr sz="2400" dirty="0">
                <a:latin typeface="Times New Roman" panose="02020603050405020304"/>
                <a:cs typeface="Times New Roman" panose="02020603050405020304"/>
              </a:rPr>
              <a:t>oral </a:t>
            </a:r>
            <a:r>
              <a:rPr sz="2400" spc="-5" dirty="0">
                <a:latin typeface="Times New Roman" panose="02020603050405020304"/>
                <a:cs typeface="Times New Roman" panose="02020603050405020304"/>
              </a:rPr>
              <a:t>medium </a:t>
            </a:r>
            <a:r>
              <a:rPr sz="2400" dirty="0">
                <a:latin typeface="Times New Roman" panose="02020603050405020304"/>
                <a:cs typeface="Times New Roman" panose="02020603050405020304"/>
              </a:rPr>
              <a:t>is  </a:t>
            </a:r>
            <a:r>
              <a:rPr sz="2400" spc="-5" dirty="0">
                <a:latin typeface="Times New Roman" panose="02020603050405020304"/>
                <a:cs typeface="Times New Roman" panose="02020603050405020304"/>
              </a:rPr>
              <a:t>chosen when spontaneous feedback </a:t>
            </a:r>
            <a:r>
              <a:rPr sz="2400" spc="5" dirty="0">
                <a:latin typeface="Times New Roman" panose="02020603050405020304"/>
                <a:cs typeface="Times New Roman" panose="02020603050405020304"/>
              </a:rPr>
              <a:t>is </a:t>
            </a:r>
            <a:r>
              <a:rPr sz="2400" dirty="0">
                <a:latin typeface="Times New Roman" panose="02020603050405020304"/>
                <a:cs typeface="Times New Roman" panose="02020603050405020304"/>
              </a:rPr>
              <a:t>required </a:t>
            </a:r>
            <a:r>
              <a:rPr sz="2400" spc="-5" dirty="0">
                <a:latin typeface="Times New Roman" panose="02020603050405020304"/>
                <a:cs typeface="Times New Roman" panose="02020603050405020304"/>
              </a:rPr>
              <a:t>from </a:t>
            </a:r>
            <a:r>
              <a:rPr sz="2400" dirty="0">
                <a:latin typeface="Times New Roman" panose="02020603050405020304"/>
                <a:cs typeface="Times New Roman" panose="02020603050405020304"/>
              </a:rPr>
              <a:t>the recipient  as </a:t>
            </a:r>
            <a:r>
              <a:rPr sz="2400" spc="-5" dirty="0">
                <a:latin typeface="Times New Roman" panose="02020603050405020304"/>
                <a:cs typeface="Times New Roman" panose="02020603050405020304"/>
              </a:rPr>
              <a:t>misunderstandings </a:t>
            </a:r>
            <a:r>
              <a:rPr sz="2400" dirty="0">
                <a:latin typeface="Times New Roman" panose="02020603050405020304"/>
                <a:cs typeface="Times New Roman" panose="02020603050405020304"/>
              </a:rPr>
              <a:t>are cleared then and</a:t>
            </a:r>
            <a:r>
              <a:rPr sz="2400" spc="-10" dirty="0">
                <a:latin typeface="Times New Roman" panose="02020603050405020304"/>
                <a:cs typeface="Times New Roman" panose="02020603050405020304"/>
              </a:rPr>
              <a:t> </a:t>
            </a:r>
            <a:r>
              <a:rPr sz="2400" spc="5" dirty="0">
                <a:latin typeface="Times New Roman" panose="02020603050405020304"/>
                <a:cs typeface="Times New Roman" panose="02020603050405020304"/>
              </a:rPr>
              <a:t>there</a:t>
            </a:r>
            <a:r>
              <a:rPr sz="2800" spc="5"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4329" y="1560829"/>
            <a:ext cx="8319134" cy="3439160"/>
          </a:xfrm>
          <a:prstGeom prst="rect">
            <a:avLst/>
          </a:prstGeom>
        </p:spPr>
        <p:txBody>
          <a:bodyPr vert="horz" wrap="square" lIns="0" tIns="12700" rIns="0" bIns="0" rtlCol="0">
            <a:spAutoFit/>
          </a:bodyPr>
          <a:lstStyle/>
          <a:p>
            <a:pPr marL="311150" marR="30480" indent="-273050">
              <a:lnSpc>
                <a:spcPct val="100000"/>
              </a:lnSpc>
              <a:spcBef>
                <a:spcPts val="100"/>
              </a:spcBef>
            </a:pPr>
            <a:r>
              <a:rPr sz="2700" b="1" spc="-5" dirty="0">
                <a:latin typeface="Georgia" panose="02040502050405020303"/>
                <a:cs typeface="Georgia" panose="02040502050405020303"/>
              </a:rPr>
              <a:t> </a:t>
            </a:r>
            <a:r>
              <a:rPr lang="en-IN" sz="2700" b="1" spc="-5" dirty="0">
                <a:latin typeface="Georgia" panose="02040502050405020303"/>
                <a:cs typeface="Georgia" panose="02040502050405020303"/>
              </a:rPr>
              <a:t>                            </a:t>
            </a:r>
            <a:r>
              <a:rPr lang="en-IN" sz="3200" b="1" spc="-5" dirty="0">
                <a:solidFill>
                  <a:srgbClr val="7030A0"/>
                </a:solidFill>
                <a:latin typeface="Georgia" panose="02040502050405020303"/>
                <a:cs typeface="Georgia" panose="02040502050405020303"/>
              </a:rPr>
              <a:t>DECODING</a:t>
            </a:r>
            <a:endParaRPr sz="2700" b="1" spc="-5" dirty="0">
              <a:latin typeface="Georgia" panose="02040502050405020303"/>
              <a:cs typeface="Georgia" panose="02040502050405020303"/>
            </a:endParaRPr>
          </a:p>
          <a:p>
            <a:pPr marL="311150" marR="30480" indent="-273050">
              <a:lnSpc>
                <a:spcPct val="100000"/>
              </a:lnSpc>
              <a:spcBef>
                <a:spcPts val="100"/>
              </a:spcBef>
            </a:pPr>
            <a:r>
              <a:rPr sz="2700" b="1" spc="-5" dirty="0">
                <a:latin typeface="Georgia" panose="02040502050405020303"/>
                <a:cs typeface="Georgia" panose="02040502050405020303"/>
              </a:rPr>
              <a:t> </a:t>
            </a:r>
            <a:r>
              <a:rPr lang="en-IN" sz="2700" b="1" spc="-5" dirty="0">
                <a:latin typeface="Georgia" panose="02040502050405020303"/>
                <a:cs typeface="Georgia" panose="02040502050405020303"/>
              </a:rPr>
              <a:t> </a:t>
            </a:r>
            <a:r>
              <a:rPr sz="2700" b="1" dirty="0">
                <a:latin typeface="Georgia" panose="02040502050405020303"/>
                <a:cs typeface="Georgia" panose="02040502050405020303"/>
              </a:rPr>
              <a:t> </a:t>
            </a:r>
            <a:endParaRPr sz="2700" b="1" dirty="0">
              <a:latin typeface="Georgia" panose="02040502050405020303"/>
              <a:cs typeface="Georgia" panose="02040502050405020303"/>
            </a:endParaRPr>
          </a:p>
          <a:p>
            <a:pPr marL="311150" marR="30480" indent="-273050">
              <a:lnSpc>
                <a:spcPct val="100000"/>
              </a:lnSpc>
              <a:spcBef>
                <a:spcPts val="100"/>
              </a:spcBef>
            </a:pPr>
            <a:r>
              <a:rPr sz="2700" b="1" dirty="0">
                <a:latin typeface="Georgia" panose="02040502050405020303"/>
                <a:cs typeface="Georgia" panose="02040502050405020303"/>
              </a:rPr>
              <a:t> </a:t>
            </a:r>
            <a:r>
              <a:rPr lang="en-IN" sz="2700" b="1" dirty="0">
                <a:latin typeface="Georgia" panose="02040502050405020303"/>
                <a:cs typeface="Georgia" panose="02040502050405020303"/>
              </a:rPr>
              <a:t> </a:t>
            </a:r>
            <a:r>
              <a:rPr sz="2700" spc="-5" dirty="0">
                <a:latin typeface="Georgia" panose="02040502050405020303"/>
                <a:cs typeface="Georgia" panose="02040502050405020303"/>
              </a:rPr>
              <a:t>Decoding is on the receiving </a:t>
            </a:r>
            <a:r>
              <a:rPr sz="2700" dirty="0">
                <a:latin typeface="Georgia" panose="02040502050405020303"/>
                <a:cs typeface="Georgia" panose="02040502050405020303"/>
              </a:rPr>
              <a:t>end </a:t>
            </a:r>
            <a:r>
              <a:rPr sz="2700" spc="-5" dirty="0">
                <a:latin typeface="Georgia" panose="02040502050405020303"/>
                <a:cs typeface="Georgia" panose="02040502050405020303"/>
              </a:rPr>
              <a:t>of  communication. This stage is just </a:t>
            </a:r>
            <a:r>
              <a:rPr sz="2700" spc="-10" dirty="0">
                <a:latin typeface="Georgia" panose="02040502050405020303"/>
                <a:cs typeface="Georgia" panose="02040502050405020303"/>
              </a:rPr>
              <a:t>as </a:t>
            </a:r>
            <a:r>
              <a:rPr sz="2700" spc="-5" dirty="0">
                <a:latin typeface="Georgia" panose="02040502050405020303"/>
                <a:cs typeface="Georgia" panose="02040502050405020303"/>
              </a:rPr>
              <a:t>important as  encoding. </a:t>
            </a:r>
            <a:r>
              <a:rPr sz="2700" spc="-10" dirty="0">
                <a:latin typeface="Georgia" panose="02040502050405020303"/>
                <a:cs typeface="Georgia" panose="02040502050405020303"/>
              </a:rPr>
              <a:t>Communication </a:t>
            </a:r>
            <a:r>
              <a:rPr sz="2700" spc="-5" dirty="0">
                <a:latin typeface="Georgia" panose="02040502050405020303"/>
                <a:cs typeface="Georgia" panose="02040502050405020303"/>
              </a:rPr>
              <a:t>can </a:t>
            </a:r>
            <a:r>
              <a:rPr sz="2700" dirty="0">
                <a:latin typeface="Georgia" panose="02040502050405020303"/>
                <a:cs typeface="Georgia" panose="02040502050405020303"/>
              </a:rPr>
              <a:t>go </a:t>
            </a:r>
            <a:r>
              <a:rPr sz="2700" spc="-5" dirty="0">
                <a:latin typeface="Georgia" panose="02040502050405020303"/>
                <a:cs typeface="Georgia" panose="02040502050405020303"/>
              </a:rPr>
              <a:t>downhill </a:t>
            </a:r>
            <a:r>
              <a:rPr sz="2700" spc="-10" dirty="0">
                <a:latin typeface="Georgia" panose="02040502050405020303"/>
                <a:cs typeface="Georgia" panose="02040502050405020303"/>
              </a:rPr>
              <a:t>at </a:t>
            </a:r>
            <a:r>
              <a:rPr sz="2700" spc="-5" dirty="0">
                <a:latin typeface="Georgia" panose="02040502050405020303"/>
                <a:cs typeface="Georgia" panose="02040502050405020303"/>
              </a:rPr>
              <a:t>this  stage if </a:t>
            </a:r>
            <a:r>
              <a:rPr sz="2700" dirty="0">
                <a:latin typeface="Georgia" panose="02040502050405020303"/>
                <a:cs typeface="Georgia" panose="02040502050405020303"/>
              </a:rPr>
              <a:t>the </a:t>
            </a:r>
            <a:r>
              <a:rPr sz="2700" spc="-5" dirty="0">
                <a:latin typeface="Georgia" panose="02040502050405020303"/>
                <a:cs typeface="Georgia" panose="02040502050405020303"/>
              </a:rPr>
              <a:t>receiver is not practicing active listening  </a:t>
            </a:r>
            <a:r>
              <a:rPr sz="2700" spc="-10" dirty="0">
                <a:latin typeface="Georgia" panose="02040502050405020303"/>
                <a:cs typeface="Georgia" panose="02040502050405020303"/>
              </a:rPr>
              <a:t>skills </a:t>
            </a:r>
            <a:r>
              <a:rPr sz="2700" spc="-5" dirty="0">
                <a:latin typeface="Georgia" panose="02040502050405020303"/>
                <a:cs typeface="Georgia" panose="02040502050405020303"/>
              </a:rPr>
              <a:t>or if they do not possess enough information </a:t>
            </a:r>
            <a:r>
              <a:rPr sz="2700" dirty="0">
                <a:latin typeface="Georgia" panose="02040502050405020303"/>
                <a:cs typeface="Georgia" panose="02040502050405020303"/>
              </a:rPr>
              <a:t>to  </a:t>
            </a:r>
            <a:r>
              <a:rPr sz="2700" spc="-10" dirty="0">
                <a:latin typeface="Georgia" panose="02040502050405020303"/>
                <a:cs typeface="Georgia" panose="02040502050405020303"/>
              </a:rPr>
              <a:t>accurately </a:t>
            </a:r>
            <a:r>
              <a:rPr sz="2700" spc="-5" dirty="0">
                <a:latin typeface="Georgia" panose="02040502050405020303"/>
                <a:cs typeface="Georgia" panose="02040502050405020303"/>
              </a:rPr>
              <a:t>decode the message</a:t>
            </a:r>
            <a:endParaRPr sz="2700">
              <a:latin typeface="Georgia" panose="02040502050405020303"/>
              <a:cs typeface="Georgia" panose="020405020504050203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0540" y="1744979"/>
            <a:ext cx="8027670" cy="2487930"/>
          </a:xfrm>
          <a:prstGeom prst="rect">
            <a:avLst/>
          </a:prstGeom>
        </p:spPr>
        <p:txBody>
          <a:bodyPr vert="horz" wrap="square" lIns="0" tIns="53975" rIns="0" bIns="0" rtlCol="0">
            <a:spAutoFit/>
          </a:bodyPr>
          <a:lstStyle/>
          <a:p>
            <a:pPr marL="311150" marR="30480" indent="-273050">
              <a:lnSpc>
                <a:spcPts val="2590"/>
              </a:lnSpc>
              <a:spcBef>
                <a:spcPts val="425"/>
              </a:spcBef>
            </a:pPr>
            <a:r>
              <a:rPr sz="3075" spc="7" baseline="9000" dirty="0">
                <a:solidFill>
                  <a:srgbClr val="D06248"/>
                </a:solidFill>
                <a:latin typeface="UnDotum"/>
                <a:cs typeface="UnDotum"/>
              </a:rPr>
              <a:t></a:t>
            </a:r>
            <a:r>
              <a:rPr lang="en-IN" sz="3075" spc="7" baseline="9000" dirty="0">
                <a:solidFill>
                  <a:srgbClr val="D06248"/>
                </a:solidFill>
                <a:latin typeface="UnDotum"/>
                <a:cs typeface="UnDotum"/>
              </a:rPr>
              <a:t>                       </a:t>
            </a:r>
            <a:r>
              <a:rPr lang="en-IN" sz="5400" b="1" spc="7" baseline="9000" dirty="0">
                <a:solidFill>
                  <a:srgbClr val="7030A0"/>
                </a:solidFill>
                <a:latin typeface="+mj-lt"/>
                <a:cs typeface="+mj-lt"/>
              </a:rPr>
              <a:t>RECEIVER</a:t>
            </a:r>
            <a:endParaRPr sz="3075" spc="7" baseline="9000" dirty="0">
              <a:solidFill>
                <a:srgbClr val="D06248"/>
              </a:solidFill>
              <a:latin typeface="UnDotum"/>
              <a:cs typeface="UnDotum"/>
            </a:endParaRPr>
          </a:p>
          <a:p>
            <a:pPr marL="311150" marR="30480" indent="-273050">
              <a:lnSpc>
                <a:spcPts val="2590"/>
              </a:lnSpc>
              <a:spcBef>
                <a:spcPts val="425"/>
              </a:spcBef>
            </a:pPr>
            <a:endParaRPr sz="3075" b="1" spc="7" baseline="9000" dirty="0">
              <a:solidFill>
                <a:srgbClr val="D06248"/>
              </a:solidFill>
              <a:latin typeface="UnDotum"/>
              <a:cs typeface="UnDotum"/>
            </a:endParaRPr>
          </a:p>
          <a:p>
            <a:pPr marL="311150" marR="30480" indent="-273050">
              <a:lnSpc>
                <a:spcPts val="2590"/>
              </a:lnSpc>
              <a:spcBef>
                <a:spcPts val="425"/>
              </a:spcBef>
            </a:pPr>
            <a:r>
              <a:rPr sz="3075" spc="7" baseline="9000" dirty="0">
                <a:solidFill>
                  <a:srgbClr val="D06248"/>
                </a:solidFill>
                <a:latin typeface="UnDotum"/>
                <a:cs typeface="UnDotum"/>
              </a:rPr>
              <a:t> </a:t>
            </a:r>
            <a:r>
              <a:rPr lang="en-IN" sz="3075" spc="7" baseline="9000" dirty="0">
                <a:solidFill>
                  <a:srgbClr val="D06248"/>
                </a:solidFill>
                <a:latin typeface="UnDotum"/>
                <a:cs typeface="UnDotum"/>
              </a:rPr>
              <a:t>  </a:t>
            </a:r>
            <a:r>
              <a:rPr sz="2400" b="1" dirty="0">
                <a:latin typeface="Georgia" panose="02040502050405020303"/>
                <a:cs typeface="Georgia" panose="02040502050405020303"/>
              </a:rPr>
              <a:t> </a:t>
            </a:r>
            <a:r>
              <a:rPr sz="2400" spc="-5" dirty="0">
                <a:latin typeface="Georgia" panose="02040502050405020303"/>
                <a:cs typeface="Georgia" panose="02040502050405020303"/>
              </a:rPr>
              <a:t>Receiver </a:t>
            </a:r>
            <a:r>
              <a:rPr sz="2400" dirty="0">
                <a:latin typeface="Georgia" panose="02040502050405020303"/>
                <a:cs typeface="Georgia" panose="02040502050405020303"/>
              </a:rPr>
              <a:t>is a </a:t>
            </a:r>
            <a:r>
              <a:rPr sz="2400" spc="-5" dirty="0">
                <a:latin typeface="Georgia" panose="02040502050405020303"/>
                <a:cs typeface="Georgia" panose="02040502050405020303"/>
              </a:rPr>
              <a:t>person for whom the message </a:t>
            </a:r>
            <a:r>
              <a:rPr sz="2400" dirty="0">
                <a:latin typeface="Georgia" panose="02040502050405020303"/>
                <a:cs typeface="Georgia" panose="02040502050405020303"/>
              </a:rPr>
              <a:t>is  </a:t>
            </a:r>
            <a:r>
              <a:rPr sz="2400" spc="-5" dirty="0">
                <a:latin typeface="Georgia" panose="02040502050405020303"/>
                <a:cs typeface="Georgia" panose="02040502050405020303"/>
              </a:rPr>
              <a:t>intended </a:t>
            </a:r>
            <a:r>
              <a:rPr sz="2400" dirty="0">
                <a:latin typeface="Georgia" panose="02040502050405020303"/>
                <a:cs typeface="Georgia" panose="02040502050405020303"/>
              </a:rPr>
              <a:t>or </a:t>
            </a:r>
            <a:r>
              <a:rPr sz="2400" spc="-5" dirty="0">
                <a:latin typeface="Georgia" panose="02040502050405020303"/>
                <a:cs typeface="Georgia" panose="02040502050405020303"/>
              </a:rPr>
              <a:t>aimed. The degree to which the decoder  understands the message </a:t>
            </a:r>
            <a:r>
              <a:rPr sz="2400" dirty="0">
                <a:latin typeface="Georgia" panose="02040502050405020303"/>
                <a:cs typeface="Georgia" panose="02040502050405020303"/>
              </a:rPr>
              <a:t>is </a:t>
            </a:r>
            <a:r>
              <a:rPr sz="2400" spc="-5" dirty="0">
                <a:latin typeface="Georgia" panose="02040502050405020303"/>
                <a:cs typeface="Georgia" panose="02040502050405020303"/>
              </a:rPr>
              <a:t>dependent upon various  factors such as knowledge </a:t>
            </a:r>
            <a:r>
              <a:rPr sz="2400" dirty="0">
                <a:latin typeface="Georgia" panose="02040502050405020303"/>
                <a:cs typeface="Georgia" panose="02040502050405020303"/>
              </a:rPr>
              <a:t>of </a:t>
            </a:r>
            <a:r>
              <a:rPr sz="2400" spc="-5" dirty="0">
                <a:latin typeface="Georgia" panose="02040502050405020303"/>
                <a:cs typeface="Georgia" panose="02040502050405020303"/>
              </a:rPr>
              <a:t>recipient, their  responsiveness to the message, and the reliance </a:t>
            </a:r>
            <a:r>
              <a:rPr sz="2400" dirty="0">
                <a:latin typeface="Georgia" panose="02040502050405020303"/>
                <a:cs typeface="Georgia" panose="02040502050405020303"/>
              </a:rPr>
              <a:t>of  </a:t>
            </a:r>
            <a:r>
              <a:rPr sz="2400" spc="-5" dirty="0">
                <a:latin typeface="Georgia" panose="02040502050405020303"/>
                <a:cs typeface="Georgia" panose="02040502050405020303"/>
              </a:rPr>
              <a:t>encoder </a:t>
            </a:r>
            <a:r>
              <a:rPr sz="2400" dirty="0">
                <a:latin typeface="Georgia" panose="02040502050405020303"/>
                <a:cs typeface="Georgia" panose="02040502050405020303"/>
              </a:rPr>
              <a:t>on</a:t>
            </a:r>
            <a:r>
              <a:rPr sz="2400" spc="-15" dirty="0">
                <a:latin typeface="Georgia" panose="02040502050405020303"/>
                <a:cs typeface="Georgia" panose="02040502050405020303"/>
              </a:rPr>
              <a:t> </a:t>
            </a:r>
            <a:r>
              <a:rPr sz="2400" spc="-5" dirty="0">
                <a:latin typeface="Georgia" panose="02040502050405020303"/>
                <a:cs typeface="Georgia" panose="02040502050405020303"/>
              </a:rPr>
              <a:t>decoder.</a:t>
            </a:r>
            <a:endParaRPr sz="2400">
              <a:latin typeface="Georgia" panose="02040502050405020303"/>
              <a:cs typeface="Georgia" panose="020405020504050203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4329" y="1560829"/>
            <a:ext cx="8376920" cy="4377055"/>
          </a:xfrm>
          <a:prstGeom prst="rect">
            <a:avLst/>
          </a:prstGeom>
        </p:spPr>
        <p:txBody>
          <a:bodyPr vert="horz" wrap="square" lIns="0" tIns="12700" rIns="0" bIns="0" rtlCol="0">
            <a:spAutoFit/>
          </a:bodyPr>
          <a:lstStyle/>
          <a:p>
            <a:pPr marL="311150" marR="30480" indent="-273050">
              <a:lnSpc>
                <a:spcPct val="100000"/>
              </a:lnSpc>
              <a:spcBef>
                <a:spcPts val="100"/>
              </a:spcBef>
            </a:pPr>
            <a:r>
              <a:rPr sz="3525" spc="-7" baseline="9000" dirty="0">
                <a:solidFill>
                  <a:srgbClr val="D06248"/>
                </a:solidFill>
                <a:latin typeface="UnDotum"/>
                <a:cs typeface="UnDotum"/>
              </a:rPr>
              <a:t></a:t>
            </a:r>
            <a:r>
              <a:rPr lang="en-IN" sz="3525" spc="-7" baseline="9000" dirty="0">
                <a:solidFill>
                  <a:srgbClr val="D06248"/>
                </a:solidFill>
                <a:latin typeface="UnDotum"/>
                <a:cs typeface="UnDotum"/>
              </a:rPr>
              <a:t>                </a:t>
            </a:r>
            <a:endParaRPr sz="3525" spc="-7" baseline="9000" dirty="0">
              <a:solidFill>
                <a:srgbClr val="D06248"/>
              </a:solidFill>
              <a:latin typeface="UnDotum"/>
              <a:cs typeface="UnDotum"/>
            </a:endParaRPr>
          </a:p>
          <a:p>
            <a:pPr marL="311150" marR="30480" indent="-273050">
              <a:lnSpc>
                <a:spcPct val="100000"/>
              </a:lnSpc>
              <a:spcBef>
                <a:spcPts val="100"/>
              </a:spcBef>
            </a:pPr>
            <a:r>
              <a:rPr lang="en-IN" sz="3525" spc="-7" baseline="9000" dirty="0">
                <a:solidFill>
                  <a:srgbClr val="D06248"/>
                </a:solidFill>
                <a:latin typeface="UnDotum"/>
                <a:cs typeface="UnDotum"/>
              </a:rPr>
              <a:t>                       </a:t>
            </a:r>
            <a:r>
              <a:rPr lang="en-IN" sz="5400" b="1" i="1" spc="-7" baseline="9000" dirty="0">
                <a:solidFill>
                  <a:srgbClr val="7030A0"/>
                </a:solidFill>
                <a:latin typeface="+mj-lt"/>
                <a:cs typeface="+mj-lt"/>
              </a:rPr>
              <a:t>FEEDBACK</a:t>
            </a:r>
            <a:endParaRPr sz="3525" spc="-7" baseline="9000" dirty="0">
              <a:solidFill>
                <a:srgbClr val="D06248"/>
              </a:solidFill>
              <a:latin typeface="UnDotum"/>
              <a:cs typeface="UnDotum"/>
            </a:endParaRPr>
          </a:p>
          <a:p>
            <a:pPr marL="311150" marR="30480" indent="-273050">
              <a:lnSpc>
                <a:spcPct val="100000"/>
              </a:lnSpc>
              <a:spcBef>
                <a:spcPts val="100"/>
              </a:spcBef>
            </a:pPr>
            <a:r>
              <a:rPr sz="3525" spc="-7" baseline="9000" dirty="0">
                <a:solidFill>
                  <a:srgbClr val="D06248"/>
                </a:solidFill>
                <a:latin typeface="UnDotum"/>
                <a:cs typeface="UnDotum"/>
              </a:rPr>
              <a:t> </a:t>
            </a:r>
            <a:r>
              <a:rPr lang="en-IN" sz="3525" spc="-7" baseline="9000" dirty="0">
                <a:solidFill>
                  <a:srgbClr val="D06248"/>
                </a:solidFill>
                <a:latin typeface="UnDotum"/>
                <a:cs typeface="UnDotum"/>
              </a:rPr>
              <a:t>  </a:t>
            </a:r>
            <a:r>
              <a:rPr sz="2800" spc="-5" dirty="0">
                <a:latin typeface="Georgia" panose="02040502050405020303"/>
                <a:cs typeface="Georgia" panose="02040502050405020303"/>
              </a:rPr>
              <a:t>Feedback </a:t>
            </a:r>
            <a:r>
              <a:rPr sz="2800" spc="-10" dirty="0">
                <a:latin typeface="Georgia" panose="02040502050405020303"/>
                <a:cs typeface="Georgia" panose="02040502050405020303"/>
              </a:rPr>
              <a:t>is </a:t>
            </a:r>
            <a:r>
              <a:rPr sz="2800" spc="-5" dirty="0">
                <a:latin typeface="Georgia" panose="02040502050405020303"/>
                <a:cs typeface="Georgia" panose="02040502050405020303"/>
              </a:rPr>
              <a:t>the </a:t>
            </a:r>
            <a:r>
              <a:rPr sz="2800" spc="-10" dirty="0">
                <a:latin typeface="Georgia" panose="02040502050405020303"/>
                <a:cs typeface="Georgia" panose="02040502050405020303"/>
              </a:rPr>
              <a:t>main </a:t>
            </a:r>
            <a:r>
              <a:rPr sz="2800" spc="-5" dirty="0">
                <a:latin typeface="Georgia" panose="02040502050405020303"/>
                <a:cs typeface="Georgia" panose="02040502050405020303"/>
              </a:rPr>
              <a:t>component of  </a:t>
            </a:r>
            <a:r>
              <a:rPr sz="2800" spc="-10" dirty="0">
                <a:latin typeface="Georgia" panose="02040502050405020303"/>
                <a:cs typeface="Georgia" panose="02040502050405020303"/>
              </a:rPr>
              <a:t>communication </a:t>
            </a:r>
            <a:r>
              <a:rPr sz="2800" spc="-5" dirty="0">
                <a:latin typeface="Georgia" panose="02040502050405020303"/>
                <a:cs typeface="Georgia" panose="02040502050405020303"/>
              </a:rPr>
              <a:t>process </a:t>
            </a:r>
            <a:r>
              <a:rPr sz="2800" spc="-10" dirty="0">
                <a:latin typeface="Georgia" panose="02040502050405020303"/>
                <a:cs typeface="Georgia" panose="02040502050405020303"/>
              </a:rPr>
              <a:t>as it permits </a:t>
            </a:r>
            <a:r>
              <a:rPr sz="2800" spc="-5" dirty="0">
                <a:latin typeface="Georgia" panose="02040502050405020303"/>
                <a:cs typeface="Georgia" panose="02040502050405020303"/>
              </a:rPr>
              <a:t>the sender to  </a:t>
            </a:r>
            <a:r>
              <a:rPr sz="2800" spc="-10" dirty="0">
                <a:latin typeface="Georgia" panose="02040502050405020303"/>
                <a:cs typeface="Georgia" panose="02040502050405020303"/>
              </a:rPr>
              <a:t>analyze </a:t>
            </a:r>
            <a:r>
              <a:rPr sz="2800" spc="-5" dirty="0">
                <a:latin typeface="Georgia" panose="02040502050405020303"/>
                <a:cs typeface="Georgia" panose="02040502050405020303"/>
              </a:rPr>
              <a:t>the efficacy of the message. It helps </a:t>
            </a:r>
            <a:r>
              <a:rPr sz="2800" spc="-10" dirty="0">
                <a:latin typeface="Georgia" panose="02040502050405020303"/>
                <a:cs typeface="Georgia" panose="02040502050405020303"/>
              </a:rPr>
              <a:t>the  </a:t>
            </a:r>
            <a:r>
              <a:rPr sz="2800" spc="-5" dirty="0">
                <a:latin typeface="Georgia" panose="02040502050405020303"/>
                <a:cs typeface="Georgia" panose="02040502050405020303"/>
              </a:rPr>
              <a:t>sender in confirming the correct </a:t>
            </a:r>
            <a:r>
              <a:rPr sz="2800" spc="-10" dirty="0">
                <a:latin typeface="Georgia" panose="02040502050405020303"/>
                <a:cs typeface="Georgia" panose="02040502050405020303"/>
              </a:rPr>
              <a:t>interpretation </a:t>
            </a:r>
            <a:r>
              <a:rPr sz="2800" spc="-5" dirty="0">
                <a:latin typeface="Georgia" panose="02040502050405020303"/>
                <a:cs typeface="Georgia" panose="02040502050405020303"/>
              </a:rPr>
              <a:t>of  message by the decoder. Feedback </a:t>
            </a:r>
            <a:r>
              <a:rPr sz="2800" spc="-10" dirty="0">
                <a:latin typeface="Georgia" panose="02040502050405020303"/>
                <a:cs typeface="Georgia" panose="02040502050405020303"/>
              </a:rPr>
              <a:t>may </a:t>
            </a:r>
            <a:r>
              <a:rPr sz="2800" spc="-5" dirty="0">
                <a:latin typeface="Georgia" panose="02040502050405020303"/>
                <a:cs typeface="Georgia" panose="02040502050405020303"/>
              </a:rPr>
              <a:t>be verbal  </a:t>
            </a:r>
            <a:r>
              <a:rPr sz="2800" spc="-10" dirty="0">
                <a:latin typeface="Georgia" panose="02040502050405020303"/>
                <a:cs typeface="Georgia" panose="02040502050405020303"/>
              </a:rPr>
              <a:t>(through </a:t>
            </a:r>
            <a:r>
              <a:rPr sz="2800" spc="-5" dirty="0">
                <a:latin typeface="Georgia" panose="02040502050405020303"/>
                <a:cs typeface="Georgia" panose="02040502050405020303"/>
              </a:rPr>
              <a:t>words) or non-verbal (in form of smiles,  sighs, etc.). It </a:t>
            </a:r>
            <a:r>
              <a:rPr sz="2800" spc="-10" dirty="0">
                <a:latin typeface="Georgia" panose="02040502050405020303"/>
                <a:cs typeface="Georgia" panose="02040502050405020303"/>
              </a:rPr>
              <a:t>may take written </a:t>
            </a:r>
            <a:r>
              <a:rPr sz="2800" spc="-5" dirty="0">
                <a:latin typeface="Georgia" panose="02040502050405020303"/>
                <a:cs typeface="Georgia" panose="02040502050405020303"/>
              </a:rPr>
              <a:t>form also in form of  memos, </a:t>
            </a:r>
            <a:r>
              <a:rPr sz="2800" spc="-10" dirty="0">
                <a:latin typeface="Georgia" panose="02040502050405020303"/>
                <a:cs typeface="Georgia" panose="02040502050405020303"/>
              </a:rPr>
              <a:t>reports, </a:t>
            </a:r>
            <a:r>
              <a:rPr sz="2800" spc="-5" dirty="0">
                <a:latin typeface="Georgia" panose="02040502050405020303"/>
                <a:cs typeface="Georgia" panose="02040502050405020303"/>
              </a:rPr>
              <a:t>etc.</a:t>
            </a:r>
            <a:endParaRPr sz="2800">
              <a:latin typeface="Georgia" panose="02040502050405020303"/>
              <a:cs typeface="Georgia" panose="020405020504050203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7725" y="426720"/>
            <a:ext cx="7642860" cy="520065"/>
          </a:xfrm>
          <a:prstGeom prst="rect">
            <a:avLst/>
          </a:prstGeom>
        </p:spPr>
        <p:txBody>
          <a:bodyPr vert="horz" wrap="square" lIns="0" tIns="12700" rIns="0" bIns="0" rtlCol="0">
            <a:spAutoFit/>
          </a:bodyPr>
          <a:lstStyle/>
          <a:p>
            <a:pPr marL="12700">
              <a:lnSpc>
                <a:spcPct val="100000"/>
              </a:lnSpc>
              <a:spcBef>
                <a:spcPts val="100"/>
              </a:spcBef>
            </a:pPr>
            <a:r>
              <a:rPr sz="3300" spc="-5" dirty="0">
                <a:solidFill>
                  <a:srgbClr val="00B050"/>
                </a:solidFill>
                <a:latin typeface="Georgia" panose="02040502050405020303"/>
                <a:cs typeface="Georgia" panose="02040502050405020303"/>
              </a:rPr>
              <a:t>F</a:t>
            </a:r>
            <a:r>
              <a:rPr lang="en-IN" sz="3300" spc="-5" dirty="0">
                <a:solidFill>
                  <a:srgbClr val="00B050"/>
                </a:solidFill>
                <a:latin typeface="Georgia" panose="02040502050405020303"/>
                <a:cs typeface="Georgia" panose="02040502050405020303"/>
              </a:rPr>
              <a:t>EATURES OF </a:t>
            </a:r>
            <a:r>
              <a:rPr sz="3300" spc="-5" dirty="0">
                <a:solidFill>
                  <a:srgbClr val="00B050"/>
                </a:solidFill>
                <a:latin typeface="Georgia" panose="02040502050405020303"/>
                <a:cs typeface="Georgia" panose="02040502050405020303"/>
              </a:rPr>
              <a:t>C</a:t>
            </a:r>
            <a:r>
              <a:rPr lang="en-IN" sz="3300" spc="-5" dirty="0">
                <a:solidFill>
                  <a:srgbClr val="00B050"/>
                </a:solidFill>
                <a:latin typeface="Georgia" panose="02040502050405020303"/>
                <a:cs typeface="Georgia" panose="02040502050405020303"/>
              </a:rPr>
              <a:t>OMMUNICATION</a:t>
            </a:r>
            <a:endParaRPr lang="en-IN" sz="3300" spc="-5" dirty="0">
              <a:solidFill>
                <a:srgbClr val="00B050"/>
              </a:solidFill>
              <a:latin typeface="Georgia" panose="02040502050405020303"/>
              <a:cs typeface="Georgia" panose="02040502050405020303"/>
            </a:endParaRPr>
          </a:p>
        </p:txBody>
      </p:sp>
      <p:sp>
        <p:nvSpPr>
          <p:cNvPr id="3" name="object 3"/>
          <p:cNvSpPr txBox="1"/>
          <p:nvPr/>
        </p:nvSpPr>
        <p:spPr>
          <a:xfrm>
            <a:off x="304800" y="1371600"/>
            <a:ext cx="8452485" cy="4972685"/>
          </a:xfrm>
          <a:prstGeom prst="rect">
            <a:avLst/>
          </a:prstGeom>
        </p:spPr>
        <p:txBody>
          <a:bodyPr vert="horz" wrap="square" lIns="0" tIns="97790" rIns="0" bIns="0" rtlCol="0">
            <a:spAutoFit/>
          </a:bodyPr>
          <a:lstStyle/>
          <a:p>
            <a:pPr marL="495300" indent="-457200">
              <a:lnSpc>
                <a:spcPct val="100000"/>
              </a:lnSpc>
              <a:spcBef>
                <a:spcPts val="770"/>
              </a:spcBef>
              <a:buFont typeface="Wingdings" panose="05000000000000000000" charset="0"/>
              <a:buChar char="Ø"/>
            </a:pPr>
            <a:r>
              <a:rPr lang="en-IN" sz="2700" spc="-10" dirty="0">
                <a:latin typeface="Georgia" panose="02040502050405020303"/>
                <a:cs typeface="Georgia" panose="02040502050405020303"/>
              </a:rPr>
              <a:t> Existence of two parties</a:t>
            </a:r>
            <a:endParaRPr sz="2700" spc="-10" dirty="0">
              <a:latin typeface="Georgia" panose="02040502050405020303"/>
              <a:cs typeface="Georgia" panose="02040502050405020303"/>
            </a:endParaRPr>
          </a:p>
          <a:p>
            <a:pPr marL="495300" indent="-457200">
              <a:lnSpc>
                <a:spcPct val="100000"/>
              </a:lnSpc>
              <a:spcBef>
                <a:spcPts val="770"/>
              </a:spcBef>
              <a:buFont typeface="Wingdings" panose="05000000000000000000" charset="0"/>
              <a:buChar char="Ø"/>
            </a:pPr>
            <a:r>
              <a:rPr sz="2700" spc="-10" dirty="0">
                <a:latin typeface="Georgia" panose="02040502050405020303"/>
                <a:cs typeface="Georgia" panose="02040502050405020303"/>
              </a:rPr>
              <a:t>Two-way Process</a:t>
            </a:r>
            <a:endParaRPr sz="2700">
              <a:latin typeface="Georgia" panose="02040502050405020303"/>
              <a:cs typeface="Georgia" panose="02040502050405020303"/>
            </a:endParaRPr>
          </a:p>
          <a:p>
            <a:pPr marL="495300" indent="-457200">
              <a:lnSpc>
                <a:spcPct val="100000"/>
              </a:lnSpc>
              <a:spcBef>
                <a:spcPts val="670"/>
              </a:spcBef>
              <a:buFont typeface="Wingdings" panose="05000000000000000000" charset="0"/>
              <a:buChar char="Ø"/>
            </a:pPr>
            <a:r>
              <a:rPr sz="2700" spc="-5" dirty="0">
                <a:latin typeface="Georgia" panose="02040502050405020303"/>
                <a:cs typeface="Georgia" panose="02040502050405020303"/>
              </a:rPr>
              <a:t>Information Sharing and</a:t>
            </a:r>
            <a:r>
              <a:rPr sz="2700" spc="-80" dirty="0">
                <a:latin typeface="Georgia" panose="02040502050405020303"/>
                <a:cs typeface="Georgia" panose="02040502050405020303"/>
              </a:rPr>
              <a:t> </a:t>
            </a:r>
            <a:r>
              <a:rPr sz="2700" spc="-5" dirty="0">
                <a:latin typeface="Georgia" panose="02040502050405020303"/>
                <a:cs typeface="Georgia" panose="02040502050405020303"/>
              </a:rPr>
              <a:t>Understanding</a:t>
            </a:r>
            <a:endParaRPr sz="2700">
              <a:latin typeface="Georgia" panose="02040502050405020303"/>
              <a:cs typeface="Georgia" panose="02040502050405020303"/>
            </a:endParaRPr>
          </a:p>
          <a:p>
            <a:pPr marL="495300" indent="-457200">
              <a:lnSpc>
                <a:spcPct val="100000"/>
              </a:lnSpc>
              <a:spcBef>
                <a:spcPts val="680"/>
              </a:spcBef>
              <a:buFont typeface="Wingdings" panose="05000000000000000000" charset="0"/>
              <a:buChar char="Ø"/>
            </a:pPr>
            <a:r>
              <a:rPr sz="2700" spc="-5" dirty="0">
                <a:latin typeface="Georgia" panose="02040502050405020303"/>
                <a:cs typeface="Georgia" panose="02040502050405020303"/>
              </a:rPr>
              <a:t>Verbal and</a:t>
            </a:r>
            <a:r>
              <a:rPr sz="2700" spc="-15" dirty="0">
                <a:latin typeface="Georgia" panose="02040502050405020303"/>
                <a:cs typeface="Georgia" panose="02040502050405020303"/>
              </a:rPr>
              <a:t> </a:t>
            </a:r>
            <a:r>
              <a:rPr sz="2700" spc="-5" dirty="0">
                <a:latin typeface="Georgia" panose="02040502050405020303"/>
                <a:cs typeface="Georgia" panose="02040502050405020303"/>
              </a:rPr>
              <a:t>Non-Verbal.</a:t>
            </a:r>
            <a:endParaRPr sz="2700">
              <a:latin typeface="Georgia" panose="02040502050405020303"/>
              <a:cs typeface="Georgia" panose="02040502050405020303"/>
            </a:endParaRPr>
          </a:p>
          <a:p>
            <a:pPr marL="495300" indent="-457200">
              <a:lnSpc>
                <a:spcPct val="100000"/>
              </a:lnSpc>
              <a:spcBef>
                <a:spcPts val="670"/>
              </a:spcBef>
              <a:buFont typeface="Wingdings" panose="05000000000000000000" charset="0"/>
              <a:buChar char="Ø"/>
            </a:pPr>
            <a:r>
              <a:rPr sz="2700" spc="-10" dirty="0">
                <a:latin typeface="Georgia" panose="02040502050405020303"/>
                <a:cs typeface="Georgia" panose="02040502050405020303"/>
              </a:rPr>
              <a:t>Circular</a:t>
            </a:r>
            <a:r>
              <a:rPr sz="2700" spc="-5" dirty="0">
                <a:latin typeface="Georgia" panose="02040502050405020303"/>
                <a:cs typeface="Georgia" panose="02040502050405020303"/>
              </a:rPr>
              <a:t> Flow.</a:t>
            </a:r>
            <a:endParaRPr sz="2700">
              <a:latin typeface="Georgia" panose="02040502050405020303"/>
              <a:cs typeface="Georgia" panose="02040502050405020303"/>
            </a:endParaRPr>
          </a:p>
          <a:p>
            <a:pPr marL="495300" indent="-457200">
              <a:lnSpc>
                <a:spcPct val="100000"/>
              </a:lnSpc>
              <a:spcBef>
                <a:spcPts val="670"/>
              </a:spcBef>
              <a:buFont typeface="Wingdings" panose="05000000000000000000" charset="0"/>
              <a:buChar char="Ø"/>
            </a:pPr>
            <a:r>
              <a:rPr sz="2700" spc="-10" dirty="0">
                <a:latin typeface="Georgia" panose="02040502050405020303"/>
                <a:cs typeface="Georgia" panose="02040502050405020303"/>
              </a:rPr>
              <a:t>Goal</a:t>
            </a:r>
            <a:r>
              <a:rPr sz="2700" spc="-25" dirty="0">
                <a:latin typeface="Georgia" panose="02040502050405020303"/>
                <a:cs typeface="Georgia" panose="02040502050405020303"/>
              </a:rPr>
              <a:t> </a:t>
            </a:r>
            <a:r>
              <a:rPr sz="2700" spc="-5" dirty="0">
                <a:latin typeface="Georgia" panose="02040502050405020303"/>
                <a:cs typeface="Georgia" panose="02040502050405020303"/>
              </a:rPr>
              <a:t>Oriented.</a:t>
            </a:r>
            <a:endParaRPr sz="2700">
              <a:latin typeface="Georgia" panose="02040502050405020303"/>
              <a:cs typeface="Georgia" panose="02040502050405020303"/>
            </a:endParaRPr>
          </a:p>
          <a:p>
            <a:pPr marL="495300" indent="-457200">
              <a:lnSpc>
                <a:spcPct val="100000"/>
              </a:lnSpc>
              <a:spcBef>
                <a:spcPts val="680"/>
              </a:spcBef>
              <a:buFont typeface="Wingdings" panose="05000000000000000000" charset="0"/>
              <a:buChar char="Ø"/>
            </a:pPr>
            <a:r>
              <a:rPr sz="2700" spc="-5" dirty="0">
                <a:latin typeface="Georgia" panose="02040502050405020303"/>
                <a:cs typeface="Georgia" panose="02040502050405020303"/>
              </a:rPr>
              <a:t>Continuous</a:t>
            </a:r>
            <a:r>
              <a:rPr sz="2700" spc="-20" dirty="0">
                <a:latin typeface="Georgia" panose="02040502050405020303"/>
                <a:cs typeface="Georgia" panose="02040502050405020303"/>
              </a:rPr>
              <a:t> </a:t>
            </a:r>
            <a:r>
              <a:rPr sz="2700" spc="-10" dirty="0">
                <a:latin typeface="Georgia" panose="02040502050405020303"/>
                <a:cs typeface="Georgia" panose="02040502050405020303"/>
              </a:rPr>
              <a:t>Process</a:t>
            </a:r>
            <a:endParaRPr sz="2700" spc="-10" dirty="0">
              <a:latin typeface="Georgia" panose="02040502050405020303"/>
              <a:cs typeface="Georgia" panose="02040502050405020303"/>
            </a:endParaRPr>
          </a:p>
          <a:p>
            <a:pPr marL="495300" indent="-457200">
              <a:lnSpc>
                <a:spcPct val="100000"/>
              </a:lnSpc>
              <a:spcBef>
                <a:spcPts val="680"/>
              </a:spcBef>
              <a:buFont typeface="Wingdings" panose="05000000000000000000" charset="0"/>
              <a:buChar char="Ø"/>
            </a:pPr>
            <a:r>
              <a:rPr sz="2700" spc="-10" dirty="0">
                <a:latin typeface="Georgia" panose="02040502050405020303"/>
                <a:cs typeface="Georgia" panose="02040502050405020303"/>
              </a:rPr>
              <a:t> </a:t>
            </a:r>
            <a:r>
              <a:rPr lang="en-IN" sz="2700" spc="-10" dirty="0">
                <a:latin typeface="Georgia" panose="02040502050405020303"/>
                <a:cs typeface="Georgia" panose="02040502050405020303"/>
              </a:rPr>
              <a:t>Universal Process</a:t>
            </a:r>
            <a:endParaRPr lang="en-IN" sz="2700" spc="-10" dirty="0">
              <a:latin typeface="Georgia" panose="02040502050405020303"/>
              <a:cs typeface="Georgia" panose="02040502050405020303"/>
            </a:endParaRPr>
          </a:p>
          <a:p>
            <a:pPr marL="495300" indent="-457200">
              <a:lnSpc>
                <a:spcPct val="100000"/>
              </a:lnSpc>
              <a:spcBef>
                <a:spcPts val="680"/>
              </a:spcBef>
              <a:buFont typeface="Wingdings" panose="05000000000000000000" charset="0"/>
              <a:buChar char="Ø"/>
            </a:pPr>
            <a:r>
              <a:rPr lang="en-IN" sz="2700" spc="-10" dirty="0">
                <a:latin typeface="Georgia" panose="02040502050405020303"/>
                <a:cs typeface="Georgia" panose="02040502050405020303"/>
              </a:rPr>
              <a:t> Communication always exist.</a:t>
            </a:r>
            <a:endParaRPr sz="2700">
              <a:latin typeface="Georgia" panose="02040502050405020303"/>
              <a:cs typeface="Georgia" panose="02040502050405020303"/>
            </a:endParaRPr>
          </a:p>
          <a:p>
            <a:pPr marL="38100">
              <a:lnSpc>
                <a:spcPct val="100000"/>
              </a:lnSpc>
              <a:spcBef>
                <a:spcPts val="670"/>
              </a:spcBef>
            </a:pPr>
            <a:r>
              <a:rPr sz="3450" spc="-7" baseline="10000" dirty="0">
                <a:solidFill>
                  <a:srgbClr val="D06248"/>
                </a:solidFill>
                <a:latin typeface="UnDotum"/>
                <a:cs typeface="UnDotum"/>
              </a:rPr>
              <a:t></a:t>
            </a:r>
            <a:endParaRPr sz="2700">
              <a:latin typeface="Georgia" panose="02040502050405020303"/>
              <a:cs typeface="Georgia" panose="020405020504050203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 y="304800"/>
            <a:ext cx="8839200" cy="6096000"/>
          </a:xfrm>
          <a:prstGeom prst="rect">
            <a:avLst/>
          </a:prstGeom>
          <a:blipFill>
            <a:blip r:embed="rId1" cstate="print"/>
            <a:stretch>
              <a:fillRect/>
            </a:stretch>
          </a:blip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3711</Words>
  <Application>WPS Presentation</Application>
  <PresentationFormat>On-screen Show (4:3)</PresentationFormat>
  <Paragraphs>72</Paragraphs>
  <Slides>13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Georgia</vt:lpstr>
      <vt:lpstr>Wingdings</vt:lpstr>
      <vt:lpstr>UnDotum</vt:lpstr>
      <vt:lpstr>Segoe Print</vt:lpstr>
      <vt:lpstr>Times New Roman</vt:lpstr>
      <vt:lpstr>Calibri</vt:lpstr>
      <vt:lpstr>Microsoft YaHei</vt:lpstr>
      <vt:lpstr>Arial Unicode MS</vt:lpstr>
      <vt:lpstr>Office Theme</vt:lpstr>
      <vt:lpstr>Communication and  Its Process.</vt:lpstr>
      <vt:lpstr>                  MEANING</vt:lpstr>
      <vt:lpstr>            DEFINITION</vt:lpstr>
      <vt:lpstr>PowerPoint 演示文稿</vt:lpstr>
      <vt:lpstr>                     Message       Message is a key idea that the sender wants to  communicate. It is a sign that elicits the response of recipient.  Communication process begins with deciding about the  message to be conveyed. It must be ensured that the main  objective of the message is clear.</vt:lpstr>
      <vt:lpstr>COMPONENTS OF COMMUNICATION  PROCESS</vt:lpstr>
      <vt:lpstr>                                         ENCODING  Encoding is the process where the  information you would like to communicate gets  transferred into a form to be sent and decoded by the  receiver.</vt:lpstr>
      <vt:lpstr>                       Channel   Channels are the way you convey your  message. These channels include verbal such as telephone,  and face-to-face conversations as well as non-verbal such as  picture and gesture. Each individual channel has its  strengths and weaknesses in terms of communicating.</vt:lpstr>
      <vt:lpstr>PowerPoint 演示文稿</vt:lpstr>
      <vt:lpstr>PowerPoint 演示文稿</vt:lpstr>
      <vt:lpstr>PowerPoint 演示文稿</vt:lpstr>
      <vt:lpstr>FEATURES OF COMMUNICATION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and  Its Process.</dc:title>
  <dc:creator/>
  <cp:lastModifiedBy>Paresh Parmar</cp:lastModifiedBy>
  <cp:revision>13</cp:revision>
  <dcterms:created xsi:type="dcterms:W3CDTF">2020-10-07T08:05:00Z</dcterms:created>
  <dcterms:modified xsi:type="dcterms:W3CDTF">2021-01-11T04:41:31Z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2013-07-25T16:30:00Z</vt:filetime>
  </property>
  <property fmtid="{D5CDD505-2E9C-101B-9397-08002B2CF9AE}" pid="3" name="Creator">
    <vt:lpwstr>pdftk 1.44 - www.pdftk.com</vt:lpwstr>
  </property>
  <property fmtid="{D5CDD505-2E9C-101B-9397-08002B2CF9AE}" pid="4" name="LastSaved">
    <vt:filetime>2020-10-07T16:30:00Z</vt:filetime>
  </property>
  <property fmtid="{D5CDD505-2E9C-101B-9397-08002B2CF9AE}" pid="5" name="KSOProductBuildVer">
    <vt:lpwstr>1033-11.2.0.9906</vt:lpwstr>
  </property>
</Properties>
</file>