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174A7-9547-4E39-A37D-4C2E3FCB88DB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00B050"/>
                </a:solidFill>
              </a:rPr>
              <a:t> </a:t>
            </a:r>
            <a:r>
              <a:rPr lang="en-US" sz="8800" dirty="0">
                <a:solidFill>
                  <a:srgbClr val="00B0F0"/>
                </a:solidFill>
              </a:rPr>
              <a:t>TENSES</a:t>
            </a:r>
            <a:endParaRPr lang="en-IN" sz="8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1714" y="684402"/>
            <a:ext cx="505841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3144" y="2240406"/>
            <a:ext cx="7727315" cy="3705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0865" algn="just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word </a:t>
            </a:r>
            <a:r>
              <a:rPr sz="4000" b="1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is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derived  from latin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word </a:t>
            </a:r>
            <a:r>
              <a:rPr sz="40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“tempus” 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which means time. A verb  indicates the</a:t>
            </a:r>
            <a:r>
              <a:rPr sz="4000" spc="139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time 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of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an 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action,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event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or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condition </a:t>
            </a:r>
            <a:r>
              <a:rPr sz="4000" spc="-1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by 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changing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its</a:t>
            </a:r>
            <a:r>
              <a:rPr sz="4000" spc="7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form.</a:t>
            </a:r>
            <a:endParaRPr sz="4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1284" y="684402"/>
            <a:ext cx="665734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BASED ON </a:t>
            </a:r>
            <a:r>
              <a:rPr kumimoji="0" lang="en-IN" sz="44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TIME</a:t>
            </a:r>
            <a:r>
              <a:rPr kumimoji="0" lang="en-IN" sz="4400" b="0" i="0" u="none" strike="noStrike" kern="1200" cap="none" spc="-8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IN" sz="4400" b="0" i="0" u="none" strike="noStrike" kern="1200" cap="none" spc="-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FRAME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3144" y="1630806"/>
            <a:ext cx="7729220" cy="407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0865" algn="just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verb tenses may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be 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categorized 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according to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4000" spc="139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time</a:t>
            </a:r>
            <a:r>
              <a:rPr sz="4000" spc="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frame:</a:t>
            </a:r>
            <a:endParaRPr sz="4000">
              <a:latin typeface="Verdana" panose="020B0604030504040204"/>
              <a:cs typeface="Verdana" panose="020B0604030504040204"/>
            </a:endParaRPr>
          </a:p>
          <a:p>
            <a:pPr marL="861060" indent="-278130">
              <a:lnSpc>
                <a:spcPct val="100000"/>
              </a:lnSpc>
              <a:spcBef>
                <a:spcPts val="960"/>
              </a:spcBef>
              <a:buSzPct val="98000"/>
              <a:buChar char="•"/>
              <a:tabLst>
                <a:tab pos="861060" algn="l"/>
              </a:tabLst>
            </a:pP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Present</a:t>
            </a:r>
            <a:r>
              <a:rPr sz="4000" spc="4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</a:t>
            </a:r>
            <a:endParaRPr sz="4000">
              <a:latin typeface="Verdana" panose="020B0604030504040204"/>
              <a:cs typeface="Verdana" panose="020B0604030504040204"/>
            </a:endParaRPr>
          </a:p>
          <a:p>
            <a:pPr marL="861695" indent="-278765">
              <a:lnSpc>
                <a:spcPct val="100000"/>
              </a:lnSpc>
              <a:spcBef>
                <a:spcPts val="960"/>
              </a:spcBef>
              <a:buSzPct val="98000"/>
              <a:buChar char="•"/>
              <a:tabLst>
                <a:tab pos="862330" algn="l"/>
              </a:tabLst>
            </a:pP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Past</a:t>
            </a:r>
            <a:r>
              <a:rPr sz="40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</a:t>
            </a:r>
            <a:endParaRPr sz="4000">
              <a:latin typeface="Verdana" panose="020B0604030504040204"/>
              <a:cs typeface="Verdana" panose="020B0604030504040204"/>
            </a:endParaRPr>
          </a:p>
          <a:p>
            <a:pPr marL="861060" indent="-278130">
              <a:lnSpc>
                <a:spcPct val="100000"/>
              </a:lnSpc>
              <a:spcBef>
                <a:spcPts val="965"/>
              </a:spcBef>
              <a:buSzPct val="98000"/>
              <a:buChar char="•"/>
              <a:tabLst>
                <a:tab pos="861060" algn="l"/>
              </a:tabLst>
            </a:pPr>
            <a:r>
              <a:rPr sz="40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Future</a:t>
            </a:r>
            <a:r>
              <a:rPr sz="4000" spc="2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40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</a:t>
            </a:r>
            <a:endParaRPr sz="40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3491229" y="684402"/>
            <a:ext cx="519811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BASED ON</a:t>
            </a:r>
            <a:r>
              <a:rPr kumimoji="0" lang="en-IN" sz="44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ASPECT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974594" y="1630121"/>
            <a:ext cx="7158990" cy="4839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68580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Verb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tenses</a:t>
            </a:r>
            <a:r>
              <a:rPr sz="3200" spc="111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may also </a:t>
            </a:r>
            <a:r>
              <a:rPr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be 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categorized according to aspect.  </a:t>
            </a:r>
            <a:r>
              <a:rPr sz="32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Aspect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refers to </a:t>
            </a:r>
            <a:r>
              <a:rPr sz="3200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nature </a:t>
            </a:r>
            <a:r>
              <a:rPr sz="3200" spc="-1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of 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action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described by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verb. 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There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are four</a:t>
            </a:r>
            <a:r>
              <a:rPr sz="3200" spc="-2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aspects: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241300" indent="-228600">
              <a:lnSpc>
                <a:spcPct val="100000"/>
              </a:lnSpc>
              <a:spcBef>
                <a:spcPts val="775"/>
              </a:spcBef>
              <a:buSzPct val="97000"/>
              <a:buChar char="•"/>
              <a:tabLst>
                <a:tab pos="241300" algn="l"/>
              </a:tabLst>
            </a:pP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Simple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SzPct val="97000"/>
              <a:buChar char="•"/>
              <a:tabLst>
                <a:tab pos="241300" algn="l"/>
              </a:tabLst>
            </a:pP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Continuous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3200" spc="-4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Progressive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SzPct val="97000"/>
              <a:buChar char="•"/>
              <a:tabLst>
                <a:tab pos="241300" algn="l"/>
              </a:tabLst>
            </a:pP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or</a:t>
            </a:r>
            <a:r>
              <a:rPr sz="3200" spc="-3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Complete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SzPct val="97000"/>
              <a:buChar char="•"/>
              <a:tabLst>
                <a:tab pos="241300" algn="l"/>
              </a:tabLst>
            </a:pP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</a:t>
            </a:r>
            <a:r>
              <a:rPr sz="3200" spc="-2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Continuous</a:t>
            </a: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6192" y="198247"/>
            <a:ext cx="7379614" cy="6350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931670" marR="5080" lvl="0" indent="-1919605" algn="ctr" defTabSz="914400" rtl="0" eaLnBrk="1" fontAlgn="auto" latinLnBrk="0" hangingPunct="1">
              <a:lnSpc>
                <a:spcPts val="432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spc="-5" dirty="0">
                <a:latin typeface="+mj-lt"/>
                <a:ea typeface="+mj-ea"/>
                <a:cs typeface="+mj-cs"/>
              </a:rPr>
              <a:t>ALL THE TENSES</a:t>
            </a:r>
            <a:endParaRPr kumimoji="0" lang="en-IN" sz="4400" b="0" i="0" u="none" strike="noStrike" kern="1200" cap="none" spc="-5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86557" y="1607629"/>
            <a:ext cx="5822315" cy="3338829"/>
            <a:chOff x="1662557" y="1607629"/>
            <a:chExt cx="5822315" cy="3338829"/>
          </a:xfrm>
        </p:grpSpPr>
        <p:sp>
          <p:nvSpPr>
            <p:cNvPr id="4" name="object 4"/>
            <p:cNvSpPr/>
            <p:nvPr/>
          </p:nvSpPr>
          <p:spPr>
            <a:xfrm>
              <a:off x="4557522" y="4379849"/>
              <a:ext cx="2912745" cy="552450"/>
            </a:xfrm>
            <a:custGeom>
              <a:avLst/>
              <a:gdLst/>
              <a:ahLst/>
              <a:cxnLst/>
              <a:rect l="l" t="t" r="r" b="b"/>
              <a:pathLst>
                <a:path w="2912745" h="552450">
                  <a:moveTo>
                    <a:pt x="2880359" y="551688"/>
                  </a:moveTo>
                  <a:lnTo>
                    <a:pt x="2883407" y="0"/>
                  </a:lnTo>
                  <a:lnTo>
                    <a:pt x="2912363" y="253"/>
                  </a:lnTo>
                  <a:lnTo>
                    <a:pt x="2909316" y="551942"/>
                  </a:lnTo>
                  <a:lnTo>
                    <a:pt x="2880359" y="551688"/>
                  </a:lnTo>
                  <a:close/>
                </a:path>
                <a:path w="2912745" h="552450">
                  <a:moveTo>
                    <a:pt x="0" y="551688"/>
                  </a:moveTo>
                  <a:lnTo>
                    <a:pt x="3048" y="0"/>
                  </a:lnTo>
                  <a:lnTo>
                    <a:pt x="32003" y="253"/>
                  </a:lnTo>
                  <a:lnTo>
                    <a:pt x="28955" y="551942"/>
                  </a:lnTo>
                  <a:lnTo>
                    <a:pt x="0" y="551688"/>
                  </a:lnTo>
                  <a:close/>
                </a:path>
              </a:pathLst>
            </a:custGeom>
            <a:ln w="28956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77162" y="4379975"/>
              <a:ext cx="30480" cy="551815"/>
            </a:xfrm>
            <a:custGeom>
              <a:avLst/>
              <a:gdLst/>
              <a:ahLst/>
              <a:cxnLst/>
              <a:rect l="l" t="t" r="r" b="b"/>
              <a:pathLst>
                <a:path w="30480" h="551814">
                  <a:moveTo>
                    <a:pt x="0" y="551688"/>
                  </a:moveTo>
                  <a:lnTo>
                    <a:pt x="1524" y="0"/>
                  </a:lnTo>
                  <a:lnTo>
                    <a:pt x="30480" y="0"/>
                  </a:lnTo>
                  <a:lnTo>
                    <a:pt x="28956" y="551688"/>
                  </a:lnTo>
                  <a:lnTo>
                    <a:pt x="0" y="551688"/>
                  </a:lnTo>
                  <a:close/>
                </a:path>
              </a:pathLst>
            </a:custGeom>
            <a:ln w="28956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57522" y="2721863"/>
              <a:ext cx="2909570" cy="553720"/>
            </a:xfrm>
            <a:custGeom>
              <a:avLst/>
              <a:gdLst/>
              <a:ahLst/>
              <a:cxnLst/>
              <a:rect l="l" t="t" r="r" b="b"/>
              <a:pathLst>
                <a:path w="2909570" h="553720">
                  <a:moveTo>
                    <a:pt x="2909316" y="553212"/>
                  </a:moveTo>
                  <a:lnTo>
                    <a:pt x="2909316" y="424307"/>
                  </a:lnTo>
                  <a:lnTo>
                    <a:pt x="28955" y="424307"/>
                  </a:lnTo>
                  <a:lnTo>
                    <a:pt x="28955" y="0"/>
                  </a:lnTo>
                  <a:lnTo>
                    <a:pt x="0" y="0"/>
                  </a:lnTo>
                  <a:lnTo>
                    <a:pt x="0" y="453263"/>
                  </a:lnTo>
                  <a:lnTo>
                    <a:pt x="2880359" y="453263"/>
                  </a:lnTo>
                  <a:lnTo>
                    <a:pt x="2880359" y="553212"/>
                  </a:lnTo>
                  <a:lnTo>
                    <a:pt x="2909316" y="553212"/>
                  </a:lnTo>
                  <a:close/>
                </a:path>
              </a:pathLst>
            </a:custGeom>
            <a:ln w="28956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57522" y="2721736"/>
              <a:ext cx="32384" cy="553720"/>
            </a:xfrm>
            <a:custGeom>
              <a:avLst/>
              <a:gdLst/>
              <a:ahLst/>
              <a:cxnLst/>
              <a:rect l="l" t="t" r="r" b="b"/>
              <a:pathLst>
                <a:path w="32385" h="553720">
                  <a:moveTo>
                    <a:pt x="0" y="553212"/>
                  </a:moveTo>
                  <a:lnTo>
                    <a:pt x="3048" y="0"/>
                  </a:lnTo>
                  <a:lnTo>
                    <a:pt x="32003" y="253"/>
                  </a:lnTo>
                  <a:lnTo>
                    <a:pt x="28955" y="553465"/>
                  </a:lnTo>
                  <a:lnTo>
                    <a:pt x="0" y="553212"/>
                  </a:lnTo>
                  <a:close/>
                </a:path>
              </a:pathLst>
            </a:custGeom>
            <a:ln w="28956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77162" y="2721863"/>
              <a:ext cx="2909570" cy="553720"/>
            </a:xfrm>
            <a:custGeom>
              <a:avLst/>
              <a:gdLst/>
              <a:ahLst/>
              <a:cxnLst/>
              <a:rect l="l" t="t" r="r" b="b"/>
              <a:pathLst>
                <a:path w="2909570" h="553720">
                  <a:moveTo>
                    <a:pt x="0" y="553212"/>
                  </a:moveTo>
                  <a:lnTo>
                    <a:pt x="0" y="424307"/>
                  </a:lnTo>
                  <a:lnTo>
                    <a:pt x="2880360" y="424307"/>
                  </a:lnTo>
                  <a:lnTo>
                    <a:pt x="2880360" y="0"/>
                  </a:lnTo>
                  <a:lnTo>
                    <a:pt x="2909316" y="0"/>
                  </a:lnTo>
                  <a:lnTo>
                    <a:pt x="2909316" y="453263"/>
                  </a:lnTo>
                  <a:lnTo>
                    <a:pt x="28956" y="453263"/>
                  </a:lnTo>
                  <a:lnTo>
                    <a:pt x="28956" y="553212"/>
                  </a:lnTo>
                  <a:lnTo>
                    <a:pt x="0" y="553212"/>
                  </a:lnTo>
                  <a:close/>
                </a:path>
              </a:pathLst>
            </a:custGeom>
            <a:ln w="28956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7560" y="1616963"/>
              <a:ext cx="2468879" cy="1104900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32988" y="1612391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4" h="1114425">
                  <a:moveTo>
                    <a:pt x="188467" y="0"/>
                  </a:moveTo>
                  <a:lnTo>
                    <a:pt x="2289556" y="0"/>
                  </a:lnTo>
                  <a:lnTo>
                    <a:pt x="2327656" y="3683"/>
                  </a:lnTo>
                  <a:lnTo>
                    <a:pt x="2395092" y="32131"/>
                  </a:lnTo>
                  <a:lnTo>
                    <a:pt x="2446020" y="83312"/>
                  </a:lnTo>
                  <a:lnTo>
                    <a:pt x="2474467" y="150875"/>
                  </a:lnTo>
                  <a:lnTo>
                    <a:pt x="2478151" y="188468"/>
                  </a:lnTo>
                  <a:lnTo>
                    <a:pt x="2478151" y="925576"/>
                  </a:lnTo>
                  <a:lnTo>
                    <a:pt x="2474467" y="963549"/>
                  </a:lnTo>
                  <a:lnTo>
                    <a:pt x="2446020" y="1031113"/>
                  </a:lnTo>
                  <a:lnTo>
                    <a:pt x="2395092" y="1081913"/>
                  </a:lnTo>
                  <a:lnTo>
                    <a:pt x="2327529" y="1110361"/>
                  </a:lnTo>
                  <a:lnTo>
                    <a:pt x="2289556" y="1114044"/>
                  </a:lnTo>
                  <a:lnTo>
                    <a:pt x="188467" y="1114044"/>
                  </a:lnTo>
                  <a:lnTo>
                    <a:pt x="115442" y="1099439"/>
                  </a:lnTo>
                  <a:lnTo>
                    <a:pt x="55372" y="1058799"/>
                  </a:lnTo>
                  <a:lnTo>
                    <a:pt x="14986" y="998982"/>
                  </a:lnTo>
                  <a:lnTo>
                    <a:pt x="0" y="925576"/>
                  </a:lnTo>
                  <a:lnTo>
                    <a:pt x="0" y="188468"/>
                  </a:lnTo>
                  <a:lnTo>
                    <a:pt x="14986" y="115443"/>
                  </a:lnTo>
                  <a:lnTo>
                    <a:pt x="55245" y="55245"/>
                  </a:lnTo>
                  <a:lnTo>
                    <a:pt x="115442" y="14986"/>
                  </a:lnTo>
                  <a:lnTo>
                    <a:pt x="188467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341746" y="2026361"/>
            <a:ext cx="1510665" cy="27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Verb</a:t>
            </a:r>
            <a:r>
              <a:rPr sz="1700" b="1" spc="-8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700" b="1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Tenses</a:t>
            </a:r>
            <a:endParaRPr sz="17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71865" y="3265741"/>
            <a:ext cx="2487930" cy="1123950"/>
            <a:chOff x="447865" y="3265741"/>
            <a:chExt cx="2487930" cy="1123950"/>
          </a:xfrm>
        </p:grpSpPr>
        <p:sp>
          <p:nvSpPr>
            <p:cNvPr id="13" name="object 13"/>
            <p:cNvSpPr/>
            <p:nvPr/>
          </p:nvSpPr>
          <p:spPr>
            <a:xfrm>
              <a:off x="457199" y="3275075"/>
              <a:ext cx="2468880" cy="11049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627" y="3270503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5" h="1114425">
                  <a:moveTo>
                    <a:pt x="188506" y="0"/>
                  </a:moveTo>
                  <a:lnTo>
                    <a:pt x="2289555" y="0"/>
                  </a:lnTo>
                  <a:lnTo>
                    <a:pt x="2327655" y="3683"/>
                  </a:lnTo>
                  <a:lnTo>
                    <a:pt x="2395092" y="32131"/>
                  </a:lnTo>
                  <a:lnTo>
                    <a:pt x="2446020" y="83312"/>
                  </a:lnTo>
                  <a:lnTo>
                    <a:pt x="2474467" y="150875"/>
                  </a:lnTo>
                  <a:lnTo>
                    <a:pt x="2478151" y="188468"/>
                  </a:lnTo>
                  <a:lnTo>
                    <a:pt x="2478151" y="925576"/>
                  </a:lnTo>
                  <a:lnTo>
                    <a:pt x="2474467" y="963549"/>
                  </a:lnTo>
                  <a:lnTo>
                    <a:pt x="2446020" y="1031113"/>
                  </a:lnTo>
                  <a:lnTo>
                    <a:pt x="2395092" y="1081913"/>
                  </a:lnTo>
                  <a:lnTo>
                    <a:pt x="2327529" y="1110361"/>
                  </a:lnTo>
                  <a:lnTo>
                    <a:pt x="2289555" y="1114044"/>
                  </a:lnTo>
                  <a:lnTo>
                    <a:pt x="188506" y="1114044"/>
                  </a:lnTo>
                  <a:lnTo>
                    <a:pt x="115493" y="1099439"/>
                  </a:lnTo>
                  <a:lnTo>
                    <a:pt x="55308" y="1058799"/>
                  </a:lnTo>
                  <a:lnTo>
                    <a:pt x="15024" y="998982"/>
                  </a:lnTo>
                  <a:lnTo>
                    <a:pt x="0" y="925576"/>
                  </a:lnTo>
                  <a:lnTo>
                    <a:pt x="0" y="188468"/>
                  </a:lnTo>
                  <a:lnTo>
                    <a:pt x="15024" y="115443"/>
                  </a:lnTo>
                  <a:lnTo>
                    <a:pt x="55295" y="55245"/>
                  </a:lnTo>
                  <a:lnTo>
                    <a:pt x="115493" y="14986"/>
                  </a:lnTo>
                  <a:lnTo>
                    <a:pt x="188506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790825" y="3699764"/>
            <a:ext cx="848994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</a:t>
            </a:r>
            <a:r>
              <a:rPr sz="15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resent</a:t>
            </a:r>
            <a:endParaRPr sz="15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52225" y="3265741"/>
            <a:ext cx="2487930" cy="1123950"/>
            <a:chOff x="3328225" y="3265741"/>
            <a:chExt cx="2487930" cy="1123950"/>
          </a:xfrm>
        </p:grpSpPr>
        <p:sp>
          <p:nvSpPr>
            <p:cNvPr id="17" name="object 17"/>
            <p:cNvSpPr/>
            <p:nvPr/>
          </p:nvSpPr>
          <p:spPr>
            <a:xfrm>
              <a:off x="3337560" y="3275075"/>
              <a:ext cx="2468879" cy="11049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332988" y="3270503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4" h="1114425">
                  <a:moveTo>
                    <a:pt x="188467" y="0"/>
                  </a:moveTo>
                  <a:lnTo>
                    <a:pt x="2289556" y="0"/>
                  </a:lnTo>
                  <a:lnTo>
                    <a:pt x="2327656" y="3683"/>
                  </a:lnTo>
                  <a:lnTo>
                    <a:pt x="2395092" y="32131"/>
                  </a:lnTo>
                  <a:lnTo>
                    <a:pt x="2446020" y="83312"/>
                  </a:lnTo>
                  <a:lnTo>
                    <a:pt x="2474467" y="150875"/>
                  </a:lnTo>
                  <a:lnTo>
                    <a:pt x="2478151" y="188468"/>
                  </a:lnTo>
                  <a:lnTo>
                    <a:pt x="2478151" y="925576"/>
                  </a:lnTo>
                  <a:lnTo>
                    <a:pt x="2474467" y="963549"/>
                  </a:lnTo>
                  <a:lnTo>
                    <a:pt x="2446020" y="1031113"/>
                  </a:lnTo>
                  <a:lnTo>
                    <a:pt x="2395092" y="1081913"/>
                  </a:lnTo>
                  <a:lnTo>
                    <a:pt x="2327529" y="1110361"/>
                  </a:lnTo>
                  <a:lnTo>
                    <a:pt x="2289556" y="1114044"/>
                  </a:lnTo>
                  <a:lnTo>
                    <a:pt x="188467" y="1114044"/>
                  </a:lnTo>
                  <a:lnTo>
                    <a:pt x="115442" y="1099439"/>
                  </a:lnTo>
                  <a:lnTo>
                    <a:pt x="55372" y="1058799"/>
                  </a:lnTo>
                  <a:lnTo>
                    <a:pt x="14986" y="998982"/>
                  </a:lnTo>
                  <a:lnTo>
                    <a:pt x="0" y="925576"/>
                  </a:lnTo>
                  <a:lnTo>
                    <a:pt x="0" y="188468"/>
                  </a:lnTo>
                  <a:lnTo>
                    <a:pt x="14986" y="115443"/>
                  </a:lnTo>
                  <a:lnTo>
                    <a:pt x="55245" y="55245"/>
                  </a:lnTo>
                  <a:lnTo>
                    <a:pt x="115442" y="14986"/>
                  </a:lnTo>
                  <a:lnTo>
                    <a:pt x="188467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849492" y="3699764"/>
            <a:ext cx="49339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</a:t>
            </a:r>
            <a:r>
              <a:rPr sz="15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st</a:t>
            </a:r>
            <a:endParaRPr sz="15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32585" y="3265741"/>
            <a:ext cx="2487930" cy="1123950"/>
            <a:chOff x="6208585" y="3265741"/>
            <a:chExt cx="2487930" cy="1123950"/>
          </a:xfrm>
        </p:grpSpPr>
        <p:sp>
          <p:nvSpPr>
            <p:cNvPr id="21" name="object 21"/>
            <p:cNvSpPr/>
            <p:nvPr/>
          </p:nvSpPr>
          <p:spPr>
            <a:xfrm>
              <a:off x="6217919" y="3275075"/>
              <a:ext cx="2468879" cy="11049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13347" y="3270503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4" h="1114425">
                  <a:moveTo>
                    <a:pt x="188467" y="0"/>
                  </a:moveTo>
                  <a:lnTo>
                    <a:pt x="2289555" y="0"/>
                  </a:lnTo>
                  <a:lnTo>
                    <a:pt x="2327655" y="3683"/>
                  </a:lnTo>
                  <a:lnTo>
                    <a:pt x="2395093" y="32131"/>
                  </a:lnTo>
                  <a:lnTo>
                    <a:pt x="2446020" y="83312"/>
                  </a:lnTo>
                  <a:lnTo>
                    <a:pt x="2474468" y="150875"/>
                  </a:lnTo>
                  <a:lnTo>
                    <a:pt x="2478151" y="188468"/>
                  </a:lnTo>
                  <a:lnTo>
                    <a:pt x="2478151" y="925576"/>
                  </a:lnTo>
                  <a:lnTo>
                    <a:pt x="2474468" y="963549"/>
                  </a:lnTo>
                  <a:lnTo>
                    <a:pt x="2446020" y="1031113"/>
                  </a:lnTo>
                  <a:lnTo>
                    <a:pt x="2395093" y="1081913"/>
                  </a:lnTo>
                  <a:lnTo>
                    <a:pt x="2327529" y="1110361"/>
                  </a:lnTo>
                  <a:lnTo>
                    <a:pt x="2289555" y="1114044"/>
                  </a:lnTo>
                  <a:lnTo>
                    <a:pt x="188467" y="1114044"/>
                  </a:lnTo>
                  <a:lnTo>
                    <a:pt x="115442" y="1099439"/>
                  </a:lnTo>
                  <a:lnTo>
                    <a:pt x="55372" y="1058799"/>
                  </a:lnTo>
                  <a:lnTo>
                    <a:pt x="14986" y="998982"/>
                  </a:lnTo>
                  <a:lnTo>
                    <a:pt x="0" y="925576"/>
                  </a:lnTo>
                  <a:lnTo>
                    <a:pt x="0" y="188468"/>
                  </a:lnTo>
                  <a:lnTo>
                    <a:pt x="14986" y="115443"/>
                  </a:lnTo>
                  <a:lnTo>
                    <a:pt x="55244" y="55245"/>
                  </a:lnTo>
                  <a:lnTo>
                    <a:pt x="115442" y="14986"/>
                  </a:lnTo>
                  <a:lnTo>
                    <a:pt x="188467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613775" y="3699764"/>
            <a:ext cx="72834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Futu</a:t>
            </a:r>
            <a:r>
              <a:rPr sz="15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r</a:t>
            </a:r>
            <a:r>
              <a:rPr sz="1500" b="1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</a:t>
            </a:r>
            <a:endParaRPr sz="15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71865" y="4922329"/>
            <a:ext cx="2487930" cy="1123950"/>
            <a:chOff x="447865" y="4922329"/>
            <a:chExt cx="2487930" cy="1123950"/>
          </a:xfrm>
        </p:grpSpPr>
        <p:sp>
          <p:nvSpPr>
            <p:cNvPr id="25" name="object 25"/>
            <p:cNvSpPr/>
            <p:nvPr/>
          </p:nvSpPr>
          <p:spPr>
            <a:xfrm>
              <a:off x="457199" y="4931663"/>
              <a:ext cx="2468880" cy="11049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2627" y="4927091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5" h="1114425">
                  <a:moveTo>
                    <a:pt x="188506" y="0"/>
                  </a:moveTo>
                  <a:lnTo>
                    <a:pt x="2289555" y="0"/>
                  </a:lnTo>
                  <a:lnTo>
                    <a:pt x="2327655" y="3682"/>
                  </a:lnTo>
                  <a:lnTo>
                    <a:pt x="2395092" y="32130"/>
                  </a:lnTo>
                  <a:lnTo>
                    <a:pt x="2446020" y="83311"/>
                  </a:lnTo>
                  <a:lnTo>
                    <a:pt x="2474467" y="150875"/>
                  </a:lnTo>
                  <a:lnTo>
                    <a:pt x="2478151" y="188467"/>
                  </a:lnTo>
                  <a:lnTo>
                    <a:pt x="2478151" y="925537"/>
                  </a:lnTo>
                  <a:lnTo>
                    <a:pt x="2474467" y="963536"/>
                  </a:lnTo>
                  <a:lnTo>
                    <a:pt x="2446020" y="1031100"/>
                  </a:lnTo>
                  <a:lnTo>
                    <a:pt x="2395092" y="1081912"/>
                  </a:lnTo>
                  <a:lnTo>
                    <a:pt x="2327529" y="1110411"/>
                  </a:lnTo>
                  <a:lnTo>
                    <a:pt x="2289555" y="1114043"/>
                  </a:lnTo>
                  <a:lnTo>
                    <a:pt x="188506" y="1114043"/>
                  </a:lnTo>
                  <a:lnTo>
                    <a:pt x="115493" y="1099413"/>
                  </a:lnTo>
                  <a:lnTo>
                    <a:pt x="55308" y="1058760"/>
                  </a:lnTo>
                  <a:lnTo>
                    <a:pt x="15024" y="998943"/>
                  </a:lnTo>
                  <a:lnTo>
                    <a:pt x="0" y="925537"/>
                  </a:lnTo>
                  <a:lnTo>
                    <a:pt x="0" y="188467"/>
                  </a:lnTo>
                  <a:lnTo>
                    <a:pt x="15024" y="115442"/>
                  </a:lnTo>
                  <a:lnTo>
                    <a:pt x="55295" y="55244"/>
                  </a:lnTo>
                  <a:lnTo>
                    <a:pt x="115493" y="14985"/>
                  </a:lnTo>
                  <a:lnTo>
                    <a:pt x="188506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022449" y="4983556"/>
            <a:ext cx="2257425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Present</a:t>
            </a:r>
            <a:r>
              <a:rPr sz="1600" b="1" spc="1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simple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Present</a:t>
            </a:r>
            <a:r>
              <a:rPr sz="1600" b="1" spc="-3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Continuous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2449" y="5471871"/>
            <a:ext cx="178625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Present</a:t>
            </a:r>
            <a:r>
              <a:rPr sz="1600" b="1" spc="-3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22449" y="5715711"/>
            <a:ext cx="2454910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Present Perfect</a:t>
            </a:r>
            <a:r>
              <a:rPr sz="1600" b="1" spc="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Cont.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52225" y="4922329"/>
            <a:ext cx="2487930" cy="1123950"/>
            <a:chOff x="3328225" y="4922329"/>
            <a:chExt cx="2487930" cy="1123950"/>
          </a:xfrm>
        </p:grpSpPr>
        <p:sp>
          <p:nvSpPr>
            <p:cNvPr id="31" name="object 31"/>
            <p:cNvSpPr/>
            <p:nvPr/>
          </p:nvSpPr>
          <p:spPr>
            <a:xfrm>
              <a:off x="3337560" y="4931663"/>
              <a:ext cx="2468879" cy="11049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332988" y="4927091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4" h="1114425">
                  <a:moveTo>
                    <a:pt x="188467" y="0"/>
                  </a:moveTo>
                  <a:lnTo>
                    <a:pt x="2289556" y="0"/>
                  </a:lnTo>
                  <a:lnTo>
                    <a:pt x="2327656" y="3682"/>
                  </a:lnTo>
                  <a:lnTo>
                    <a:pt x="2395092" y="32130"/>
                  </a:lnTo>
                  <a:lnTo>
                    <a:pt x="2446020" y="83311"/>
                  </a:lnTo>
                  <a:lnTo>
                    <a:pt x="2474467" y="150875"/>
                  </a:lnTo>
                  <a:lnTo>
                    <a:pt x="2478151" y="188467"/>
                  </a:lnTo>
                  <a:lnTo>
                    <a:pt x="2478151" y="925537"/>
                  </a:lnTo>
                  <a:lnTo>
                    <a:pt x="2474467" y="963536"/>
                  </a:lnTo>
                  <a:lnTo>
                    <a:pt x="2446020" y="1031100"/>
                  </a:lnTo>
                  <a:lnTo>
                    <a:pt x="2395092" y="1081912"/>
                  </a:lnTo>
                  <a:lnTo>
                    <a:pt x="2327529" y="1110411"/>
                  </a:lnTo>
                  <a:lnTo>
                    <a:pt x="2289556" y="1114043"/>
                  </a:lnTo>
                  <a:lnTo>
                    <a:pt x="188467" y="1114043"/>
                  </a:lnTo>
                  <a:lnTo>
                    <a:pt x="115442" y="1099413"/>
                  </a:lnTo>
                  <a:lnTo>
                    <a:pt x="55372" y="1058760"/>
                  </a:lnTo>
                  <a:lnTo>
                    <a:pt x="14986" y="998943"/>
                  </a:lnTo>
                  <a:lnTo>
                    <a:pt x="0" y="925537"/>
                  </a:lnTo>
                  <a:lnTo>
                    <a:pt x="0" y="188467"/>
                  </a:lnTo>
                  <a:lnTo>
                    <a:pt x="14986" y="115442"/>
                  </a:lnTo>
                  <a:lnTo>
                    <a:pt x="55245" y="55244"/>
                  </a:lnTo>
                  <a:lnTo>
                    <a:pt x="115442" y="14985"/>
                  </a:lnTo>
                  <a:lnTo>
                    <a:pt x="188467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902834" y="4983556"/>
            <a:ext cx="2075814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2565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Past </a:t>
            </a:r>
            <a:r>
              <a:rPr lang="en-US"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simple</a:t>
            </a:r>
            <a:r>
              <a:rPr sz="1600" b="1" spc="-1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Past</a:t>
            </a:r>
            <a:r>
              <a:rPr sz="1600" b="1" spc="-7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Continuous  Past</a:t>
            </a:r>
            <a:r>
              <a:rPr sz="1600" b="1" spc="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Past </a:t>
            </a: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</a:t>
            </a:r>
            <a:r>
              <a:rPr sz="1600" b="1" spc="-2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Cont.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32776" y="4922520"/>
            <a:ext cx="2487295" cy="1123315"/>
            <a:chOff x="6208776" y="4922520"/>
            <a:chExt cx="2487295" cy="1123315"/>
          </a:xfrm>
        </p:grpSpPr>
        <p:sp>
          <p:nvSpPr>
            <p:cNvPr id="35" name="object 35"/>
            <p:cNvSpPr/>
            <p:nvPr/>
          </p:nvSpPr>
          <p:spPr>
            <a:xfrm>
              <a:off x="6217920" y="4931664"/>
              <a:ext cx="2468879" cy="11049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13348" y="4927092"/>
              <a:ext cx="2478405" cy="1114425"/>
            </a:xfrm>
            <a:custGeom>
              <a:avLst/>
              <a:gdLst/>
              <a:ahLst/>
              <a:cxnLst/>
              <a:rect l="l" t="t" r="r" b="b"/>
              <a:pathLst>
                <a:path w="2478404" h="1114425">
                  <a:moveTo>
                    <a:pt x="188467" y="0"/>
                  </a:moveTo>
                  <a:lnTo>
                    <a:pt x="2289555" y="0"/>
                  </a:lnTo>
                  <a:lnTo>
                    <a:pt x="2327655" y="3682"/>
                  </a:lnTo>
                  <a:lnTo>
                    <a:pt x="2395093" y="32130"/>
                  </a:lnTo>
                  <a:lnTo>
                    <a:pt x="2446020" y="83311"/>
                  </a:lnTo>
                  <a:lnTo>
                    <a:pt x="2474468" y="150875"/>
                  </a:lnTo>
                  <a:lnTo>
                    <a:pt x="2478151" y="188467"/>
                  </a:lnTo>
                  <a:lnTo>
                    <a:pt x="2478151" y="925537"/>
                  </a:lnTo>
                  <a:lnTo>
                    <a:pt x="2474468" y="963536"/>
                  </a:lnTo>
                  <a:lnTo>
                    <a:pt x="2446020" y="1031100"/>
                  </a:lnTo>
                  <a:lnTo>
                    <a:pt x="2395093" y="1081912"/>
                  </a:lnTo>
                  <a:lnTo>
                    <a:pt x="2327529" y="1110411"/>
                  </a:lnTo>
                  <a:lnTo>
                    <a:pt x="2289555" y="1114043"/>
                  </a:lnTo>
                  <a:lnTo>
                    <a:pt x="188467" y="1114043"/>
                  </a:lnTo>
                  <a:lnTo>
                    <a:pt x="115442" y="1099413"/>
                  </a:lnTo>
                  <a:lnTo>
                    <a:pt x="55372" y="1058760"/>
                  </a:lnTo>
                  <a:lnTo>
                    <a:pt x="14986" y="998943"/>
                  </a:lnTo>
                  <a:lnTo>
                    <a:pt x="0" y="925537"/>
                  </a:lnTo>
                  <a:lnTo>
                    <a:pt x="0" y="188467"/>
                  </a:lnTo>
                  <a:lnTo>
                    <a:pt x="14986" y="115442"/>
                  </a:lnTo>
                  <a:lnTo>
                    <a:pt x="55244" y="55244"/>
                  </a:lnTo>
                  <a:lnTo>
                    <a:pt x="115442" y="14985"/>
                  </a:lnTo>
                  <a:lnTo>
                    <a:pt x="188467" y="0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7784719" y="4983556"/>
            <a:ext cx="2326640" cy="99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Future </a:t>
            </a:r>
            <a:r>
              <a:rPr lang="en-US"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simple</a:t>
            </a:r>
            <a:r>
              <a:rPr sz="1600" b="1" spc="-1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Future Continuous  Future </a:t>
            </a: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 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Future </a:t>
            </a:r>
            <a:r>
              <a:rPr sz="1600" b="1" spc="-1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Perfect</a:t>
            </a:r>
            <a:r>
              <a:rPr sz="1600" b="1" spc="-4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Cont.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777228" y="6320027"/>
            <a:ext cx="3438525" cy="542925"/>
            <a:chOff x="5253228" y="6320027"/>
            <a:chExt cx="3438525" cy="542925"/>
          </a:xfrm>
        </p:grpSpPr>
        <p:sp>
          <p:nvSpPr>
            <p:cNvPr id="39" name="object 39"/>
            <p:cNvSpPr/>
            <p:nvPr/>
          </p:nvSpPr>
          <p:spPr>
            <a:xfrm>
              <a:off x="5257800" y="6324599"/>
              <a:ext cx="3429000" cy="533400"/>
            </a:xfrm>
            <a:custGeom>
              <a:avLst/>
              <a:gdLst/>
              <a:ahLst/>
              <a:cxnLst/>
              <a:rect l="l" t="t" r="r" b="b"/>
              <a:pathLst>
                <a:path w="3429000" h="533400">
                  <a:moveTo>
                    <a:pt x="34290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3429000" y="533399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ADC9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57800" y="6324599"/>
              <a:ext cx="3429000" cy="533400"/>
            </a:xfrm>
            <a:custGeom>
              <a:avLst/>
              <a:gdLst/>
              <a:ahLst/>
              <a:cxnLst/>
              <a:rect l="l" t="t" r="r" b="b"/>
              <a:pathLst>
                <a:path w="3429000" h="533400">
                  <a:moveTo>
                    <a:pt x="0" y="533399"/>
                  </a:moveTo>
                  <a:lnTo>
                    <a:pt x="3429000" y="533399"/>
                  </a:lnTo>
                  <a:lnTo>
                    <a:pt x="3429000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144">
              <a:solidFill>
                <a:srgbClr val="0066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786371" y="6365240"/>
            <a:ext cx="34201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0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CONTENTS</a:t>
            </a:r>
            <a:endParaRPr sz="28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7404" y="263397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PRESENT  SIMPLE</a:t>
            </a:r>
            <a:r>
              <a:rPr kumimoji="0" lang="en-IN" sz="4400" b="0" i="0" u="none" strike="noStrike" kern="1200" cap="none" spc="-9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TENSE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494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1485265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The </a:t>
            </a:r>
            <a:r>
              <a:rPr sz="3200" b="1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simple present </a:t>
            </a:r>
            <a:r>
              <a:rPr sz="3200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is </a:t>
            </a:r>
            <a:r>
              <a:rPr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used  to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describe 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habitual actions, likes-dislikes, Universal truths or general truths etc.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320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3200" spc="-2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3200" spc="-5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Example</a:t>
            </a: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-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 I play cricket every Sunday.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2. I like to read books.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3. The sun  rises in the East.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86045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SENTENCE STRUCTURE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0" y="1630121"/>
            <a:ext cx="8072755" cy="5731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Subject + verb(V1) + object +other words ( I , We, You, They)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 They play cricket every Sunday.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Subject + verb-s/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es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object + o.w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(He, She, It)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For example: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1. He donates blood every year.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INTERROGATIVE &amp; NEGATIVE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SENTENCE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8130" y="1642745"/>
            <a:ext cx="9130665" cy="691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Do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/Does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+ Subject + verb(V1) + object +other words</a:t>
            </a:r>
            <a:r>
              <a:rPr lang="en-IN" alt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?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For example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1.People follow the traffic rules.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Do People follow the traffic rules?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Yes, People follow the traffic rules.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No, People don’t follow the traffic rules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              </a:t>
            </a:r>
            <a:endParaRPr lang="en-US" sz="3200" spc="-5" dirty="0">
              <a:solidFill>
                <a:srgbClr val="006699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6699"/>
                </a:solidFill>
                <a:latin typeface="Verdana" panose="020B0604030504040204"/>
                <a:cs typeface="Verdana" panose="020B0604030504040204"/>
              </a:rPr>
              <a:t> </a:t>
            </a:r>
            <a:endParaRPr sz="3200">
              <a:latin typeface="Verdana" panose="020B0604030504040204"/>
              <a:cs typeface="Verdana" panose="020B0604030504040204"/>
            </a:endParaRPr>
          </a:p>
          <a:p>
            <a:pPr marL="927100" algn="just">
              <a:lnSpc>
                <a:spcPct val="100000"/>
              </a:lnSpc>
              <a:spcBef>
                <a:spcPts val="765"/>
              </a:spcBef>
            </a:pPr>
            <a:endParaRPr sz="32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24034" y="1643050"/>
            <a:ext cx="8072755" cy="5831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Does +Subject + verb + object + o.w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   (He, She, It)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1.She goes to market everyday.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Does She go to market everyday?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Yes, She goes to market everyday.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No, She doesn’t go to market 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everyday.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SIGNAL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WORDS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2181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Everyday, week, month, year, always, 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sometimes, often, frequently</a:t>
            </a:r>
            <a:r>
              <a:rPr 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, </a:t>
            </a:r>
            <a:r>
              <a:rPr lang="en-GB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generally, usually,</a:t>
            </a:r>
            <a:r>
              <a:rPr 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never</a:t>
            </a:r>
            <a:r>
              <a:rPr lang="en-GB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, occasionally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etc.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38935" y="1642745"/>
            <a:ext cx="8457565" cy="5240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SINGULAR                    PLURAL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          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F.P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I </a:t>
            </a:r>
            <a:r>
              <a:rPr lang="en-IN" alt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                     </a:t>
            </a:r>
            <a:r>
              <a:rPr lang="en-GB" alt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 </a:t>
            </a:r>
            <a:r>
              <a:rPr lang="en-IN" altLang="en-US" sz="3200" spc="-5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We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S.P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 </a:t>
            </a:r>
            <a:r>
              <a:rPr lang="en-GB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You</a:t>
            </a: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IN" alt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T.P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He </a:t>
            </a:r>
            <a:r>
              <a:rPr lang="en-GB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 dirty="0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She </a:t>
            </a:r>
            <a:r>
              <a:rPr lang="en-GB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                        </a:t>
            </a: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They </a:t>
            </a:r>
            <a:endParaRPr lang="en-IN" altLang="en-US" sz="3200" spc="-5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IN" altLang="en-US" sz="3200" spc="-5">
                <a:solidFill>
                  <a:srgbClr val="FF0000"/>
                </a:solidFill>
                <a:latin typeface="Verdana" panose="020B0604030504040204"/>
                <a:cs typeface="Verdana" panose="020B0604030504040204"/>
              </a:rPr>
              <a:t>     It </a:t>
            </a:r>
            <a:endParaRPr lang="en-IN" altLang="en-US" sz="3200" spc="-5" dirty="0">
              <a:solidFill>
                <a:srgbClr val="FF000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137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S/ES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RULES</a:t>
            </a:r>
            <a:endParaRPr kumimoji="0" lang="en-US" sz="4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[HE/SHE/IT]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034" y="1643050"/>
            <a:ext cx="8072755" cy="553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Ø"/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Generally, ‘s’ is added.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 For example: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come- comes, put-puts, learn- learns etc.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Ø"/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When verb ends with 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ss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, 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sh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, 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ch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, x and o then ‘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es’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is added.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For example: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pass – passes , wash- washes, teach- teaches, fix- fixes , go-goes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S/ES</a:t>
            </a:r>
            <a:r>
              <a:rPr kumimoji="0" lang="en-US" sz="4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RULES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024034" y="1643050"/>
            <a:ext cx="8072755" cy="3265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  <a:buFont typeface="Wingdings" panose="05000000000000000000" pitchFamily="2" charset="2"/>
              <a:buChar char="Ø"/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When verb ends with ‘y’ and is preceded by consonant then ‘y’ is removed and ‘</a:t>
            </a:r>
            <a:r>
              <a:rPr lang="en-US" sz="3200" spc="-5" dirty="0" err="1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ies</a:t>
            </a: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’ is added.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For example: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latin typeface="Verdana" panose="020B0604030504040204"/>
                <a:cs typeface="Verdana" panose="020B0604030504040204"/>
              </a:rPr>
              <a:t> try-tries, fly-flies etc.</a:t>
            </a:r>
            <a:endParaRPr lang="en-US" sz="3200" spc="-5" dirty="0">
              <a:solidFill>
                <a:srgbClr val="0070C0"/>
              </a:solidFill>
              <a:latin typeface="Verdana" panose="020B0604030504040204"/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latin typeface="Verdana" panose="020B0604030504040204"/>
                <a:cs typeface="Verdana" panose="020B0604030504040204"/>
              </a:rPr>
              <a:t> </a:t>
            </a:r>
            <a:endParaRPr lang="en-US" sz="3200" spc="-5" dirty="0">
              <a:solidFill>
                <a:srgbClr val="7030A0"/>
              </a:solidFill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8348" y="214290"/>
            <a:ext cx="778446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EXERCISE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4519" y="1643050"/>
            <a:ext cx="8072755" cy="7698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7030A0"/>
                </a:solidFill>
                <a:cs typeface="Verdana" panose="020B0604030504040204"/>
              </a:rPr>
              <a:t>Fill in the blanks with appropriate verb form.</a:t>
            </a:r>
            <a:endParaRPr lang="en-US" sz="3200" spc="-5" dirty="0">
              <a:solidFill>
                <a:srgbClr val="7030A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1.I always___  to college by bike.(go)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27050" indent="-51435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2.My sister ___ food every Sunday.(cook)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514350" indent="-514350"/>
            <a:r>
              <a:rPr lang="en-IN" sz="3200" dirty="0">
                <a:solidFill>
                  <a:srgbClr val="0070C0"/>
                </a:solidFill>
              </a:rPr>
              <a:t>3. She ___ with her parents. (live)</a:t>
            </a:r>
            <a:endParaRPr lang="en-IN" sz="3200" dirty="0">
              <a:solidFill>
                <a:srgbClr val="0070C0"/>
              </a:solidFill>
            </a:endParaRPr>
          </a:p>
          <a:p>
            <a:pPr marL="514350" indent="-514350"/>
            <a:r>
              <a:rPr lang="en-IN" sz="3200" dirty="0">
                <a:solidFill>
                  <a:srgbClr val="0070C0"/>
                </a:solidFill>
              </a:rPr>
              <a:t>4.Emily___ delicious cookies. (make)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5.</a:t>
            </a:r>
            <a:r>
              <a:rPr lang="en-IN" sz="3200" dirty="0">
                <a:solidFill>
                  <a:srgbClr val="0070C0"/>
                </a:solidFill>
              </a:rPr>
              <a:t> </a:t>
            </a:r>
            <a:r>
              <a:rPr lang="en-IN" sz="3200" dirty="0" err="1">
                <a:solidFill>
                  <a:srgbClr val="0070C0"/>
                </a:solidFill>
              </a:rPr>
              <a:t>Arti</a:t>
            </a:r>
            <a:r>
              <a:rPr lang="en-IN" sz="3200" dirty="0">
                <a:solidFill>
                  <a:srgbClr val="0070C0"/>
                </a:solidFill>
              </a:rPr>
              <a:t> and her husband___ in Singapore.(live)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6.</a:t>
            </a:r>
            <a:r>
              <a:rPr lang="en-IN" sz="3200" dirty="0" err="1">
                <a:solidFill>
                  <a:srgbClr val="0070C0"/>
                </a:solidFill>
              </a:rPr>
              <a:t>Rohan</a:t>
            </a:r>
            <a:r>
              <a:rPr lang="en-IN" sz="3200" dirty="0">
                <a:solidFill>
                  <a:srgbClr val="0070C0"/>
                </a:solidFill>
              </a:rPr>
              <a:t> and </a:t>
            </a:r>
            <a:r>
              <a:rPr lang="en-IN" sz="3200" dirty="0" err="1">
                <a:solidFill>
                  <a:srgbClr val="0070C0"/>
                </a:solidFill>
              </a:rPr>
              <a:t>Sania</a:t>
            </a:r>
            <a:r>
              <a:rPr lang="en-IN" sz="3200" dirty="0">
                <a:solidFill>
                  <a:srgbClr val="0070C0"/>
                </a:solidFill>
              </a:rPr>
              <a:t> ___to play the flute.(like)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09786" y="1643050"/>
            <a:ext cx="8072755" cy="7896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7.I usually ___ to office by car. (go)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8.Aman ___ Football once in a week. (play)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9.She never ___ me. (help)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10. You always ___ me new things. (teach)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11.Does he ___  English? (speak)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12.</a:t>
            </a:r>
            <a:r>
              <a:rPr lang="en-IN" sz="3200" dirty="0">
                <a:solidFill>
                  <a:srgbClr val="0070C0"/>
                </a:solidFill>
              </a:rPr>
              <a:t> Martina___ for a walk in the morning.(go)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13.</a:t>
            </a:r>
            <a:r>
              <a:rPr lang="en-IN" sz="3200" dirty="0">
                <a:solidFill>
                  <a:srgbClr val="0070C0"/>
                </a:solidFill>
              </a:rPr>
              <a:t>Do you _____ chocolate milk?(like)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14.My brother does not ___ in the company.(work)</a:t>
            </a: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09786" y="1643050"/>
            <a:ext cx="8072755" cy="996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15. What do you __ for breakfast? (take)</a:t>
            </a: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r>
              <a:rPr lang="en-US" sz="3200" spc="-5" dirty="0">
                <a:solidFill>
                  <a:srgbClr val="0070C0"/>
                </a:solidFill>
                <a:cs typeface="Verdana" panose="020B0604030504040204"/>
              </a:rPr>
              <a:t>16. </a:t>
            </a:r>
            <a:r>
              <a:rPr lang="en-IN" sz="3200" dirty="0">
                <a:solidFill>
                  <a:srgbClr val="0070C0"/>
                </a:solidFill>
              </a:rPr>
              <a:t>The train___ every morning at 8         AM.(leave)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17.</a:t>
            </a:r>
            <a:r>
              <a:rPr lang="en-IN" sz="3200" dirty="0">
                <a:solidFill>
                  <a:srgbClr val="0070C0"/>
                </a:solidFill>
              </a:rPr>
              <a:t> He never ___ his wallet.(forget)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18.</a:t>
            </a:r>
            <a:r>
              <a:rPr lang="en-IN" sz="3200" dirty="0">
                <a:solidFill>
                  <a:srgbClr val="0070C0"/>
                </a:solidFill>
              </a:rPr>
              <a:t> The buses sometimes ___ late. (arrive)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19. My brother and sister ___ basketball every Friday. (practise)</a:t>
            </a:r>
            <a:endParaRPr lang="en-IN" sz="3200" dirty="0">
              <a:solidFill>
                <a:srgbClr val="0070C0"/>
              </a:solidFill>
            </a:endParaRPr>
          </a:p>
          <a:p>
            <a:r>
              <a:rPr lang="en-IN" sz="3200" dirty="0">
                <a:solidFill>
                  <a:srgbClr val="0070C0"/>
                </a:solidFill>
              </a:rPr>
              <a:t>20.Does </a:t>
            </a:r>
            <a:r>
              <a:rPr lang="en-IN" sz="3200" dirty="0" err="1">
                <a:solidFill>
                  <a:srgbClr val="0070C0"/>
                </a:solidFill>
              </a:rPr>
              <a:t>Neha</a:t>
            </a:r>
            <a:r>
              <a:rPr lang="en-IN" sz="3200" dirty="0">
                <a:solidFill>
                  <a:srgbClr val="0070C0"/>
                </a:solidFill>
              </a:rPr>
              <a:t> ___ to solve her problems?(try)</a:t>
            </a:r>
            <a:br>
              <a:rPr lang="en-IN" sz="3200" dirty="0">
                <a:solidFill>
                  <a:srgbClr val="0070C0"/>
                </a:solidFill>
              </a:rPr>
            </a:br>
            <a:r>
              <a:rPr lang="en-IN" sz="3200" dirty="0">
                <a:solidFill>
                  <a:srgbClr val="0070C0"/>
                </a:solidFill>
              </a:rPr>
              <a:t> </a:t>
            </a:r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IN" sz="3200" dirty="0">
              <a:solidFill>
                <a:srgbClr val="0070C0"/>
              </a:solidFill>
            </a:endParaRPr>
          </a:p>
          <a:p>
            <a:br>
              <a:rPr lang="en-IN" sz="3200" dirty="0"/>
            </a:br>
            <a:endParaRPr lang="en-IN" sz="3200" dirty="0"/>
          </a:p>
          <a:p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br>
              <a:rPr lang="en-IN" sz="3200" dirty="0"/>
            </a:br>
            <a:endParaRPr lang="en-US" sz="3200" spc="-5" dirty="0">
              <a:solidFill>
                <a:srgbClr val="0070C0"/>
              </a:solidFill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3325</Words>
  <Application>WPS Presentation</Application>
  <PresentationFormat>Widescreen</PresentationFormat>
  <Paragraphs>162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Verdana</vt:lpstr>
      <vt:lpstr>Calibri Light</vt:lpstr>
      <vt:lpstr>Microsoft YaHei</vt:lpstr>
      <vt:lpstr>Arial Unicode MS</vt:lpstr>
      <vt:lpstr>Calibri</vt:lpstr>
      <vt:lpstr>Business Cooperate</vt:lpstr>
      <vt:lpstr> TENSES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TENSES</dc:title>
  <dc:creator/>
  <cp:lastModifiedBy>Paresh Parmar</cp:lastModifiedBy>
  <cp:revision>2</cp:revision>
  <dcterms:created xsi:type="dcterms:W3CDTF">2020-09-01T08:55:00Z</dcterms:created>
  <dcterms:modified xsi:type="dcterms:W3CDTF">2020-09-01T08:59:28Z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