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239184" y="692150"/>
            <a:ext cx="11885083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117" y="549275"/>
            <a:ext cx="12192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2544233" y="2492375"/>
            <a:ext cx="7393517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1007533" y="620713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117" y="333375"/>
            <a:ext cx="12192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7730067" y="4438650"/>
            <a:ext cx="4453467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altLang="en-US" sz="80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SIMPLE PAST TENSE</a:t>
            </a:r>
            <a:endParaRPr lang="en-IN" altLang="en-US" sz="800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97404" y="263397"/>
            <a:ext cx="778446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PAST  SIMPLE</a:t>
            </a:r>
            <a:r>
              <a:rPr kumimoji="0" lang="en-IN" sz="4400" b="0" i="0" u="none" strike="noStrike" kern="1200" cap="none" spc="-9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TENSE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9940" y="1630121"/>
            <a:ext cx="8072755" cy="4954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1485265" algn="just">
              <a:spcBef>
                <a:spcPts val="105"/>
              </a:spcBef>
            </a:pPr>
            <a:r>
              <a:rPr lang="en-IN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     The simple past tense </a:t>
            </a:r>
            <a:r>
              <a:rPr lang="en-IN" sz="320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expresses an action or  </a:t>
            </a:r>
            <a:r>
              <a:rPr lang="en-IN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situation </a:t>
            </a:r>
            <a:r>
              <a:rPr lang="en-IN" sz="3200" spc="-1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that was </a:t>
            </a:r>
            <a:r>
              <a:rPr lang="en-IN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started and finished in  </a:t>
            </a:r>
            <a:r>
              <a:rPr lang="en-IN" sz="3200" spc="-1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lang="en-IN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lang="en-IN" sz="3200" spc="-1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past.</a:t>
            </a:r>
            <a:endParaRPr lang="en-IN" sz="3200" dirty="0">
              <a:latin typeface="Verdana" panose="020B0604030504040204"/>
              <a:cs typeface="Verdana" panose="020B0604030504040204"/>
            </a:endParaRPr>
          </a:p>
          <a:p>
            <a:pPr marL="355600" marR="5080" indent="1485265" algn="just">
              <a:lnSpc>
                <a:spcPct val="100000"/>
              </a:lnSpc>
              <a:spcBef>
                <a:spcPts val="105"/>
              </a:spcBef>
            </a:pPr>
            <a:endParaRPr sz="3200"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sz="320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For</a:t>
            </a:r>
            <a:r>
              <a:rPr sz="3200" spc="-2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200" spc="-5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Example</a:t>
            </a: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-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1. I went to temple yesterday.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2. We visited Goa last year.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endParaRPr sz="3200">
              <a:latin typeface="Verdana" panose="020B0604030504040204"/>
              <a:cs typeface="Verdana" panose="020B0604030504040204"/>
            </a:endParaRPr>
          </a:p>
          <a:p>
            <a:pPr marL="927100" algn="just">
              <a:lnSpc>
                <a:spcPct val="100000"/>
              </a:lnSpc>
              <a:spcBef>
                <a:spcPts val="765"/>
              </a:spcBef>
            </a:pPr>
            <a:endParaRPr sz="32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8348" y="214290"/>
            <a:ext cx="778446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400" dirty="0">
                <a:latin typeface="+mj-lt"/>
                <a:ea typeface="+mj-ea"/>
                <a:cs typeface="+mj-cs"/>
              </a:rPr>
              <a:t>SENTENCE STRUCTURE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9940" y="1630121"/>
            <a:ext cx="8072755" cy="4448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Subject + verb(V2) + object +other words </a:t>
            </a: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For example: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1.I donated blood last month.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2.Yesterday,My father gifted me a new phone.               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endParaRPr sz="3200">
              <a:latin typeface="Verdana" panose="020B0604030504040204"/>
              <a:cs typeface="Verdana" panose="020B0604030504040204"/>
            </a:endParaRPr>
          </a:p>
          <a:p>
            <a:pPr marL="927100" algn="just">
              <a:lnSpc>
                <a:spcPct val="100000"/>
              </a:lnSpc>
              <a:spcBef>
                <a:spcPts val="765"/>
              </a:spcBef>
            </a:pPr>
            <a:endParaRPr sz="32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/>
          <p:nvPr/>
        </p:nvSpPr>
        <p:spPr>
          <a:xfrm>
            <a:off x="2238348" y="214290"/>
            <a:ext cx="7784465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INTERROGATIVE &amp; NEGATIVE</a:t>
            </a:r>
            <a:r>
              <a:rPr kumimoji="0" lang="en-US" sz="4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SENTENCE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2024034" y="1643050"/>
            <a:ext cx="8072755" cy="7407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Did + Subject + verb(V1) + object +other words?</a:t>
            </a: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For example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1.She went to station yesterday.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 Did she go to station yesterday?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 Yes, She went to station yesterday.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 No, She did not go to station yesterday.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             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endParaRPr sz="3200">
              <a:latin typeface="Verdana" panose="020B0604030504040204"/>
              <a:cs typeface="Verdana" panose="020B0604030504040204"/>
            </a:endParaRPr>
          </a:p>
          <a:p>
            <a:pPr marL="927100" algn="just">
              <a:lnSpc>
                <a:spcPct val="100000"/>
              </a:lnSpc>
              <a:spcBef>
                <a:spcPts val="765"/>
              </a:spcBef>
            </a:pPr>
            <a:endParaRPr sz="32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/>
          <p:nvPr/>
        </p:nvSpPr>
        <p:spPr>
          <a:xfrm>
            <a:off x="2238348" y="214290"/>
            <a:ext cx="778446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SIGNAL</a:t>
            </a:r>
            <a:r>
              <a:rPr kumimoji="0" lang="en-US" sz="4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WORDS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2024034" y="1643050"/>
            <a:ext cx="8072755" cy="20821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    Yesterday, a day before yesterday, last Sunday,  week, month , year, ago, before  etc. </a:t>
            </a:r>
            <a:endParaRPr 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8348" y="214290"/>
            <a:ext cx="778446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400" dirty="0">
                <a:latin typeface="+mj-lt"/>
                <a:ea typeface="+mj-ea"/>
                <a:cs typeface="+mj-cs"/>
              </a:rPr>
              <a:t>EXERCISE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24034" y="1643050"/>
            <a:ext cx="8072755" cy="106527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7030A0"/>
                </a:solidFill>
                <a:cs typeface="Verdana" panose="020B0604030504040204"/>
              </a:rPr>
              <a:t>Fill in the blanks with appropriate verb form.</a:t>
            </a:r>
            <a:endParaRPr lang="en-US" sz="3200" spc="-5" dirty="0">
              <a:solidFill>
                <a:srgbClr val="7030A0"/>
              </a:solidFill>
              <a:cs typeface="Verdana" panose="020B0604030504040204"/>
            </a:endParaRPr>
          </a:p>
          <a:p>
            <a:pPr marL="527050" indent="-51435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70C0"/>
                </a:solidFill>
                <a:cs typeface="Verdana" panose="020B0604030504040204"/>
              </a:rPr>
              <a:t>1.He ___  to college on foot yesterday.(go)</a:t>
            </a:r>
            <a:endParaRPr lang="en-US" sz="3200" spc="-5" dirty="0">
              <a:solidFill>
                <a:srgbClr val="0070C0"/>
              </a:solidFill>
              <a:cs typeface="Verdana" panose="020B0604030504040204"/>
            </a:endParaRPr>
          </a:p>
          <a:p>
            <a:pPr marL="527050" indent="-51435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70C0"/>
                </a:solidFill>
                <a:cs typeface="Verdana" panose="020B0604030504040204"/>
              </a:rPr>
              <a:t>2.My father ___ food  last Sunday.(cook)</a:t>
            </a:r>
            <a:endParaRPr lang="en-US" sz="3200" spc="-5" dirty="0">
              <a:solidFill>
                <a:srgbClr val="0070C0"/>
              </a:solidFill>
              <a:cs typeface="Verdana" panose="020B0604030504040204"/>
            </a:endParaRPr>
          </a:p>
          <a:p>
            <a:pPr marL="514350" indent="-514350"/>
            <a:r>
              <a:rPr lang="en-IN" sz="3200" dirty="0">
                <a:solidFill>
                  <a:srgbClr val="0070C0"/>
                </a:solidFill>
              </a:rPr>
              <a:t>3. She didn’t ____ me properly. (answer)</a:t>
            </a:r>
            <a:endParaRPr lang="en-IN" sz="3200" dirty="0">
              <a:solidFill>
                <a:srgbClr val="0070C0"/>
              </a:solidFill>
            </a:endParaRPr>
          </a:p>
          <a:p>
            <a:pPr marL="514350" indent="-514350"/>
            <a:r>
              <a:rPr lang="en-IN" sz="3200" dirty="0">
                <a:solidFill>
                  <a:srgbClr val="0070C0"/>
                </a:solidFill>
              </a:rPr>
              <a:t>4.What did you ____ last night?. (make)</a:t>
            </a:r>
            <a:endParaRPr lang="en-IN" sz="3200" dirty="0">
              <a:solidFill>
                <a:srgbClr val="0070C0"/>
              </a:solidFill>
            </a:endParaRPr>
          </a:p>
          <a:p>
            <a:r>
              <a:rPr lang="en-US" sz="3200" dirty="0">
                <a:solidFill>
                  <a:srgbClr val="0070C0"/>
                </a:solidFill>
              </a:rPr>
              <a:t>5.</a:t>
            </a:r>
            <a:r>
              <a:rPr lang="en-IN" sz="3200" dirty="0">
                <a:solidFill>
                  <a:srgbClr val="0070C0"/>
                </a:solidFill>
              </a:rPr>
              <a:t> Who ___ you this pen? .(give)</a:t>
            </a:r>
            <a:endParaRPr lang="en-IN" sz="3200" dirty="0">
              <a:solidFill>
                <a:srgbClr val="0070C0"/>
              </a:solidFill>
            </a:endParaRPr>
          </a:p>
          <a:p>
            <a:r>
              <a:rPr lang="en-US" sz="3200" dirty="0">
                <a:solidFill>
                  <a:srgbClr val="0070C0"/>
                </a:solidFill>
              </a:rPr>
              <a:t>6.</a:t>
            </a:r>
            <a:r>
              <a:rPr lang="en-IN" sz="3200" dirty="0">
                <a:solidFill>
                  <a:srgbClr val="0070C0"/>
                </a:solidFill>
              </a:rPr>
              <a:t> The teacher ___ the boy last week. (punish)</a:t>
            </a:r>
            <a:endParaRPr lang="en-IN" sz="3200" dirty="0">
              <a:solidFill>
                <a:srgbClr val="0070C0"/>
              </a:solidFill>
            </a:endParaRPr>
          </a:p>
          <a:p>
            <a:r>
              <a:rPr lang="en-US" sz="3200" dirty="0">
                <a:solidFill>
                  <a:srgbClr val="0070C0"/>
                </a:solidFill>
              </a:rPr>
              <a:t>7.</a:t>
            </a:r>
            <a:r>
              <a:rPr lang="en-IN" sz="3200" dirty="0">
                <a:solidFill>
                  <a:srgbClr val="0070C0"/>
                </a:solidFill>
              </a:rPr>
              <a:t> They didn’t ___ us to their party.(invite)</a:t>
            </a:r>
            <a:endParaRPr lang="en-IN" sz="3200" dirty="0">
              <a:solidFill>
                <a:srgbClr val="0070C0"/>
              </a:solidFill>
            </a:endParaRPr>
          </a:p>
          <a:p>
            <a:br>
              <a:rPr lang="en-IN" sz="3200" dirty="0"/>
            </a:br>
            <a:endParaRPr lang="en-IN" sz="3200" dirty="0"/>
          </a:p>
          <a:p>
            <a:br>
              <a:rPr lang="en-IN" sz="3200" dirty="0"/>
            </a:br>
            <a:endParaRPr lang="en-IN" sz="3200" dirty="0">
              <a:solidFill>
                <a:srgbClr val="0070C0"/>
              </a:solidFill>
            </a:endParaRPr>
          </a:p>
          <a:p>
            <a:br>
              <a:rPr lang="en-IN" sz="3200" dirty="0"/>
            </a:br>
            <a:endParaRPr lang="en-IN" sz="3200" dirty="0">
              <a:solidFill>
                <a:srgbClr val="0070C0"/>
              </a:solidFill>
            </a:endParaRPr>
          </a:p>
          <a:p>
            <a:br>
              <a:rPr lang="en-IN" sz="3200" dirty="0"/>
            </a:br>
            <a:endParaRPr lang="en-IN" sz="3200" dirty="0"/>
          </a:p>
          <a:p>
            <a:endParaRPr lang="en-IN" sz="3200" dirty="0"/>
          </a:p>
          <a:p>
            <a:br>
              <a:rPr lang="en-IN" sz="3200" dirty="0"/>
            </a:br>
            <a:endParaRPr lang="en-US" sz="3200" spc="-5" dirty="0">
              <a:solidFill>
                <a:srgbClr val="0070C0"/>
              </a:solidFill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US" sz="3200" spc="-5" dirty="0">
              <a:solidFill>
                <a:srgbClr val="0070C0"/>
              </a:solidFill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8348" y="214290"/>
            <a:ext cx="778446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400" dirty="0">
                <a:latin typeface="+mj-lt"/>
                <a:ea typeface="+mj-ea"/>
                <a:cs typeface="+mj-cs"/>
              </a:rPr>
              <a:t>EXERCISE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09786" y="1643050"/>
            <a:ext cx="8072755" cy="7499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sz="3200" dirty="0">
                <a:solidFill>
                  <a:srgbClr val="0070C0"/>
                </a:solidFill>
              </a:rPr>
              <a:t> 8.Did you ____ anything? (notice)</a:t>
            </a:r>
            <a:endParaRPr lang="en-IN" sz="3200" dirty="0">
              <a:solidFill>
                <a:srgbClr val="0070C0"/>
              </a:solidFill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dirty="0">
                <a:solidFill>
                  <a:srgbClr val="0070C0"/>
                </a:solidFill>
              </a:rPr>
              <a:t> 9. I ___ this movie movie in 2019. (watch)</a:t>
            </a:r>
            <a:endParaRPr lang="en-US" sz="3200" dirty="0">
              <a:solidFill>
                <a:srgbClr val="0070C0"/>
              </a:solidFill>
            </a:endParaRPr>
          </a:p>
          <a:p>
            <a:r>
              <a:rPr lang="en-US" sz="3200" dirty="0">
                <a:solidFill>
                  <a:srgbClr val="0070C0"/>
                </a:solidFill>
              </a:rPr>
              <a:t>10.</a:t>
            </a:r>
            <a:r>
              <a:rPr lang="en-IN" sz="3200" dirty="0">
                <a:solidFill>
                  <a:srgbClr val="0070C0"/>
                </a:solidFill>
              </a:rPr>
              <a:t> They did not ___ for me. (wait)</a:t>
            </a:r>
            <a:endParaRPr lang="en-IN" sz="3200" dirty="0">
              <a:solidFill>
                <a:srgbClr val="0070C0"/>
              </a:solidFill>
            </a:endParaRPr>
          </a:p>
          <a:p>
            <a:r>
              <a:rPr lang="en-US" sz="3200" dirty="0">
                <a:solidFill>
                  <a:srgbClr val="0070C0"/>
                </a:solidFill>
              </a:rPr>
              <a:t>11.</a:t>
            </a:r>
            <a:r>
              <a:rPr lang="en-IN" sz="3200" dirty="0">
                <a:solidFill>
                  <a:srgbClr val="0070C0"/>
                </a:solidFill>
              </a:rPr>
              <a:t>It was warm, so I___  off my coat. (take)</a:t>
            </a:r>
            <a:endParaRPr lang="en-IN" sz="3200" dirty="0">
              <a:solidFill>
                <a:srgbClr val="0070C0"/>
              </a:solidFill>
            </a:endParaRPr>
          </a:p>
          <a:p>
            <a:r>
              <a:rPr lang="en-IN" sz="3200" dirty="0">
                <a:solidFill>
                  <a:srgbClr val="0070C0"/>
                </a:solidFill>
              </a:rPr>
              <a:t>12. The film wasn't very good, so  I ___  it very much. (enjoy)</a:t>
            </a:r>
            <a:endParaRPr lang="en-IN" sz="3200" dirty="0">
              <a:solidFill>
                <a:srgbClr val="0070C0"/>
              </a:solidFill>
            </a:endParaRPr>
          </a:p>
          <a:p>
            <a:r>
              <a:rPr lang="en-IN" sz="3200" dirty="0">
                <a:solidFill>
                  <a:srgbClr val="0070C0"/>
                </a:solidFill>
              </a:rPr>
              <a:t>13.I was very tired, so I __  to bed early. (go)</a:t>
            </a:r>
            <a:endParaRPr lang="en-IN" sz="3200" dirty="0">
              <a:solidFill>
                <a:srgbClr val="0070C0"/>
              </a:solidFill>
            </a:endParaRPr>
          </a:p>
          <a:p>
            <a:r>
              <a:rPr lang="en-IN" sz="3200" dirty="0">
                <a:solidFill>
                  <a:srgbClr val="0070C0"/>
                </a:solidFill>
              </a:rPr>
              <a:t>14. The bed was very uncomfortable, so      I__  very well. (sleep)</a:t>
            </a:r>
            <a:endParaRPr lang="en-IN" sz="3200" dirty="0">
              <a:solidFill>
                <a:srgbClr val="0070C0"/>
              </a:solidFill>
            </a:endParaRPr>
          </a:p>
          <a:p>
            <a:r>
              <a:rPr lang="en-IN" sz="3200" dirty="0">
                <a:solidFill>
                  <a:srgbClr val="0070C0"/>
                </a:solidFill>
              </a:rPr>
              <a:t>15. What did you ___ today? (eat)</a:t>
            </a:r>
            <a:br>
              <a:rPr lang="en-IN" sz="3200" dirty="0">
                <a:solidFill>
                  <a:srgbClr val="0070C0"/>
                </a:solidFill>
              </a:rPr>
            </a:br>
            <a:br>
              <a:rPr lang="en-IN" sz="3200" dirty="0"/>
            </a:br>
            <a:br>
              <a:rPr lang="en-IN" sz="3200" dirty="0"/>
            </a:br>
            <a:br>
              <a:rPr lang="en-IN" sz="3200" dirty="0"/>
            </a:br>
            <a:br>
              <a:rPr lang="en-IN" sz="3200" dirty="0"/>
            </a:br>
            <a:endParaRPr lang="en-IN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dirty="0">
                <a:solidFill>
                  <a:srgbClr val="0070C0"/>
                </a:solidFill>
              </a:rPr>
              <a:t>16.</a:t>
            </a:r>
            <a:r>
              <a:rPr lang="en-IN" dirty="0">
                <a:solidFill>
                  <a:srgbClr val="0070C0"/>
                </a:solidFill>
              </a:rPr>
              <a:t>I was very thirsty. I __  the water very quickly. (take)</a:t>
            </a:r>
            <a:endParaRPr lang="en-IN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IN" dirty="0">
                <a:solidFill>
                  <a:srgbClr val="0070C0"/>
                </a:solidFill>
              </a:rPr>
              <a:t>17. I ___a movie yesterday. (watch)</a:t>
            </a:r>
            <a:endParaRPr lang="en-IN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IN" dirty="0">
                <a:solidFill>
                  <a:srgbClr val="0070C0"/>
                </a:solidFill>
              </a:rPr>
              <a:t>18. Last year, We ___ a new house. (buy)</a:t>
            </a:r>
            <a:endParaRPr lang="en-IN" dirty="0">
              <a:solidFill>
                <a:srgbClr val="0070C0"/>
              </a:solidFill>
            </a:endParaRPr>
          </a:p>
          <a:p>
            <a:pPr fontAlgn="base">
              <a:buNone/>
            </a:pPr>
            <a:r>
              <a:rPr lang="en-IN" dirty="0">
                <a:solidFill>
                  <a:srgbClr val="0070C0"/>
                </a:solidFill>
              </a:rPr>
              <a:t>19 .I ___a terrible explosion last night.(hear)</a:t>
            </a:r>
            <a:endParaRPr lang="en-IN" dirty="0">
              <a:solidFill>
                <a:srgbClr val="0070C0"/>
              </a:solidFill>
            </a:endParaRPr>
          </a:p>
          <a:p>
            <a:pPr marL="514350" indent="-514350" fontAlgn="base">
              <a:buAutoNum type="arabicPeriod" startAt="20"/>
            </a:pPr>
            <a:r>
              <a:rPr lang="en-US" dirty="0">
                <a:solidFill>
                  <a:srgbClr val="0070C0"/>
                </a:solidFill>
              </a:rPr>
              <a:t>Yesterday,  You ____ a beautiful picture.(draw)</a:t>
            </a:r>
            <a:endParaRPr lang="en-US" dirty="0">
              <a:solidFill>
                <a:srgbClr val="0070C0"/>
              </a:solidFill>
            </a:endParaRPr>
          </a:p>
          <a:p>
            <a:pPr marL="514350" indent="-514350" fontAlgn="base">
              <a:buNone/>
            </a:pPr>
            <a:r>
              <a:rPr lang="en-US" dirty="0"/>
              <a:t>      </a:t>
            </a:r>
            <a:endParaRPr lang="en-IN" dirty="0"/>
          </a:p>
          <a:p>
            <a:pPr>
              <a:buNone/>
            </a:pPr>
            <a:br>
              <a:rPr lang="en-IN" dirty="0"/>
            </a:br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 </a:t>
            </a:r>
            <a:br>
              <a:rPr lang="en-IN" dirty="0"/>
            </a:b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1710</Words>
  <Application>WPS Presentation</Application>
  <PresentationFormat>Widescreen</PresentationFormat>
  <Paragraphs>78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Verdana</vt:lpstr>
      <vt:lpstr>Business Cooperate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EXERCISE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PAST TENSE</dc:title>
  <dc:creator/>
  <cp:lastModifiedBy>Paresh Parmar</cp:lastModifiedBy>
  <cp:revision>1</cp:revision>
  <dcterms:created xsi:type="dcterms:W3CDTF">2020-09-07T09:51:48Z</dcterms:created>
  <dcterms:modified xsi:type="dcterms:W3CDTF">2020-09-07T09:51:48Z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1033-11.2.0.9635</vt:lpwstr>
  </property>
</Properties>
</file>