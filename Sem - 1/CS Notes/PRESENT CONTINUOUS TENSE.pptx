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982" autoAdjust="0"/>
    <p:restoredTop sz="94660"/>
  </p:normalViewPr>
  <p:slideViewPr>
    <p:cSldViewPr snapToGrid="0">
      <p:cViewPr varScale="1">
        <p:scale>
          <a:sx n="63" d="100"/>
          <a:sy n="63" d="100"/>
        </p:scale>
        <p:origin x="-120" y="-3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关系图"/>
          <p:cNvPicPr>
            <a:picLocks noChangeAspect="1"/>
          </p:cNvPicPr>
          <p:nvPr/>
        </p:nvPicPr>
        <p:blipFill>
          <a:blip r:embed="rId2"/>
          <a:srcRect r="2528" b="10909"/>
          <a:stretch>
            <a:fillRect/>
          </a:stretch>
        </p:blipFill>
        <p:spPr>
          <a:xfrm>
            <a:off x="239184" y="692150"/>
            <a:ext cx="11885083" cy="61102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2117" y="549275"/>
            <a:ext cx="12192000" cy="151130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544233" y="2492375"/>
            <a:ext cx="7393517" cy="122237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</a:p>
        </p:txBody>
      </p:sp>
      <p:sp>
        <p:nvSpPr>
          <p:cNvPr id="2056" name="Rectangle 8"/>
          <p:cNvSpPr>
            <a:spLocks noGrp="1" noChangeArrowheads="1"/>
          </p:cNvSpPr>
          <p:nvPr>
            <p:ph type="ctrTitle"/>
          </p:nvPr>
        </p:nvSpPr>
        <p:spPr>
          <a:xfrm>
            <a:off x="1007533" y="620713"/>
            <a:ext cx="10363200" cy="1470025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 altLang="zh-CN" noProof="0" smtClean="0"/>
              <a:t>Click to edit Master title style</a:t>
            </a:r>
          </a:p>
        </p:txBody>
      </p:sp>
      <p:sp>
        <p:nvSpPr>
          <p:cNvPr id="11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  <a:pPr/>
              <a:t>6/15/2021</a:t>
            </a:fld>
            <a:endParaRPr lang="en-US"/>
          </a:p>
        </p:txBody>
      </p:sp>
      <p:sp>
        <p:nvSpPr>
          <p:cNvPr id="12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3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</p:bldLst>
  </p:timing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pPr/>
              <a:t>6/15/2021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pPr/>
              <a:t>6/15/2021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pPr/>
              <a:t>6/15/2021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pPr/>
              <a:t>6/15/2021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pPr/>
              <a:t>6/15/2021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pPr/>
              <a:t>6/15/2021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pPr/>
              <a:t>6/15/2021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pPr/>
              <a:t>6/15/2021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pPr/>
              <a:t>6/15/2021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pPr/>
              <a:t>6/15/2021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2117" y="333375"/>
            <a:ext cx="12192000" cy="100965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pic>
        <p:nvPicPr>
          <p:cNvPr id="1027" name="Picture 3" descr="关系图"/>
          <p:cNvPicPr>
            <a:picLocks noChangeAspect="1"/>
          </p:cNvPicPr>
          <p:nvPr/>
        </p:nvPicPr>
        <p:blipFill>
          <a:blip r:embed="rId13"/>
          <a:srcRect t="1094" r="8122" b="13318"/>
          <a:stretch>
            <a:fillRect/>
          </a:stretch>
        </p:blipFill>
        <p:spPr>
          <a:xfrm>
            <a:off x="7730067" y="4438650"/>
            <a:ext cx="4453467" cy="2333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8" name="Rectangle 4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29" name="Rectangle 5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  <a:pPr/>
              <a:t>6/15/2021</a:t>
            </a:fld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PRESENT CONTINUOUS TENSE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97404" y="263397"/>
            <a:ext cx="7784465" cy="628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4000" b="0" i="0" u="none" strike="noStrike" kern="1200" cap="none" spc="-9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PRESENT CONTINUOUS </a:t>
            </a:r>
            <a:r>
              <a:rPr kumimoji="0" lang="en-IN" sz="4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TENSE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9940" y="1630121"/>
            <a:ext cx="8072755" cy="4954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1485265" algn="just">
              <a:spcBef>
                <a:spcPts val="105"/>
              </a:spcBef>
            </a:pPr>
            <a:r>
              <a:rPr lang="en-IN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It indicates that an action or condition is going on now and may continue into the future.</a:t>
            </a:r>
          </a:p>
          <a:p>
            <a:pPr marL="355600" marR="5080" indent="1485265" algn="just">
              <a:spcBef>
                <a:spcPts val="105"/>
              </a:spcBef>
            </a:pPr>
            <a:endParaRPr lang="en-US" sz="3200" spc="-5" dirty="0">
              <a:solidFill>
                <a:srgbClr val="006699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200">
                <a:solidFill>
                  <a:srgbClr val="006699"/>
                </a:solidFill>
                <a:latin typeface="Verdana" panose="020B0604030504040204"/>
                <a:cs typeface="Verdana" panose="020B0604030504040204"/>
                <a:sym typeface="+mn-ea"/>
              </a:rPr>
              <a:t>For</a:t>
            </a:r>
            <a:r>
              <a:rPr sz="3200" spc="-20">
                <a:solidFill>
                  <a:srgbClr val="006699"/>
                </a:solidFill>
                <a:latin typeface="Verdana" panose="020B0604030504040204"/>
                <a:cs typeface="Verdana" panose="020B0604030504040204"/>
                <a:sym typeface="+mn-ea"/>
              </a:rPr>
              <a:t> </a:t>
            </a:r>
            <a:r>
              <a:rPr sz="3200" spc="-5">
                <a:solidFill>
                  <a:srgbClr val="006699"/>
                </a:solidFill>
                <a:latin typeface="Verdana" panose="020B0604030504040204"/>
                <a:cs typeface="Verdana" panose="020B0604030504040204"/>
                <a:sym typeface="+mn-ea"/>
              </a:rPr>
              <a:t>Example</a:t>
            </a: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sz="3200" spc="-5">
                <a:solidFill>
                  <a:srgbClr val="006699"/>
                </a:solidFill>
                <a:latin typeface="Verdana" panose="020B0604030504040204"/>
                <a:cs typeface="Verdana" panose="020B0604030504040204"/>
                <a:sym typeface="+mn-ea"/>
              </a:rPr>
              <a:t> </a:t>
            </a: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1</a:t>
            </a:r>
            <a:r>
              <a:rPr lang="en-IN" alt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. She is cooking food.</a:t>
            </a:r>
            <a:endParaRPr lang="en-US" sz="3200" spc="-5" dirty="0">
              <a:solidFill>
                <a:srgbClr val="006699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2. </a:t>
            </a:r>
            <a:r>
              <a:rPr lang="en-IN" alt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They are cleaning the room.</a:t>
            </a:r>
            <a:endParaRPr lang="en-US" sz="3200" spc="-5" dirty="0">
              <a:solidFill>
                <a:srgbClr val="006699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</a:t>
            </a:r>
            <a:endParaRPr sz="3200">
              <a:latin typeface="Verdana" panose="020B0604030504040204"/>
              <a:cs typeface="Verdana" panose="020B0604030504040204"/>
            </a:endParaRPr>
          </a:p>
          <a:p>
            <a:pPr marL="927100" algn="just">
              <a:lnSpc>
                <a:spcPct val="100000"/>
              </a:lnSpc>
              <a:spcBef>
                <a:spcPts val="765"/>
              </a:spcBef>
            </a:pPr>
            <a:endParaRPr sz="3200">
              <a:latin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38348" y="214290"/>
            <a:ext cx="7784465" cy="689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4400" dirty="0">
                <a:latin typeface="+mj-lt"/>
                <a:ea typeface="+mj-ea"/>
                <a:cs typeface="+mj-cs"/>
              </a:rPr>
              <a:t>SENTENCE STRUCTURE</a:t>
            </a:r>
            <a:endParaRPr kumimoji="0" lang="en-IN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59940" y="1630121"/>
            <a:ext cx="8072755" cy="3364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 smtClean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lang="en-US" sz="3200" spc="-5" dirty="0" smtClean="0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Subject +</a:t>
            </a:r>
            <a:r>
              <a:rPr lang="en-IN" altLang="en-US" sz="3200" spc="-5" dirty="0" smtClean="0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am/is/are</a:t>
            </a:r>
            <a:r>
              <a:rPr lang="en-US" sz="3200" spc="-5" dirty="0" smtClean="0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 +</a:t>
            </a:r>
            <a:r>
              <a:rPr lang="en-IN" altLang="en-US" sz="3200" spc="-5" dirty="0" smtClean="0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verb-</a:t>
            </a:r>
            <a:r>
              <a:rPr lang="en-IN" altLang="en-US" sz="3200" spc="-5" dirty="0" err="1" smtClean="0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ing</a:t>
            </a:r>
            <a:r>
              <a:rPr lang="en-US" sz="3200" spc="-5" dirty="0" smtClean="0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 + object +other words </a:t>
            </a:r>
            <a:endParaRPr lang="en-US" sz="3200" spc="-5" dirty="0">
              <a:solidFill>
                <a:srgbClr val="7030A0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For example:</a:t>
            </a: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 1. </a:t>
            </a:r>
            <a:r>
              <a:rPr lang="en-IN" alt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He is singing a song.</a:t>
            </a: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             </a:t>
            </a: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</a:t>
            </a:r>
            <a:endParaRPr sz="3200">
              <a:latin typeface="Verdana" panose="020B0604030504040204"/>
              <a:cs typeface="Verdana" panose="020B0604030504040204"/>
            </a:endParaRPr>
          </a:p>
          <a:p>
            <a:pPr marL="927100" algn="just">
              <a:lnSpc>
                <a:spcPct val="100000"/>
              </a:lnSpc>
              <a:spcBef>
                <a:spcPts val="765"/>
              </a:spcBef>
            </a:pPr>
            <a:endParaRPr sz="3200">
              <a:latin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638935" y="1642745"/>
            <a:ext cx="8457565" cy="52400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IN" altLang="en-US" sz="3200" spc="-5" dirty="0">
                <a:solidFill>
                  <a:srgbClr val="0070C0"/>
                </a:solidFill>
                <a:latin typeface="Verdana" panose="020B0604030504040204"/>
                <a:cs typeface="Verdana" panose="020B0604030504040204"/>
              </a:rPr>
              <a:t>     SINGULAR                    PLURAL</a:t>
            </a: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IN" altLang="en-US" sz="3200" spc="-5" dirty="0">
                <a:solidFill>
                  <a:srgbClr val="0070C0"/>
                </a:solidFill>
                <a:latin typeface="Verdana" panose="020B0604030504040204"/>
                <a:cs typeface="Verdana" panose="020B0604030504040204"/>
              </a:rPr>
              <a:t>                    </a:t>
            </a: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IN" altLang="en-US" sz="3200" spc="-5" dirty="0">
                <a:solidFill>
                  <a:srgbClr val="0070C0"/>
                </a:solidFill>
                <a:latin typeface="Verdana" panose="020B0604030504040204"/>
                <a:cs typeface="Verdana" panose="020B0604030504040204"/>
              </a:rPr>
              <a:t>F.P </a:t>
            </a:r>
            <a:r>
              <a:rPr lang="en-IN" altLang="en-US" sz="3200" spc="-5" dirty="0">
                <a:solidFill>
                  <a:srgbClr val="FF0000"/>
                </a:solidFill>
                <a:latin typeface="Verdana" panose="020B0604030504040204"/>
                <a:cs typeface="Verdana" panose="020B0604030504040204"/>
              </a:rPr>
              <a:t>I </a:t>
            </a:r>
            <a:r>
              <a:rPr lang="en-IN" altLang="en-US" sz="3200" spc="-5" dirty="0">
                <a:solidFill>
                  <a:srgbClr val="0070C0"/>
                </a:solidFill>
                <a:latin typeface="Verdana" panose="020B0604030504040204"/>
                <a:cs typeface="Verdana" panose="020B0604030504040204"/>
              </a:rPr>
              <a:t>  </a:t>
            </a:r>
            <a:r>
              <a:rPr lang="en-IN" altLang="en-US" sz="3200" spc="-5" dirty="0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am                        </a:t>
            </a:r>
            <a:r>
              <a:rPr lang="en-IN" altLang="en-US" sz="3200" spc="-5" dirty="0">
                <a:solidFill>
                  <a:srgbClr val="FF0000"/>
                </a:solidFill>
                <a:latin typeface="Verdana" panose="020B0604030504040204"/>
                <a:cs typeface="Verdana" panose="020B0604030504040204"/>
              </a:rPr>
              <a:t>We </a:t>
            </a:r>
            <a:r>
              <a:rPr lang="en-IN" altLang="en-US" sz="3200" spc="-5" dirty="0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are</a:t>
            </a:r>
            <a:endParaRPr lang="en-IN" altLang="en-US" sz="3200" spc="-5" dirty="0">
              <a:solidFill>
                <a:srgbClr val="0070C0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endParaRPr lang="en-IN" altLang="en-US" sz="3200" spc="-5" dirty="0">
              <a:solidFill>
                <a:srgbClr val="0070C0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IN" altLang="en-US" sz="3200" spc="-5" dirty="0">
                <a:solidFill>
                  <a:srgbClr val="0070C0"/>
                </a:solidFill>
                <a:latin typeface="Verdana" panose="020B0604030504040204"/>
                <a:cs typeface="Verdana" panose="020B0604030504040204"/>
              </a:rPr>
              <a:t>S.P </a:t>
            </a:r>
            <a:r>
              <a:rPr lang="en-IN" altLang="en-US" sz="3200" spc="-5" dirty="0">
                <a:solidFill>
                  <a:srgbClr val="FF0000"/>
                </a:solidFill>
                <a:latin typeface="Verdana" panose="020B0604030504040204"/>
                <a:cs typeface="Verdana" panose="020B0604030504040204"/>
              </a:rPr>
              <a:t>You </a:t>
            </a:r>
            <a:r>
              <a:rPr lang="en-IN" altLang="en-US" sz="3200" spc="-5" dirty="0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are</a:t>
            </a:r>
            <a:r>
              <a:rPr lang="en-GB" altLang="en-US" sz="3200" spc="-5" dirty="0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                     </a:t>
            </a:r>
            <a:r>
              <a:rPr lang="en-IN" altLang="en-US" sz="3200" spc="-5" dirty="0">
                <a:solidFill>
                  <a:srgbClr val="FF0000"/>
                </a:solidFill>
                <a:latin typeface="Verdana" panose="020B0604030504040204"/>
                <a:cs typeface="Verdana" panose="020B0604030504040204"/>
              </a:rPr>
              <a:t>You </a:t>
            </a:r>
            <a:r>
              <a:rPr lang="en-IN" altLang="en-US" sz="3200" spc="-5" dirty="0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are</a:t>
            </a:r>
            <a:endParaRPr lang="en-IN" altLang="en-US" sz="3200" spc="-5" dirty="0">
              <a:solidFill>
                <a:srgbClr val="0070C0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endParaRPr lang="en-IN" altLang="en-US" sz="3200" spc="-5" dirty="0">
              <a:solidFill>
                <a:srgbClr val="0070C0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IN" altLang="en-US" sz="3200" spc="-5" dirty="0">
                <a:solidFill>
                  <a:srgbClr val="0070C0"/>
                </a:solidFill>
                <a:latin typeface="Verdana" panose="020B0604030504040204"/>
                <a:cs typeface="Verdana" panose="020B0604030504040204"/>
              </a:rPr>
              <a:t>T.P </a:t>
            </a:r>
            <a:r>
              <a:rPr lang="en-IN" altLang="en-US" sz="3200" spc="-5" dirty="0">
                <a:solidFill>
                  <a:srgbClr val="FF0000"/>
                </a:solidFill>
                <a:latin typeface="Verdana" panose="020B0604030504040204"/>
                <a:cs typeface="Verdana" panose="020B0604030504040204"/>
              </a:rPr>
              <a:t>He </a:t>
            </a:r>
            <a:r>
              <a:rPr lang="en-IN" altLang="en-US" sz="3200" spc="-5" dirty="0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is</a:t>
            </a:r>
            <a:r>
              <a:rPr lang="en-GB" altLang="en-US" sz="3200" spc="-5" dirty="0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   </a:t>
            </a:r>
            <a:endParaRPr lang="en-IN" altLang="en-US" sz="3200" spc="-5" dirty="0">
              <a:solidFill>
                <a:srgbClr val="FF0000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IN" altLang="en-US" sz="3200" spc="-5" dirty="0">
                <a:solidFill>
                  <a:srgbClr val="FF0000"/>
                </a:solidFill>
                <a:latin typeface="Verdana" panose="020B0604030504040204"/>
                <a:cs typeface="Verdana" panose="020B0604030504040204"/>
              </a:rPr>
              <a:t>     She </a:t>
            </a:r>
            <a:r>
              <a:rPr lang="en-IN" altLang="en-US" sz="3200" spc="-5" dirty="0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is</a:t>
            </a:r>
            <a:r>
              <a:rPr lang="en-GB" altLang="en-US" sz="3200" spc="-5" dirty="0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                       </a:t>
            </a:r>
            <a:r>
              <a:rPr lang="en-IN" altLang="en-US" sz="3200" spc="-5" dirty="0">
                <a:solidFill>
                  <a:srgbClr val="FF0000"/>
                </a:solidFill>
                <a:latin typeface="Verdana" panose="020B0604030504040204"/>
                <a:cs typeface="Verdana" panose="020B0604030504040204"/>
              </a:rPr>
              <a:t>They </a:t>
            </a:r>
            <a:r>
              <a:rPr lang="en-IN" altLang="en-US" sz="3200" spc="-5" dirty="0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are</a:t>
            </a:r>
            <a:endParaRPr lang="en-IN" altLang="en-US" sz="3200" spc="-5" dirty="0">
              <a:solidFill>
                <a:srgbClr val="FF0000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IN" altLang="en-US" sz="3200" spc="-5" dirty="0">
                <a:solidFill>
                  <a:srgbClr val="FF0000"/>
                </a:solidFill>
                <a:latin typeface="Verdana" panose="020B0604030504040204"/>
                <a:cs typeface="Verdana" panose="020B0604030504040204"/>
              </a:rPr>
              <a:t>     It </a:t>
            </a:r>
            <a:r>
              <a:rPr lang="en-IN" altLang="en-US" sz="3200" spc="-5" dirty="0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is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38348" y="214290"/>
            <a:ext cx="7784465" cy="1366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INTERROGATIVE &amp; NEGATIVE</a:t>
            </a:r>
            <a:r>
              <a:rPr kumimoji="0" lang="en-US" sz="4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SENTENCE</a:t>
            </a:r>
            <a:endParaRPr kumimoji="0" lang="en-IN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24034" y="1643050"/>
            <a:ext cx="8072755" cy="6915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75"/>
              </a:spcBef>
            </a:pPr>
            <a:endParaRPr lang="en-US" sz="3200" spc="-5" dirty="0">
              <a:solidFill>
                <a:srgbClr val="7030A0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IN" altLang="en-US" sz="3200" spc="-5" dirty="0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Am/Is/Are</a:t>
            </a:r>
            <a:r>
              <a:rPr lang="en-US" sz="3200" spc="-5" dirty="0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 + Subject + verb</a:t>
            </a:r>
            <a:r>
              <a:rPr lang="en-IN" altLang="en-US" sz="3200" spc="-5" dirty="0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-ing</a:t>
            </a:r>
            <a:r>
              <a:rPr lang="en-US" sz="3200" spc="-5" dirty="0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 + object +other words?</a:t>
            </a: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For example:</a:t>
            </a: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1. </a:t>
            </a:r>
            <a:r>
              <a:rPr lang="en-IN" alt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Tom is watching the movie.</a:t>
            </a:r>
            <a:endParaRPr lang="en-US" sz="3200" spc="-5" dirty="0">
              <a:solidFill>
                <a:srgbClr val="006699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   </a:t>
            </a:r>
            <a:r>
              <a:rPr lang="en-IN" alt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Is Tom watching the movie</a:t>
            </a: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?</a:t>
            </a: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   Yes, </a:t>
            </a:r>
            <a:r>
              <a:rPr lang="en-IN" alt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Tom is watching the movie</a:t>
            </a: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.</a:t>
            </a: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   No, </a:t>
            </a:r>
            <a:r>
              <a:rPr lang="en-IN" alt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Tom is not watching the movie</a:t>
            </a: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.</a:t>
            </a: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endParaRPr lang="en-US" sz="3200" spc="-5" dirty="0">
              <a:solidFill>
                <a:srgbClr val="7030A0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              </a:t>
            </a: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</a:t>
            </a:r>
            <a:endParaRPr sz="3200">
              <a:latin typeface="Verdana" panose="020B0604030504040204"/>
              <a:cs typeface="Verdana" panose="020B0604030504040204"/>
            </a:endParaRPr>
          </a:p>
          <a:p>
            <a:pPr marL="927100" algn="just">
              <a:lnSpc>
                <a:spcPct val="100000"/>
              </a:lnSpc>
              <a:spcBef>
                <a:spcPts val="765"/>
              </a:spcBef>
            </a:pPr>
            <a:endParaRPr sz="3200">
              <a:latin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38348" y="214290"/>
            <a:ext cx="7784465" cy="689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SIGNAL</a:t>
            </a:r>
            <a:r>
              <a:rPr kumimoji="0" lang="en-US" sz="4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WORDS</a:t>
            </a:r>
            <a:endParaRPr kumimoji="0" lang="en-IN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24034" y="1643050"/>
            <a:ext cx="8072755" cy="27834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lang="en-IN" altLang="en-US" sz="3200" spc="-5" dirty="0" err="1" smtClean="0">
                <a:solidFill>
                  <a:srgbClr val="0070C0"/>
                </a:solidFill>
                <a:latin typeface="Verdana" panose="020B0604030504040204"/>
                <a:cs typeface="Verdana" panose="020B0604030504040204"/>
              </a:rPr>
              <a:t>look,listen,see</a:t>
            </a:r>
            <a:r>
              <a:rPr lang="en-IN" altLang="en-US" sz="3200" spc="-5" dirty="0">
                <a:solidFill>
                  <a:srgbClr val="0070C0"/>
                </a:solidFill>
                <a:latin typeface="Verdana" panose="020B0604030504040204"/>
                <a:cs typeface="Verdana" panose="020B0604030504040204"/>
              </a:rPr>
              <a:t>, </a:t>
            </a:r>
            <a:r>
              <a:rPr lang="en-US" sz="3200" spc="-5" dirty="0" err="1" smtClean="0">
                <a:solidFill>
                  <a:srgbClr val="0070C0"/>
                </a:solidFill>
                <a:cs typeface="Verdana" panose="020B0604030504040204"/>
              </a:rPr>
              <a:t>Watch,Hear,etc</a:t>
            </a:r>
            <a:endParaRPr lang="en-US" sz="3200" spc="-5" dirty="0" smtClean="0">
              <a:solidFill>
                <a:srgbClr val="0070C0"/>
              </a:solidFill>
              <a:cs typeface="Verdana" panose="020B0604030504040204"/>
            </a:endParaRPr>
          </a:p>
          <a:p>
            <a:pPr marL="12700" algn="ctr">
              <a:lnSpc>
                <a:spcPct val="100000"/>
              </a:lnSpc>
              <a:spcBef>
                <a:spcPts val="775"/>
              </a:spcBef>
            </a:pPr>
            <a:endParaRPr lang="en-US" altLang="en-US" sz="3200" spc="-5" dirty="0" smtClean="0">
              <a:solidFill>
                <a:srgbClr val="0070C0"/>
              </a:solidFill>
              <a:latin typeface="Verdana" panose="020B0604030504040204"/>
              <a:cs typeface="Verdana" panose="020B0604030504040204"/>
            </a:endParaRPr>
          </a:p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lang="en-IN" altLang="en-US" sz="3200" spc="-5" dirty="0" smtClean="0">
                <a:solidFill>
                  <a:srgbClr val="0070C0"/>
                </a:solidFill>
                <a:latin typeface="Verdana" panose="020B0604030504040204"/>
                <a:cs typeface="Verdana" panose="020B0604030504040204"/>
              </a:rPr>
              <a:t>now</a:t>
            </a:r>
            <a:r>
              <a:rPr lang="en-IN" altLang="en-US" sz="3200" spc="-5" dirty="0">
                <a:solidFill>
                  <a:srgbClr val="0070C0"/>
                </a:solidFill>
                <a:latin typeface="Verdana" panose="020B0604030504040204"/>
                <a:cs typeface="Verdana" panose="020B0604030504040204"/>
              </a:rPr>
              <a:t>, at the </a:t>
            </a:r>
            <a:r>
              <a:rPr lang="en-IN" altLang="en-US" sz="3200" spc="-5" dirty="0" smtClean="0">
                <a:solidFill>
                  <a:srgbClr val="0070C0"/>
                </a:solidFill>
                <a:latin typeface="Verdana" panose="020B0604030504040204"/>
                <a:cs typeface="Verdana" panose="020B0604030504040204"/>
              </a:rPr>
              <a:t>moment, nowadays, right now,</a:t>
            </a:r>
            <a:r>
              <a:rPr lang="en-US" sz="3200" spc="-5" dirty="0" smtClean="0">
                <a:solidFill>
                  <a:srgbClr val="0070C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lang="en-US" sz="3200" spc="-5" dirty="0">
                <a:solidFill>
                  <a:srgbClr val="0070C0"/>
                </a:solidFill>
                <a:latin typeface="Verdana" panose="020B0604030504040204"/>
                <a:cs typeface="Verdana" panose="020B0604030504040204"/>
              </a:rPr>
              <a:t>etc. </a:t>
            </a: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endParaRPr lang="en-US" sz="3200" spc="-5" dirty="0">
              <a:solidFill>
                <a:srgbClr val="0070C0"/>
              </a:solidFill>
              <a:latin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dirty="0"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93520"/>
            <a:ext cx="10972800" cy="5349240"/>
          </a:xfrm>
        </p:spPr>
        <p:txBody>
          <a:bodyPr/>
          <a:lstStyle/>
          <a:p>
            <a:pPr marL="0" indent="0">
              <a:buNone/>
            </a:pPr>
            <a:r>
              <a:rPr lang="en-IN" altLang="en-US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1. Listen , She ___ a song. (sing)</a:t>
            </a:r>
          </a:p>
          <a:p>
            <a:pPr marL="0" indent="0">
              <a:buNone/>
            </a:pPr>
            <a:r>
              <a:rPr lang="en-IN" altLang="en-US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2. They ____ the hall now. (paint)</a:t>
            </a:r>
          </a:p>
          <a:p>
            <a:pPr marL="0" indent="0">
              <a:buNone/>
            </a:pPr>
            <a:r>
              <a:rPr lang="en-IN" altLang="en-US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3. Please </a:t>
            </a:r>
            <a:r>
              <a:rPr lang="en-IN" altLang="en-US" dirty="0" err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dont</a:t>
            </a:r>
            <a:r>
              <a:rPr lang="en-IN" altLang="en-US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 disturb me, I ___ an important project.(make)</a:t>
            </a:r>
          </a:p>
          <a:p>
            <a:pPr marL="0" indent="0">
              <a:buNone/>
            </a:pPr>
            <a:r>
              <a:rPr lang="en-IN" altLang="en-US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4.Look, they ___  cricket. (play)</a:t>
            </a:r>
          </a:p>
          <a:p>
            <a:pPr marL="0" indent="0">
              <a:buNone/>
            </a:pPr>
            <a:r>
              <a:rPr lang="en-IN" altLang="en-US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5. Are you ____ the vegetables? (cut</a:t>
            </a:r>
            <a:r>
              <a:rPr lang="en-IN" altLang="en-US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)</a:t>
            </a:r>
          </a:p>
          <a:p>
            <a:pPr marL="0" indent="0">
              <a:buNone/>
            </a:pPr>
            <a:r>
              <a:rPr lang="en-US" altLang="en-US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6. I ____for a job at the moment.(look)</a:t>
            </a:r>
          </a:p>
          <a:p>
            <a:pPr marL="0" indent="0">
              <a:buNone/>
            </a:pPr>
            <a:r>
              <a:rPr lang="en-US" altLang="en-US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7. What are you doing on Sunday evening? I____to watch a movie(go)</a:t>
            </a:r>
            <a:endParaRPr lang="en-IN" altLang="en-US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</a:endParaRPr>
          </a:p>
          <a:p>
            <a:pPr marL="0" indent="0">
              <a:buNone/>
            </a:pPr>
            <a:endParaRPr lang="en-IN" altLang="en-US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dirty="0"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93520"/>
            <a:ext cx="10972800" cy="5349240"/>
          </a:xfrm>
        </p:spPr>
        <p:txBody>
          <a:bodyPr/>
          <a:lstStyle/>
          <a:p>
            <a:pPr marL="0" indent="0">
              <a:buNone/>
            </a:pPr>
            <a:r>
              <a:rPr lang="en-IN" altLang="en-US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8</a:t>
            </a:r>
            <a:r>
              <a:rPr lang="en-IN" altLang="en-US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. </a:t>
            </a:r>
            <a:r>
              <a:rPr lang="en-IN" altLang="en-US" dirty="0" err="1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Ketan</a:t>
            </a:r>
            <a:r>
              <a:rPr lang="en-IN" altLang="en-US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_____(learn) English language nowadays.</a:t>
            </a:r>
            <a:endParaRPr lang="en-IN" altLang="en-US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</a:endParaRPr>
          </a:p>
          <a:p>
            <a:pPr marL="0" indent="0">
              <a:buNone/>
            </a:pPr>
            <a:r>
              <a:rPr lang="en-IN" altLang="en-US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9</a:t>
            </a:r>
            <a:r>
              <a:rPr lang="en-IN" altLang="en-US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. Where ____</a:t>
            </a:r>
            <a:r>
              <a:rPr lang="en-IN" altLang="en-US" dirty="0" err="1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you_____this</a:t>
            </a:r>
            <a:r>
              <a:rPr lang="en-IN" altLang="en-US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 weekend? (go)</a:t>
            </a:r>
            <a:endParaRPr lang="en-IN" altLang="en-US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</a:endParaRPr>
          </a:p>
          <a:p>
            <a:pPr marL="0" indent="0">
              <a:buNone/>
            </a:pPr>
            <a:r>
              <a:rPr lang="en-IN" altLang="en-US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10. I ______now.(leave)</a:t>
            </a:r>
          </a:p>
          <a:p>
            <a:pPr marL="0" indent="0">
              <a:buNone/>
            </a:pPr>
            <a:r>
              <a:rPr lang="en-IN" altLang="en-US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11.What is </a:t>
            </a:r>
            <a:r>
              <a:rPr lang="en-IN" altLang="en-US" dirty="0" err="1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Rima</a:t>
            </a:r>
            <a:r>
              <a:rPr lang="en-IN" altLang="en-US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 doing at the moment? </a:t>
            </a:r>
            <a:r>
              <a:rPr lang="en-IN" altLang="en-US" dirty="0" err="1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She___in</a:t>
            </a:r>
            <a:r>
              <a:rPr lang="en-IN" altLang="en-US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 the kitchen. (cook)</a:t>
            </a:r>
            <a:endParaRPr lang="en-IN" altLang="en-US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</a:endParaRPr>
          </a:p>
          <a:p>
            <a:pPr marL="0" indent="0">
              <a:buNone/>
            </a:pPr>
            <a:r>
              <a:rPr lang="en-IN" altLang="en-US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12. Watch, how that creature______.(move)</a:t>
            </a:r>
          </a:p>
          <a:p>
            <a:pPr marL="0" indent="0">
              <a:buNone/>
            </a:pPr>
            <a:r>
              <a:rPr lang="en-US" altLang="en-US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13. ____the </a:t>
            </a:r>
            <a:r>
              <a:rPr lang="en-US" altLang="en-US" dirty="0" err="1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prizes_____by</a:t>
            </a:r>
            <a:r>
              <a:rPr lang="en-US" altLang="en-US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 the principal now?(distribute)</a:t>
            </a:r>
          </a:p>
          <a:p>
            <a:pPr marL="0" indent="0">
              <a:buNone/>
            </a:pPr>
            <a:r>
              <a:rPr lang="en-US" altLang="en-US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14. Look, the child_____.(sleep)</a:t>
            </a:r>
          </a:p>
          <a:p>
            <a:pPr marL="0" indent="0">
              <a:buNone/>
            </a:pPr>
            <a:r>
              <a:rPr lang="en-US" altLang="en-US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15. Listen, our Prime </a:t>
            </a:r>
            <a:r>
              <a:rPr lang="en-US" altLang="en-US" dirty="0" err="1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Minister______lecture</a:t>
            </a:r>
            <a:r>
              <a:rPr lang="en-US" altLang="en-US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.(give)</a:t>
            </a:r>
            <a:endParaRPr lang="en-IN" altLang="en-US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</a:endParaRPr>
          </a:p>
          <a:p>
            <a:pPr marL="0" indent="0">
              <a:buNone/>
            </a:pPr>
            <a:endParaRPr lang="en-IN" altLang="en-US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usiness Cooperate">
  <a:themeElements>
    <a:clrScheme name="Business Cooper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siness Cooperate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usiness Cooper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352</Words>
  <Application>WPS Presentation</Application>
  <PresentationFormat>Custom</PresentationFormat>
  <Paragraphs>54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Business Cooperate</vt:lpstr>
      <vt:lpstr>PRESENT CONTINUOUS TENSE</vt:lpstr>
      <vt:lpstr>Slide 2</vt:lpstr>
      <vt:lpstr>Slide 3</vt:lpstr>
      <vt:lpstr>Slide 4</vt:lpstr>
      <vt:lpstr>Slide 5</vt:lpstr>
      <vt:lpstr>Slide 6</vt:lpstr>
      <vt:lpstr>EXERCISE</vt:lpstr>
      <vt:lpstr>EXERCISE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 CONTINUOUS TENSE</dc:title>
  <dc:creator/>
  <cp:lastModifiedBy>12735</cp:lastModifiedBy>
  <cp:revision>26</cp:revision>
  <dcterms:created xsi:type="dcterms:W3CDTF">2020-09-02T09:59:00Z</dcterms:created>
  <dcterms:modified xsi:type="dcterms:W3CDTF">2021-06-15T08:10:12Z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1033-11.2.0.9635</vt:lpwstr>
  </property>
</Properties>
</file>