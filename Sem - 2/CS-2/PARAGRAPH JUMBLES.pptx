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94" r:id="rId4"/>
    <p:sldId id="295" r:id="rId5"/>
    <p:sldId id="296" r:id="rId6"/>
    <p:sldId id="297" r:id="rId7"/>
    <p:sldId id="298" r:id="rId8"/>
    <p:sldId id="334" r:id="rId9"/>
    <p:sldId id="335" r:id="rId10"/>
    <p:sldId id="258" r:id="rId11"/>
    <p:sldId id="259" r:id="rId12"/>
    <p:sldId id="260" r:id="rId13"/>
    <p:sldId id="262" r:id="rId14"/>
    <p:sldId id="261" r:id="rId15"/>
    <p:sldId id="264" r:id="rId16"/>
    <p:sldId id="263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2" autoAdjust="0"/>
    <p:restoredTop sz="94660"/>
  </p:normalViewPr>
  <p:slideViewPr>
    <p:cSldViewPr snapToGrid="0">
      <p:cViewPr varScale="1">
        <p:scale>
          <a:sx n="47" d="100"/>
          <a:sy n="47" d="100"/>
        </p:scale>
        <p:origin x="-102" y="-6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pPr/>
              <a:t>1/2/2021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  <a:pPr/>
              <a:t>1/2/2021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  <a:pPr/>
              <a:t>1/2/2021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altLang="en-US" sz="7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PARAGRAPH JUMBLES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91895"/>
          </a:xfrm>
        </p:spPr>
        <p:txBody>
          <a:bodyPr/>
          <a:lstStyle/>
          <a:p>
            <a:r>
              <a:rPr lang="en-I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           WHAT IS PARA JUMBLES?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63395"/>
            <a:ext cx="10972800" cy="4364355"/>
          </a:xfrm>
        </p:spPr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IN" altLang="en-US">
                <a:solidFill>
                  <a:srgbClr val="7030A0"/>
                </a:solidFill>
              </a:rPr>
              <a:t> Paragraph jumbles (para-jumbles) are collection of connected speeches / sentences in some unsystematic order.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5355"/>
          </a:xfrm>
        </p:spPr>
        <p:txBody>
          <a:bodyPr/>
          <a:lstStyle/>
          <a:p>
            <a:r>
              <a:rPr lang="en-I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                       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51305"/>
            <a:ext cx="10972800" cy="5194300"/>
          </a:xfrm>
        </p:spPr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solidFill>
                  <a:srgbClr val="7030A0"/>
                </a:solidFill>
              </a:rPr>
              <a:t>                        </a:t>
            </a:r>
            <a:r>
              <a:rPr lang="en-IN" altLang="en-US" b="1">
                <a:solidFill>
                  <a:srgbClr val="7030A0"/>
                </a:solidFill>
              </a:rPr>
              <a:t>1 NOUN AND PRONOUN</a:t>
            </a:r>
          </a:p>
          <a:p>
            <a:pPr marL="0" indent="0">
              <a:buFont typeface="Wingdings" panose="05000000000000000000" charset="0"/>
              <a:buNone/>
            </a:pPr>
            <a:endParaRPr lang="en-IN" altLang="en-US" b="1">
              <a:solidFill>
                <a:srgbClr val="7030A0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>
                <a:solidFill>
                  <a:srgbClr val="7030A0"/>
                </a:solidFill>
              </a:rPr>
              <a:t> </a:t>
            </a:r>
            <a:r>
              <a:rPr lang="en-IN" altLang="en-US">
                <a:solidFill>
                  <a:srgbClr val="FF0000"/>
                </a:solidFill>
              </a:rPr>
              <a:t>The sentences which contain proper noun are preceeded to the sentences which contain pronoun.</a:t>
            </a:r>
          </a:p>
          <a:p>
            <a:pPr>
              <a:buFont typeface="Wingdings" panose="05000000000000000000" charset="0"/>
              <a:buChar char="Ø"/>
            </a:pPr>
            <a:endParaRPr lang="en-IN" altLang="en-US">
              <a:solidFill>
                <a:srgbClr val="7030A0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IN" altLang="en-US" b="1">
                <a:solidFill>
                  <a:srgbClr val="7030A0"/>
                </a:solidFill>
              </a:rPr>
              <a:t>EXAMPLE :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solidFill>
                  <a:srgbClr val="7030A0"/>
                </a:solidFill>
              </a:rPr>
              <a:t>A. He is an honest person but he is poor.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solidFill>
                  <a:srgbClr val="7030A0"/>
                </a:solidFill>
              </a:rPr>
              <a:t>B. Tom lives in Delhi, the capital of India.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solidFill>
                  <a:srgbClr val="7030A0"/>
                </a:solidFill>
              </a:rPr>
              <a:t>Ans. B-A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56260"/>
            <a:ext cx="10972800" cy="5571490"/>
          </a:xfrm>
        </p:spPr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solidFill>
                  <a:srgbClr val="7030A0"/>
                </a:solidFill>
              </a:rPr>
              <a:t>                        </a:t>
            </a:r>
            <a:r>
              <a:rPr lang="en-IN" altLang="en-US" b="1">
                <a:solidFill>
                  <a:srgbClr val="7030A0"/>
                </a:solidFill>
              </a:rPr>
              <a:t>2.DEMONSTRATIVE PRONOUN</a:t>
            </a:r>
          </a:p>
          <a:p>
            <a:pPr marL="0" indent="0">
              <a:buFont typeface="Wingdings" panose="05000000000000000000" charset="0"/>
              <a:buNone/>
            </a:pPr>
            <a:endParaRPr lang="en-IN" altLang="en-US">
              <a:solidFill>
                <a:srgbClr val="7030A0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>
                <a:solidFill>
                  <a:srgbClr val="7030A0"/>
                </a:solidFill>
              </a:rPr>
              <a:t> </a:t>
            </a:r>
            <a:r>
              <a:rPr lang="en-IN" altLang="en-US">
                <a:solidFill>
                  <a:srgbClr val="FF0000"/>
                </a:solidFill>
              </a:rPr>
              <a:t>If any sentence contains a demonstrative pronoun,then the previous sentence should be contained the noun.</a:t>
            </a:r>
          </a:p>
          <a:p>
            <a:pPr marL="0" indent="0">
              <a:buFont typeface="Wingdings" panose="05000000000000000000" charset="0"/>
              <a:buNone/>
            </a:pPr>
            <a:endParaRPr lang="en-IN" altLang="en-US">
              <a:solidFill>
                <a:srgbClr val="FF0000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IN" altLang="en-US" b="1">
                <a:solidFill>
                  <a:srgbClr val="7030A0"/>
                </a:solidFill>
              </a:rPr>
              <a:t>EXAMPLE </a:t>
            </a:r>
            <a:r>
              <a:rPr lang="en-IN" altLang="en-US">
                <a:solidFill>
                  <a:srgbClr val="7030A0"/>
                </a:solidFill>
              </a:rPr>
              <a:t>: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solidFill>
                  <a:srgbClr val="7030A0"/>
                </a:solidFill>
              </a:rPr>
              <a:t>A. The prince gifted a very beautiful ring to princess.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solidFill>
                  <a:srgbClr val="7030A0"/>
                </a:solidFill>
              </a:rPr>
              <a:t>B. That ring was very precious.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solidFill>
                  <a:srgbClr val="7030A0"/>
                </a:solidFill>
              </a:rPr>
              <a:t>Ans. A-B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56260"/>
            <a:ext cx="10972800" cy="5887720"/>
          </a:xfrm>
        </p:spPr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IN" altLang="en-US" dirty="0">
                <a:solidFill>
                  <a:srgbClr val="7030A0"/>
                </a:solidFill>
              </a:rPr>
              <a:t>                              </a:t>
            </a:r>
            <a:r>
              <a:rPr lang="en-IN" altLang="en-US" b="1" dirty="0">
                <a:solidFill>
                  <a:srgbClr val="7030A0"/>
                </a:solidFill>
              </a:rPr>
              <a:t>3. ARTICLES</a:t>
            </a:r>
          </a:p>
          <a:p>
            <a:pPr marL="0" indent="0">
              <a:buFont typeface="Wingdings" panose="05000000000000000000" charset="0"/>
              <a:buNone/>
            </a:pPr>
            <a:endParaRPr lang="en-IN" altLang="en-US" b="1" dirty="0">
              <a:solidFill>
                <a:srgbClr val="7030A0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 dirty="0">
                <a:solidFill>
                  <a:srgbClr val="FF0000"/>
                </a:solidFill>
              </a:rPr>
              <a:t> If any noun is </a:t>
            </a:r>
            <a:r>
              <a:rPr lang="en-IN" altLang="en-US" dirty="0" err="1">
                <a:solidFill>
                  <a:srgbClr val="FF0000"/>
                </a:solidFill>
              </a:rPr>
              <a:t>refered</a:t>
            </a:r>
            <a:r>
              <a:rPr lang="en-IN" altLang="en-US" dirty="0">
                <a:solidFill>
                  <a:srgbClr val="FF0000"/>
                </a:solidFill>
              </a:rPr>
              <a:t> first time then </a:t>
            </a:r>
            <a:r>
              <a:rPr lang="en-IN" altLang="en-US" dirty="0" err="1">
                <a:solidFill>
                  <a:srgbClr val="FF0000"/>
                </a:solidFill>
              </a:rPr>
              <a:t>indefinate</a:t>
            </a:r>
            <a:r>
              <a:rPr lang="en-IN" altLang="en-US" dirty="0">
                <a:solidFill>
                  <a:srgbClr val="FF0000"/>
                </a:solidFill>
              </a:rPr>
              <a:t> articles are used and the same noun is </a:t>
            </a:r>
            <a:r>
              <a:rPr lang="en-IN" altLang="en-US" dirty="0" err="1">
                <a:solidFill>
                  <a:srgbClr val="FF0000"/>
                </a:solidFill>
              </a:rPr>
              <a:t>refered</a:t>
            </a:r>
            <a:r>
              <a:rPr lang="en-IN" altLang="en-US" dirty="0">
                <a:solidFill>
                  <a:srgbClr val="FF0000"/>
                </a:solidFill>
              </a:rPr>
              <a:t> again then </a:t>
            </a:r>
            <a:r>
              <a:rPr lang="en-IN" altLang="en-US" dirty="0" err="1">
                <a:solidFill>
                  <a:srgbClr val="FF0000"/>
                </a:solidFill>
              </a:rPr>
              <a:t>definate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IN" altLang="en-US" smtClean="0">
                <a:solidFill>
                  <a:srgbClr val="FF0000"/>
                </a:solidFill>
              </a:rPr>
              <a:t>article </a:t>
            </a:r>
            <a:r>
              <a:rPr lang="en-IN" altLang="en-US">
                <a:solidFill>
                  <a:srgbClr val="FF0000"/>
                </a:solidFill>
              </a:rPr>
              <a:t>is used.</a:t>
            </a:r>
          </a:p>
          <a:p>
            <a:pPr marL="0" indent="0">
              <a:buFont typeface="Wingdings" panose="05000000000000000000" charset="0"/>
              <a:buNone/>
            </a:pPr>
            <a:endParaRPr lang="en-IN" altLang="en-US" dirty="0">
              <a:solidFill>
                <a:srgbClr val="FF0000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IN" altLang="en-US" b="1" dirty="0">
                <a:solidFill>
                  <a:srgbClr val="7030A0"/>
                </a:solidFill>
              </a:rPr>
              <a:t>EXAMPLE </a:t>
            </a:r>
            <a:r>
              <a:rPr lang="en-IN" altLang="en-US" dirty="0">
                <a:solidFill>
                  <a:srgbClr val="7030A0"/>
                </a:solidFill>
              </a:rPr>
              <a:t>: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IN" altLang="en-US" dirty="0">
                <a:solidFill>
                  <a:srgbClr val="7030A0"/>
                </a:solidFill>
              </a:rPr>
              <a:t>A. A boy got an admission in PU.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IN" altLang="en-US" dirty="0">
                <a:solidFill>
                  <a:srgbClr val="7030A0"/>
                </a:solidFill>
              </a:rPr>
              <a:t>B. The boy who had got admission in PU, was from M.P. 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IN" altLang="en-US" dirty="0">
                <a:solidFill>
                  <a:srgbClr val="7030A0"/>
                </a:solidFill>
              </a:rPr>
              <a:t>Ans. A-B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56260"/>
            <a:ext cx="10972800" cy="5571490"/>
          </a:xfrm>
        </p:spPr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solidFill>
                  <a:srgbClr val="7030A0"/>
                </a:solidFill>
              </a:rPr>
              <a:t>                          </a:t>
            </a:r>
            <a:r>
              <a:rPr lang="en-IN" altLang="en-US" b="1">
                <a:solidFill>
                  <a:srgbClr val="7030A0"/>
                </a:solidFill>
              </a:rPr>
              <a:t>4 USE OF ABBREVIATION</a:t>
            </a:r>
          </a:p>
          <a:p>
            <a:pPr marL="0" indent="0">
              <a:buFont typeface="Wingdings" panose="05000000000000000000" charset="0"/>
              <a:buNone/>
            </a:pPr>
            <a:endParaRPr lang="en-IN" altLang="en-US" b="1">
              <a:solidFill>
                <a:srgbClr val="7030A0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>
                <a:solidFill>
                  <a:srgbClr val="7030A0"/>
                </a:solidFill>
              </a:rPr>
              <a:t> </a:t>
            </a:r>
            <a:r>
              <a:rPr lang="en-IN" altLang="en-US">
                <a:solidFill>
                  <a:srgbClr val="FF0000"/>
                </a:solidFill>
              </a:rPr>
              <a:t>The sentence containing the full name is always placed before the sentence containing the short name.</a:t>
            </a:r>
          </a:p>
          <a:p>
            <a:pPr marL="0" indent="0">
              <a:buFont typeface="Wingdings" panose="05000000000000000000" charset="0"/>
              <a:buNone/>
            </a:pPr>
            <a:endParaRPr lang="en-IN" altLang="en-US">
              <a:solidFill>
                <a:srgbClr val="FF0000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IN" altLang="en-US" b="1">
                <a:solidFill>
                  <a:srgbClr val="7030A0"/>
                </a:solidFill>
              </a:rPr>
              <a:t>EXAMPLE </a:t>
            </a:r>
            <a:r>
              <a:rPr lang="en-IN" altLang="en-US">
                <a:solidFill>
                  <a:srgbClr val="7030A0"/>
                </a:solidFill>
              </a:rPr>
              <a:t>: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solidFill>
                  <a:srgbClr val="7030A0"/>
                </a:solidFill>
              </a:rPr>
              <a:t>A. M.S Dhoni has been one of the successful captains of cricket.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solidFill>
                  <a:srgbClr val="7030A0"/>
                </a:solidFill>
              </a:rPr>
              <a:t>B. Mahendra Singh Dhoni was given the man of the match.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solidFill>
                  <a:srgbClr val="7030A0"/>
                </a:solidFill>
              </a:rPr>
              <a:t>Ans. B-A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56260"/>
            <a:ext cx="10972800" cy="5842635"/>
          </a:xfrm>
        </p:spPr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solidFill>
                  <a:srgbClr val="7030A0"/>
                </a:solidFill>
              </a:rPr>
              <a:t>                          </a:t>
            </a:r>
            <a:r>
              <a:rPr lang="en-IN" altLang="en-US" b="1">
                <a:solidFill>
                  <a:srgbClr val="7030A0"/>
                </a:solidFill>
              </a:rPr>
              <a:t>5 EVIDENT OPENER</a:t>
            </a:r>
          </a:p>
          <a:p>
            <a:pPr marL="0" indent="0">
              <a:buFont typeface="Wingdings" panose="05000000000000000000" charset="0"/>
              <a:buNone/>
            </a:pPr>
            <a:endParaRPr lang="en-IN" altLang="en-US" b="1">
              <a:solidFill>
                <a:srgbClr val="7030A0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>
                <a:solidFill>
                  <a:srgbClr val="7030A0"/>
                </a:solidFill>
              </a:rPr>
              <a:t> </a:t>
            </a:r>
            <a:r>
              <a:rPr lang="en-IN" altLang="en-US">
                <a:solidFill>
                  <a:srgbClr val="FF0000"/>
                </a:solidFill>
              </a:rPr>
              <a:t>Some statements like definitions, Philosophical views, Universal truths etc are most opening statements.</a:t>
            </a:r>
          </a:p>
          <a:p>
            <a:pPr marL="0" indent="0">
              <a:buFont typeface="Wingdings" panose="05000000000000000000" charset="0"/>
              <a:buNone/>
            </a:pPr>
            <a:endParaRPr lang="en-IN" altLang="en-US">
              <a:solidFill>
                <a:srgbClr val="FF0000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IN" altLang="en-US" b="1">
                <a:solidFill>
                  <a:srgbClr val="7030A0"/>
                </a:solidFill>
              </a:rPr>
              <a:t>EXAMPLE </a:t>
            </a:r>
            <a:r>
              <a:rPr lang="en-IN" altLang="en-US">
                <a:solidFill>
                  <a:srgbClr val="7030A0"/>
                </a:solidFill>
              </a:rPr>
              <a:t>: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solidFill>
                  <a:srgbClr val="7030A0"/>
                </a:solidFill>
              </a:rPr>
              <a:t>A. We can see that, nowadays, pollution is increasing everywhere. 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solidFill>
                  <a:srgbClr val="7030A0"/>
                </a:solidFill>
              </a:rPr>
              <a:t>B. Pollution is the introduction of contaminants  into the natural environment that cause adverse change.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56260"/>
            <a:ext cx="10972800" cy="5571490"/>
          </a:xfrm>
        </p:spPr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solidFill>
                  <a:srgbClr val="7030A0"/>
                </a:solidFill>
              </a:rPr>
              <a:t>                          </a:t>
            </a:r>
            <a:r>
              <a:rPr lang="en-IN" altLang="en-US" b="1">
                <a:solidFill>
                  <a:srgbClr val="7030A0"/>
                </a:solidFill>
              </a:rPr>
              <a:t>6 TIME OF THE EVENT</a:t>
            </a:r>
          </a:p>
          <a:p>
            <a:pPr>
              <a:buFont typeface="Wingdings" panose="05000000000000000000" charset="0"/>
              <a:buChar char="Ø"/>
            </a:pPr>
            <a:r>
              <a:rPr lang="en-IN" altLang="en-US">
                <a:solidFill>
                  <a:srgbClr val="7030A0"/>
                </a:solidFill>
              </a:rPr>
              <a:t> </a:t>
            </a:r>
            <a:r>
              <a:rPr lang="en-IN" altLang="en-US">
                <a:solidFill>
                  <a:srgbClr val="FF0000"/>
                </a:solidFill>
              </a:rPr>
              <a:t>Some statements will refer to certain events in the present, past or future. On the basis of that, the arrengement of the sentences should be done.</a:t>
            </a:r>
          </a:p>
          <a:p>
            <a:pPr marL="0" indent="0">
              <a:buFont typeface="Wingdings" panose="05000000000000000000" charset="0"/>
              <a:buNone/>
            </a:pPr>
            <a:endParaRPr lang="en-IN" altLang="en-US">
              <a:solidFill>
                <a:srgbClr val="7030A0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IN" altLang="en-US" b="1">
                <a:solidFill>
                  <a:srgbClr val="7030A0"/>
                </a:solidFill>
              </a:rPr>
              <a:t>EXAMPLE </a:t>
            </a:r>
            <a:r>
              <a:rPr lang="en-IN" altLang="en-US">
                <a:solidFill>
                  <a:srgbClr val="7030A0"/>
                </a:solidFill>
              </a:rPr>
              <a:t>: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solidFill>
                  <a:srgbClr val="7030A0"/>
                </a:solidFill>
              </a:rPr>
              <a:t>A. Presently, he is learning German language.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solidFill>
                  <a:srgbClr val="7030A0"/>
                </a:solidFill>
              </a:rPr>
              <a:t>B. Sam learnt English when he was 15 years old.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solidFill>
                  <a:srgbClr val="7030A0"/>
                </a:solidFill>
              </a:rPr>
              <a:t>C. In future perhaps, he might learn some other foreign language.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55270"/>
            <a:ext cx="10972800" cy="6430645"/>
          </a:xfrm>
        </p:spPr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IN" altLang="en-US" dirty="0">
                <a:solidFill>
                  <a:srgbClr val="7030A0"/>
                </a:solidFill>
              </a:rPr>
              <a:t>                          </a:t>
            </a:r>
            <a:r>
              <a:rPr lang="en-IN" altLang="en-US" b="1" dirty="0">
                <a:solidFill>
                  <a:srgbClr val="7030A0"/>
                </a:solidFill>
              </a:rPr>
              <a:t>7 CAUSE AND EFFECT </a:t>
            </a:r>
          </a:p>
          <a:p>
            <a:pPr marL="0" indent="0">
              <a:buFont typeface="Wingdings" panose="05000000000000000000" charset="0"/>
              <a:buNone/>
            </a:pPr>
            <a:endParaRPr lang="en-IN" altLang="en-US" b="1" dirty="0">
              <a:solidFill>
                <a:srgbClr val="7030A0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 dirty="0">
                <a:solidFill>
                  <a:srgbClr val="FF0000"/>
                </a:solidFill>
              </a:rPr>
              <a:t> Find out the words describing the cause and effect in the statements. Such as: because, as, as a result of, consequently, </a:t>
            </a:r>
            <a:r>
              <a:rPr lang="en-IN" altLang="en-US" dirty="0" err="1">
                <a:solidFill>
                  <a:srgbClr val="FF0000"/>
                </a:solidFill>
              </a:rPr>
              <a:t>hence,therefore</a:t>
            </a:r>
            <a:r>
              <a:rPr lang="en-IN" altLang="en-US" dirty="0">
                <a:solidFill>
                  <a:srgbClr val="FF0000"/>
                </a:solidFill>
              </a:rPr>
              <a:t>, thus, so, due </a:t>
            </a:r>
            <a:r>
              <a:rPr lang="en-IN" altLang="en-US" dirty="0" err="1">
                <a:solidFill>
                  <a:srgbClr val="FF0000"/>
                </a:solidFill>
              </a:rPr>
              <a:t>to,because</a:t>
            </a:r>
            <a:r>
              <a:rPr lang="en-IN" altLang="en-US" dirty="0">
                <a:solidFill>
                  <a:srgbClr val="FF0000"/>
                </a:solidFill>
              </a:rPr>
              <a:t> of etc</a:t>
            </a:r>
            <a:r>
              <a:rPr lang="en-IN" altLang="en-US" dirty="0" smtClean="0">
                <a:solidFill>
                  <a:srgbClr val="FF0000"/>
                </a:solidFill>
              </a:rPr>
              <a:t>.</a:t>
            </a:r>
            <a:endParaRPr lang="en-IN" altLang="en-US" dirty="0">
              <a:solidFill>
                <a:srgbClr val="7030A0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IN" altLang="en-US" b="1" dirty="0">
                <a:solidFill>
                  <a:srgbClr val="7030A0"/>
                </a:solidFill>
              </a:rPr>
              <a:t>EXAMPLE </a:t>
            </a:r>
            <a:r>
              <a:rPr lang="en-IN" altLang="en-US" dirty="0">
                <a:solidFill>
                  <a:srgbClr val="7030A0"/>
                </a:solidFill>
              </a:rPr>
              <a:t>: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IN" altLang="en-US" dirty="0">
                <a:solidFill>
                  <a:srgbClr val="7030A0"/>
                </a:solidFill>
              </a:rPr>
              <a:t>A. As a result, the company had to suffer a great loss  in production.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IN" altLang="en-US" dirty="0">
                <a:solidFill>
                  <a:srgbClr val="7030A0"/>
                </a:solidFill>
              </a:rPr>
              <a:t>B. All the workers as well as the leader of the </a:t>
            </a:r>
            <a:r>
              <a:rPr lang="en-IN" altLang="en-US" dirty="0" err="1">
                <a:solidFill>
                  <a:srgbClr val="7030A0"/>
                </a:solidFill>
              </a:rPr>
              <a:t>union,went</a:t>
            </a:r>
            <a:r>
              <a:rPr lang="en-IN" altLang="en-US" dirty="0">
                <a:solidFill>
                  <a:srgbClr val="7030A0"/>
                </a:solidFill>
              </a:rPr>
              <a:t> on strike</a:t>
            </a:r>
            <a:r>
              <a:rPr lang="en-IN" altLang="en-US" dirty="0" smtClean="0">
                <a:solidFill>
                  <a:srgbClr val="7030A0"/>
                </a:solidFill>
              </a:rPr>
              <a:t>.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mtClean="0">
                <a:solidFill>
                  <a:srgbClr val="7030A0"/>
                </a:solidFill>
              </a:rPr>
              <a:t>ANS:B-A</a:t>
            </a:r>
            <a:endParaRPr lang="en-IN" alt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760"/>
            <a:ext cx="10515600" cy="908685"/>
          </a:xfrm>
        </p:spPr>
        <p:txBody>
          <a:bodyPr>
            <a:normAutofit/>
          </a:bodyPr>
          <a:lstStyle/>
          <a:p>
            <a:r>
              <a:rPr lang="en-I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                     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70" y="1020445"/>
            <a:ext cx="11022330" cy="58381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00B050"/>
                </a:solidFill>
              </a:rPr>
              <a:t>1. S1:	In the middle of one side of the square sits the Chairman of the committee, the most important  person in the room.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P :	For a committee is not just a mere collection of individuals.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Q :	On him rests much of the responsibility for the success or failure of the committee.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R :	While this is happening we have an opportunity to get the 'feel' of this committe.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 :	As the meeting opens, he runs briskly through a number of formalities.</a:t>
            </a:r>
          </a:p>
          <a:p>
            <a:pPr marL="0" indent="0">
              <a:buNone/>
            </a:pPr>
            <a:r>
              <a:rPr lang="en-IN" altLang="en-US" sz="2000">
                <a:solidFill>
                  <a:schemeClr val="accent6"/>
                </a:solidFill>
              </a:rPr>
              <a:t>S6:	From the moment its members meet, it begins to have a sort nebulous life of its own.</a:t>
            </a:r>
          </a:p>
          <a:p>
            <a:pPr marL="0" indent="0">
              <a:buNone/>
            </a:pPr>
            <a:r>
              <a:rPr lang="en-IN" altLang="en-US" sz="2000">
                <a:solidFill>
                  <a:schemeClr val="accent6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/>
          </a:p>
          <a:p>
            <a:pPr marL="0" indent="0">
              <a:buNone/>
            </a:pPr>
            <a:r>
              <a:rPr lang="en-IN" altLang="en-US" sz="20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A.	RSQP</a:t>
            </a:r>
          </a:p>
          <a:p>
            <a:pPr marL="0" indent="0">
              <a:buNone/>
            </a:pPr>
            <a:r>
              <a:rPr lang="en-IN" altLang="en-US" sz="20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B.	PQRS</a:t>
            </a:r>
          </a:p>
          <a:p>
            <a:pPr marL="0" indent="0">
              <a:buNone/>
            </a:pPr>
            <a:r>
              <a:rPr lang="en-IN" altLang="en-US" sz="20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C.	SQPR</a:t>
            </a:r>
          </a:p>
          <a:p>
            <a:pPr marL="0" indent="0">
              <a:buNone/>
            </a:pPr>
            <a:r>
              <a:rPr lang="en-IN" altLang="en-US" sz="20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D.	QSRP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Answer: Option D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70" y="573405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400">
                <a:solidFill>
                  <a:schemeClr val="accent6"/>
                </a:solidFill>
              </a:rPr>
              <a:t>2. 	</a:t>
            </a:r>
          </a:p>
          <a:p>
            <a:pPr marL="0" indent="0">
              <a:buNone/>
            </a:pPr>
            <a:r>
              <a:rPr lang="en-IN" altLang="en-US" sz="2400">
                <a:solidFill>
                  <a:schemeClr val="accent6"/>
                </a:solidFill>
              </a:rPr>
              <a:t>S1:	Calcutta unlike other cities kept its trams.</a:t>
            </a: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P :	As a result there horrendous congestion.</a:t>
            </a: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Q :	It was going to be the first in South Asia.</a:t>
            </a: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R :	They run down the centre of the road</a:t>
            </a: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S :	To ease in the city decided to build an underground railway line.</a:t>
            </a:r>
          </a:p>
          <a:p>
            <a:pPr marL="0" indent="0">
              <a:buNone/>
            </a:pPr>
            <a:r>
              <a:rPr lang="en-IN" altLang="en-US" sz="2400">
                <a:solidFill>
                  <a:schemeClr val="accent6"/>
                </a:solidFill>
              </a:rPr>
              <a:t>S6:	The foundation stone was laid in 1972.</a:t>
            </a: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A.	PRSQ</a:t>
            </a: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B.	PSQR</a:t>
            </a: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C.	SQRP</a:t>
            </a: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D.	RPSQ</a:t>
            </a:r>
          </a:p>
          <a:p>
            <a:pPr marL="0" indent="0">
              <a:buNone/>
            </a:pPr>
            <a:r>
              <a:rPr lang="en-IN" altLang="en-US" sz="240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Answer: Option D</a:t>
            </a:r>
            <a:endParaRPr lang="en-IN" alt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70" y="573405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3.   S1:	A force of exists between every body in the universe.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Normally it is very small but when the one of the bodies is a planet, like earth, the force is considerable.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It has been investigated by many scientists including Galileo and Newton.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Everything on or near the surface of the earth is attracted by the mass of earth.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This gravitational force depends on the mass of the bodies involved.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The greater the mass, the greater is the earth's force of attraction on it. We can call this force of attraction gravity.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PRQS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PRSQ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QSRP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QSPR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D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70" y="573405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400">
                <a:solidFill>
                  <a:srgbClr val="7030A0"/>
                </a:solidFill>
              </a:rPr>
              <a:t>4. 	</a:t>
            </a: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S1:	Smoke oozed up between the planks.</a:t>
            </a:r>
            <a:endParaRPr lang="en-IN" alt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7030A0"/>
                </a:solidFill>
              </a:rPr>
              <a:t>P :	Passengers were told to be ready to quit the ship.</a:t>
            </a:r>
          </a:p>
          <a:p>
            <a:pPr marL="0" indent="0">
              <a:buNone/>
            </a:pPr>
            <a:r>
              <a:rPr lang="en-IN" altLang="en-US" sz="2400">
                <a:solidFill>
                  <a:srgbClr val="7030A0"/>
                </a:solidFill>
              </a:rPr>
              <a:t>Q :	The rising gale fanned the smouldering fire.</a:t>
            </a:r>
          </a:p>
          <a:p>
            <a:pPr marL="0" indent="0">
              <a:buNone/>
            </a:pPr>
            <a:r>
              <a:rPr lang="en-IN" altLang="en-US" sz="2400">
                <a:solidFill>
                  <a:srgbClr val="7030A0"/>
                </a:solidFill>
              </a:rPr>
              <a:t>R :	Everyone now knew there was fire on board.</a:t>
            </a:r>
          </a:p>
          <a:p>
            <a:pPr marL="0" indent="0">
              <a:buNone/>
            </a:pPr>
            <a:r>
              <a:rPr lang="en-IN" altLang="en-US" sz="2400">
                <a:solidFill>
                  <a:srgbClr val="7030A0"/>
                </a:solidFill>
              </a:rPr>
              <a:t>S :	Flames broke out here and there.</a:t>
            </a: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S6:	Most people bore the shock bravely.</a:t>
            </a:r>
            <a:endParaRPr lang="en-IN" alt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7030A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rgbClr val="7030A0"/>
                </a:solidFill>
              </a:rPr>
              <a:t>A.	SRQP</a:t>
            </a:r>
          </a:p>
          <a:p>
            <a:pPr marL="0" indent="0">
              <a:buNone/>
            </a:pPr>
            <a:r>
              <a:rPr lang="en-IN" altLang="en-US" sz="2400">
                <a:solidFill>
                  <a:srgbClr val="7030A0"/>
                </a:solidFill>
              </a:rPr>
              <a:t>B.	QPSR</a:t>
            </a:r>
          </a:p>
          <a:p>
            <a:pPr marL="0" indent="0">
              <a:buNone/>
            </a:pPr>
            <a:r>
              <a:rPr lang="en-IN" altLang="en-US" sz="2400">
                <a:solidFill>
                  <a:srgbClr val="7030A0"/>
                </a:solidFill>
              </a:rPr>
              <a:t>C.	RSPQ</a:t>
            </a:r>
          </a:p>
          <a:p>
            <a:pPr marL="0" indent="0">
              <a:buNone/>
            </a:pPr>
            <a:r>
              <a:rPr lang="en-IN" altLang="en-US" sz="2400">
                <a:solidFill>
                  <a:srgbClr val="7030A0"/>
                </a:solidFill>
              </a:rPr>
              <a:t>D.	QSRP</a:t>
            </a:r>
          </a:p>
          <a:p>
            <a:pPr marL="0" indent="0">
              <a:buNone/>
            </a:pPr>
            <a:r>
              <a:rPr lang="en-IN" altLang="en-US" sz="2400">
                <a:solidFill>
                  <a:srgbClr val="FF0000"/>
                </a:solidFill>
              </a:rPr>
              <a:t>Answer: Option A</a:t>
            </a:r>
          </a:p>
          <a:p>
            <a:pPr marL="0" indent="0">
              <a:buNone/>
            </a:pPr>
            <a:endParaRPr lang="en-I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70" y="573405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5.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For some time in his youth, Abraham Lincoln was manager for a shop.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Then a chance Customer would come.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Young Lincoln way of keeping shop was entirely unlike anyone else's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Lincoln would jump up and attend to his needs and then revert to his reading.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He used to lie full length on the counter of the shop eagerly reading a book.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Never before had Lincoln had so much time for reading as had then.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SRQP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QSPR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SQRP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QPSR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B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70" y="573405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6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Payment for imports and exports is made through a system called foreign exchange.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The value of the money of one country in relation to the money of other countries is agreed upon.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These rates of exchange vary from time to time.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For instance, an American dollar or a British pound sterling is worth certain amounts in the money of other countries.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Sometimes a United States dollar is worth 12 pesos in Mexico.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Another time it may be worth eight pesos.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PQRS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QPRS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PRQS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RPQS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C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70" y="573405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7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S1:	All the land was covered by the ocean.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P :	The leading god fought the monster, killed it and chopped its body in to two halves.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Q :	A terrible monster prevented the gods from separating the land from the water.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R :	The god made the sky out of the upper part of the body and ornamented it with stars.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 :	The god created the earth from the lower part, grew plants on it and populated it with animals.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S6:	The god moulded the first people out of clay according to his own image and mind.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A.	PQRS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B.	PQSR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C.	QPSR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D.	QPRS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Answer: Option D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70" y="573405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8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Moncure Conway devoted his life to two great objects freedom of thought, and freedom of the individual.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They threaten both kinds of freedom.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But something also has been lost.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There are now dangers, somewhat different in form from those of the past ages.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In regard to both these objects, something has been gained since his time.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Unless a vigorous and vigilant public opinion can be aroused in defence of them, there will be much less of both a hundred years hence then there is now.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PQRS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QSPR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SQRP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RSPQ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C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70" y="573405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9.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S1:	The study of speech disorders due to brain injury suggests that patients can think without having adequate control over their language.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P :	But they succeed in playing games of chess.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Q :	Some patients, for example fail to find the names of objects presented to them.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R :	They can even use the concepts needed for chess playing, though they are unable to express many of the concepts in ordinary language.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 :	They even find it difficult to interpret long written notices.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S6:	How they manage to do this we do not know.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A.	PSQR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B.	RPSQ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C.	QSPR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D.	SRPQ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Answer: Option C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70" y="573405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10.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A black haired, young woman came tripping along.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She was leading a young woman wearing a hat.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The woman swept it off and tossed it in the air.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The child jumped up to catch the hat.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The young man tossed his head to shake the hat back.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Both disappeared from view.</a:t>
            </a: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PSQR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RPSQ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QRPS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SQRP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A</a:t>
            </a: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70" y="573405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11.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We now know that the oceans are very deep.</a:t>
            </a: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For example, the Indian ocean has a range called the Indian Ridge.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Much of it is fairly flat.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However, there are great mountain ranges as well.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On average the bottom is 2.5 miles to 3.5 miles down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This reaches from the India to the Antarctic.</a:t>
            </a: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SQPR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PQSR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RSQP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QPRS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A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70" y="573405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12.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S1:	Minnie went shopping one morning.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P :	Disappointed She turned around and returned to the parking lot.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Q :	She got out and walked to the nearest shop.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R :	She drove her car into the parking lot and stopped.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 :	It was there that she realised that she'd forgotten her purse at home.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S6:	She drove home with an empty basket.</a:t>
            </a:r>
            <a:endParaRPr lang="en-IN" altLang="en-US" sz="20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A.	RSQP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B.	RQSP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C.	PQRS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D.	QPRS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Answer: Option B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70" y="573405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13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A man can be physically confined within stone walls.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But his mind and spirit will still be free.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Thus his freedom of action may be restricted.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His hopes and aspiration still remain with him.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Hence, he will be free spiritually if not physically.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No tyranny can intimidate a lover of liberty.</a:t>
            </a: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PQRS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SRQP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QPRS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QPSR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A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14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S1:	There is only one monkey we can thoroughly recommend as an indoor pet.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P :	They quickly die from colds and coughs after the first winter fogs.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Q :	It is beautiful and intelligent Capuchin monkey.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R :	The lively little Capuchins, however, may be left for years in an English house without the least danger to their health.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 :	The Marmosets, it is true, are more beautiful than a Capuchins and just as pleasing, but they are too delicate for the English climate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S6:	Finally let me say that no other monkey has a better temper or winning ways.</a:t>
            </a:r>
            <a:endParaRPr lang="en-IN" altLang="en-US" sz="20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A.	PQRS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B.	QRPS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C.	QSPR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D.	RPSQ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Answer: Option 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15.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Duryodhana was a wicked prince.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one day Bhima made Duryodhana fall from a tree from which Duryodhana was stealing fruits.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He did not like that Pandavas should be loved and respected by the people of Hastinapur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Duryodhana specially hated Bhima.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Among the Pandavas, Bhima was extraordinary strong and powerful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This enraged Duryodhana so much that he began to think of removing Bhima from his way.</a:t>
            </a: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PSQR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QPRS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QSPR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PSRQ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16.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Jawaharlal Nehru was born in Allahabad on 14 Nov 1889.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Nehru meet Mahatma Gandhi in February 1920.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In 1905 he was sent to London to study at a school called Haroow.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He became the first Prime Minister of Independent India on 15 August 1947.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He married Kamla Kaul in 1915.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He died on 27 May 1964.</a:t>
            </a: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QRPS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QSPR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RPQS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SQRP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17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I had halted on the road.</a:t>
            </a: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As soon as I saw the elephant I knew I should not shoot him.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It is a serious matter to shoot a working elephant.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I knew that his 'must' was already passing off.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The elephant was standing 8 yards from the road.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I decided to watch him for a while and then go home.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SPQR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PQSR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RQPS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SRPQ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391795"/>
            <a:ext cx="11022330" cy="64662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18.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Biological evolution has not fitted man to any specific environment.</a:t>
            </a: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It is by no means a biological evolution, but it is a cultural one.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His imagination, his reason, his emotional subtlety and toughness, makes it possible for him not to accept the environment but to change.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And that series of inventions by which man from age by age has reshaped his environment is a different kind of evolution.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Among the multitude of animals which scamper, burrow swim around us he is in the only one who is not locked in to his environment.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That brilliant sequence of cultural peaks can most appropriately be termed the ascent of man.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QPRS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SRQP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QRSP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SQRP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Answer: Option C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19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The dictionary is the best friend of you task.</a:t>
            </a: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That may not be possible always.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It is wise to look it up immediately.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Then it must be firmly written on the memory and traced at the first opportunity.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Never allow a strange word to pass unchallenged.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soon you will realize that this is an exciting task.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PQRS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SPQR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QRPS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SQPR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D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20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The Bhagavadgita recognises the nature of man and the needs of man.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All these three aspects constitute the nature of man.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It shows how the human being is rational one, an ethical one and a spiritual one.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More than all, it must be a spiritual experience.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Nothing can give him fulfilment unless it satisfies his reason, his ethical conscience.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A man whom does not harmonise them, is not truly human.</a:t>
            </a: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PSRQ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RSPQ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QPSR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PSQR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C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21.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I usually sleep quite well in the train, but this time I slept only a little.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Most people wanted it shut and I wanted it open.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As usual, I got angry about the window.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The quarrel left me completely upset.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There were too many people too much huge luggage all around.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It was shut all night, as usual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RSQP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SQPR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SQRP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RSPQ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B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22.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In 1934, William Golding published a small volume of poems.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During the World War II(1939-45) he joined the Royal Navy and was present at the sinking of the Bismarck.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He returned to teaching in 1945 and gave it up in 1962, and is now a full time writer.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In 1939, he married and started teaching at Vishop Wordsworth school in Salisbury.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At first his novels were not accepted.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But the Lord of the files which came out in 1954 was welcomed as "a most absorbing and instructive tale".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RPQS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RPSQ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SRPQ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SQPR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A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23.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A gentleman who lived alone always had two plates placed on the table at dinner time.</a:t>
            </a: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One day just as he sat down to dine, the cat rushed in to the room.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One plate was for himself and other was for his cat.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she drooped a mouse into her own plate and another into her master plate.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He used to give the cat a piece of meat from his own plate.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In this way the cat showed her gratitude to her master.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QSPR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PSRQ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QRSP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RPQS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A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24.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S1:	Ants eat worms, centipedes and spiders.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P :	They are usually much quicker than the ant itself.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Q :	Nevertheless, these animals do not make easy game for ants.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R :	Besides, they have an extraordinary number of ways of escaping.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 :	They also eat larvae and insect adults such as flies, moths and spring tails.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S6:	Some jump, and some give out a pungent repellent substance.</a:t>
            </a:r>
            <a:endParaRPr lang="en-IN" altLang="en-US" sz="20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A.	SQPR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B.	SPRQ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C.	SQRP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D.	SRQP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Answer: Option A</a:t>
            </a:r>
            <a:endParaRPr lang="en-IN" altLang="en-US" sz="20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25.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S1:	Satyajit Ray made several films for children.</a:t>
            </a:r>
            <a:endParaRPr lang="en-IN" altLang="en-US" sz="20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P :	Later film makers have followed his lead.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Q :	Today other nations are making the children's film in a big way.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R :	This was at a time when no director considered children as potential audience.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 :	Ray was, thus, a pioneer in the field.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S6:	But today few think of Ray as a maker of children's films.</a:t>
            </a:r>
            <a:endParaRPr lang="en-IN" altLang="en-US" sz="20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A.	PSRQ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B.	RSQP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C.	RSPQ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D.	SQRP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Answer: Option C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26.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S1:	Hungary, with a population of about 10 million, lies between Czechoslovakia to the north and Yugoslavia to the south.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P :	Here a great deal of grain is grown.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Q :	In recent years, however, progress has been made also in the field of industrialisation.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R :	Most of this country consists of an extremely fertile plain, through which the river Danube flows.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 :	In addition to grain, the plain produces potatoes, sugar, wine and livestock.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S6:	The new industries derive mainly from agricultural production.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A.	QRSP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B.	RPSQ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C.	PRSQ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D.	RQSP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Answer: Option B</a:t>
            </a:r>
            <a:endParaRPr lang="en-IN" altLang="en-US" sz="20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27.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S1:	On vacation in Tangier, Morocco, my friend and I sat down at a street cafe.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P :	At one point, he bent over with a big smile, showing me, a single gold tooth and a dingy fez.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Q :	soon I felt the presence of someone standing alongside me.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R :	But this one wouldn't budge.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 :	We had been cautioned about beggars and were told to ignore them.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S6:	Finally a man walked over to me and whispered, "Hey buddy this guy is your waiter and he wants your order</a:t>
            </a:r>
            <a:r>
              <a:rPr lang="en-IN" altLang="en-US" sz="2000">
                <a:solidFill>
                  <a:srgbClr val="7030A0"/>
                </a:solidFill>
              </a:rPr>
              <a:t>"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A.	SQRP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B.	SQPR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C.	QSRP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D.	QSPR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Answer: Option C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28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S1:	The future beckons to us.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P :	In fact we have hard work ahead.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Q :	Where do we go and what shall be our endeavour?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R :	We shall also have to fight and end poverty, ignorance and disease.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 :	It will be to bring freedom and oppurtunity to the common man.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S6:	There is no resting for any one of us till we redeem our pledge in full.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A.	PSRQ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B.	QPSR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C.	QSRP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D.	SRPQ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Answer: Option C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29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Most of the universities in the country are now facing financial crisis.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Cost benefit yardstick thus should not be applied in the case of universities.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The current state of affairs cannot be allowed to continue for long.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Universities cannot be equated with commercial enterprises.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Proper development of universities and colleges must be ensured.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The Government should realise this before it is too late.</a:t>
            </a: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QRPS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QSPR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QRSP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QPRS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A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30.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While talking to a group, one should feel self-confident and courageous.</a:t>
            </a: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Nor is it a gift bestowed by providence on only a few.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One should also learn how to think calmly and clearly.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It is like the ability to play golf.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It is not as difficult as most men imagine.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Any man can develop his capacity if he has the desire to do so.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SQPR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QSPR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QRSP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RSQP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B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31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A ceiling on urban property.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No mill-owner could own factories or mills or plants.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And mass circulation papers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Would mean that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No press magnate could own printing presses.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since their value would exceed the ceiling fixed by the government.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QSRP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RPSQ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SRPQ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QPSR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B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32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The art of growing old is one which the passage of time has forced upon my attention.</a:t>
            </a: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One of these is undue absorption in the past.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One's thought must be directed to the future and to things about which there is something to be done.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Psychologically, there are two dangers to be guarded against in old age.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It does not do to live in memories, in regrets for the good old days, or in sadness about friend who are dead.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This is not always easy one's own past is gradually increasing weight.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QSRP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RPQS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RPSQ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QPRS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C</a:t>
            </a: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33.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I keep on flapping my big ears all day.</a:t>
            </a: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They also fear that I will flip them all away.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But children wonder why I flap them so.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I flap them so to make sure they are safely there on either side of my head.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But I know what I am doing.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Am I not a smart, intelligent elephant?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SRQP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QPSR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QPRS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PSRQ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B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34.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Politeness is not a quality possessed by only one nation or race.</a:t>
            </a: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One may observe that a man of one nation will remove his hat or fold his hands by way of greetings when he meets someone he knows.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A man of another country will not to do so.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It is a quality to be found among all peoples and nations in every corner of the earth.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Obviously, each person follows the custom of his particular country.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In any case, we should not mock at others habits.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RPQS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RPSQ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PRQS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QPRS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B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" y="572770"/>
            <a:ext cx="11022330" cy="6285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35 	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S1:	Throughout history man has used energy from the sun.</a:t>
            </a: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P :	Today, when we burn wood or use electric current we are drawing an energy.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Q :	However we now have a new supply of energy.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R :	All our ordinary life depends on sun.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S :	This has come from the sun.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S6:	This energy comes from inside atoms.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The Proper sequence should be:</a:t>
            </a:r>
          </a:p>
          <a:p>
            <a:pPr marL="0" indent="0">
              <a:buNone/>
            </a:pPr>
            <a:endParaRPr lang="en-IN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A.	SQPR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B.	RQPS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C.	QSRP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FF0000"/>
                </a:solidFill>
              </a:rPr>
              <a:t>D.	PSRQ</a:t>
            </a:r>
          </a:p>
          <a:p>
            <a:pPr marL="0" indent="0">
              <a:buNone/>
            </a:pPr>
            <a:r>
              <a:rPr lang="en-IN" altLang="en-US" sz="2000">
                <a:solidFill>
                  <a:srgbClr val="7030A0"/>
                </a:solidFill>
              </a:rPr>
              <a:t>Answer: Option D</a:t>
            </a:r>
          </a:p>
          <a:p>
            <a:pPr marL="0" indent="0">
              <a:buNone/>
            </a:pPr>
            <a:endParaRPr lang="en-IN" altLang="en-US" sz="200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512</Words>
  <Application>WPS Presentation</Application>
  <PresentationFormat>Custom</PresentationFormat>
  <Paragraphs>546</Paragraphs>
  <Slides>44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Blue Waves</vt:lpstr>
      <vt:lpstr>PARAGRAPH JUMBLES</vt:lpstr>
      <vt:lpstr>                 WHAT IS PARA JUMBLES?</vt:lpstr>
      <vt:lpstr>                              RULES</vt:lpstr>
      <vt:lpstr>Slide 4</vt:lpstr>
      <vt:lpstr>Slide 5</vt:lpstr>
      <vt:lpstr>Slide 6</vt:lpstr>
      <vt:lpstr>Slide 7</vt:lpstr>
      <vt:lpstr>Slide 8</vt:lpstr>
      <vt:lpstr>Slide 9</vt:lpstr>
      <vt:lpstr>                            EXERCISE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PARAGRAPH JUMBLES</dc:title>
  <dc:creator/>
  <cp:lastModifiedBy>12735</cp:lastModifiedBy>
  <cp:revision>22</cp:revision>
  <dcterms:created xsi:type="dcterms:W3CDTF">2020-12-02T08:45:00Z</dcterms:created>
  <dcterms:modified xsi:type="dcterms:W3CDTF">2021-01-01T19:08:52Z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1033-11.2.0.9747</vt:lpwstr>
  </property>
</Properties>
</file>