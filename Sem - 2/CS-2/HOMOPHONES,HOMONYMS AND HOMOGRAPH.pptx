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sz="72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HOMOPHONES,HOMONYMS AND HOMOGRAPH</a:t>
            </a:r>
            <a:endParaRPr lang="en-IN" altLang="en-US" sz="72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                HOMOPHONES</a:t>
            </a:r>
            <a:endParaRPr lang="en-I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IN" altLang="en-US"/>
              <a:t> </a:t>
            </a:r>
            <a:r>
              <a:rPr lang="en-IN" altLang="en-US">
                <a:solidFill>
                  <a:srgbClr val="FF0000"/>
                </a:solidFill>
              </a:rPr>
              <a:t>Homo </a:t>
            </a:r>
            <a:r>
              <a:rPr lang="en-IN" altLang="en-US"/>
              <a:t>= Same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 </a:t>
            </a:r>
            <a:r>
              <a:rPr lang="en-IN" altLang="en-US">
                <a:solidFill>
                  <a:srgbClr val="FF0000"/>
                </a:solidFill>
              </a:rPr>
              <a:t>Phone </a:t>
            </a:r>
            <a:r>
              <a:rPr lang="en-IN" altLang="en-US"/>
              <a:t>= Sound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r>
              <a:rPr lang="en-IN" altLang="en-US"/>
              <a:t>     Homophones are words that have same pronounciation but different spellings and meanings.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 For example :    I – Eye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I moved to this city six years ago.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Oh! I’ve got something in my eye!</a:t>
            </a:r>
            <a:endParaRPr lang="en-I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173355"/>
            <a:ext cx="11071860" cy="6684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1.</a:t>
            </a:r>
            <a:r>
              <a:rPr lang="en-US" sz="2400">
                <a:solidFill>
                  <a:srgbClr val="FF0000"/>
                </a:solidFill>
              </a:rPr>
              <a:t>Fort – Fought</a:t>
            </a:r>
            <a:endParaRPr lang="en-US" sz="2400">
              <a:solidFill>
                <a:srgbClr val="FF0000"/>
              </a:solidFill>
            </a:endParaRPr>
          </a:p>
          <a:p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Have you seen the red fort?</a:t>
            </a:r>
            <a:endParaRPr lang="en-US" sz="2400">
              <a:solidFill>
                <a:srgbClr val="7030A0"/>
              </a:solidFill>
            </a:endParaRPr>
          </a:p>
          <a:p>
            <a:r>
              <a:rPr lang="en-US" sz="2400">
                <a:solidFill>
                  <a:srgbClr val="7030A0"/>
                </a:solidFill>
              </a:rPr>
              <a:t>He </a:t>
            </a:r>
            <a:r>
              <a:rPr lang="en-IN" altLang="en-US" sz="2400">
                <a:solidFill>
                  <a:srgbClr val="7030A0"/>
                </a:solidFill>
              </a:rPr>
              <a:t>is really a brave person because he </a:t>
            </a:r>
            <a:r>
              <a:rPr lang="en-US" sz="2400">
                <a:solidFill>
                  <a:srgbClr val="7030A0"/>
                </a:solidFill>
              </a:rPr>
              <a:t>fought many battles</a:t>
            </a:r>
            <a:r>
              <a:rPr lang="en-IN" altLang="en-US" sz="2400">
                <a:solidFill>
                  <a:srgbClr val="7030A0"/>
                </a:solidFill>
              </a:rPr>
              <a:t>.</a:t>
            </a:r>
            <a:endParaRPr lang="en-US" sz="2400">
              <a:solidFill>
                <a:srgbClr val="7030A0"/>
              </a:solidFill>
            </a:endParaRPr>
          </a:p>
          <a:p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2. Steal - steel</a:t>
            </a:r>
            <a:endParaRPr lang="en-US" sz="2400">
              <a:solidFill>
                <a:srgbClr val="7030A0"/>
              </a:solidFill>
            </a:endParaRPr>
          </a:p>
          <a:p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Did he steal a ring?</a:t>
            </a:r>
            <a:endParaRPr lang="en-US" sz="2400">
              <a:solidFill>
                <a:srgbClr val="7030A0"/>
              </a:solidFill>
            </a:endParaRPr>
          </a:p>
          <a:p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Mr.Joe is an owner of steel company.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3.</a:t>
            </a:r>
            <a:r>
              <a:rPr lang="en-US" sz="2400">
                <a:solidFill>
                  <a:srgbClr val="FF0000"/>
                </a:solidFill>
              </a:rPr>
              <a:t>Groan – Grown</a:t>
            </a:r>
            <a:endParaRPr lang="en-US" sz="2400">
              <a:solidFill>
                <a:srgbClr val="FF0000"/>
              </a:solidFill>
            </a:endParaRPr>
          </a:p>
          <a:p>
            <a:r>
              <a:rPr lang="en-US" sz="2400">
                <a:solidFill>
                  <a:srgbClr val="7030A0"/>
                </a:solidFill>
              </a:rPr>
              <a:t>Richard’s jokes make you groan rather than laugh.</a:t>
            </a:r>
            <a:endParaRPr lang="en-US" sz="2400">
              <a:solidFill>
                <a:srgbClr val="7030A0"/>
              </a:solidFill>
            </a:endParaRPr>
          </a:p>
          <a:p>
            <a:r>
              <a:rPr lang="en-US" sz="2400">
                <a:solidFill>
                  <a:srgbClr val="7030A0"/>
                </a:solidFill>
              </a:rPr>
              <a:t>He had been a grown man with a small but independent income when he</a:t>
            </a:r>
            <a:r>
              <a:rPr lang="en-IN" altLang="en-US" sz="2400">
                <a:solidFill>
                  <a:srgbClr val="7030A0"/>
                </a:solidFill>
              </a:rPr>
              <a:t> got married with Richa.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173355"/>
            <a:ext cx="11071860" cy="6684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4.</a:t>
            </a:r>
            <a:r>
              <a:rPr lang="en-US" sz="2400">
                <a:solidFill>
                  <a:srgbClr val="FF0000"/>
                </a:solidFill>
              </a:rPr>
              <a:t>Holy – Wholly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priest puts some holy water on the child’s head.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report claimed that the disaster was wholly unavoidable.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5.</a:t>
            </a:r>
            <a:r>
              <a:rPr lang="en-US" sz="2400">
                <a:solidFill>
                  <a:srgbClr val="FF0000"/>
                </a:solidFill>
              </a:rPr>
              <a:t>Hour – Our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interview lasted half an hour.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We showed them some of our photos.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6.Beat - Beet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His mother used to beat him.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Do you like a beet?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7.</a:t>
            </a:r>
            <a:r>
              <a:rPr lang="en-US" sz="2400">
                <a:solidFill>
                  <a:srgbClr val="FF0000"/>
                </a:solidFill>
              </a:rPr>
              <a:t>Know – No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I know people’s handwriting </a:t>
            </a:r>
            <a:r>
              <a:rPr lang="en-IN" altLang="en-US" sz="2400">
                <a:solidFill>
                  <a:srgbClr val="7030A0"/>
                </a:solidFill>
              </a:rPr>
              <a:t>gets </a:t>
            </a:r>
            <a:r>
              <a:rPr lang="en-US" sz="2400">
                <a:solidFill>
                  <a:srgbClr val="7030A0"/>
                </a:solidFill>
              </a:rPr>
              <a:t>change</a:t>
            </a:r>
            <a:r>
              <a:rPr lang="en-IN" altLang="en-US" sz="2400">
                <a:solidFill>
                  <a:srgbClr val="7030A0"/>
                </a:solidFill>
              </a:rPr>
              <a:t>d</a:t>
            </a:r>
            <a:r>
              <a:rPr lang="en-US" sz="2400">
                <a:solidFill>
                  <a:srgbClr val="7030A0"/>
                </a:solidFill>
              </a:rPr>
              <a:t> as they get older.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“It was Tony”. “‘No, you’re wrong. It was Ted.”</a:t>
            </a:r>
            <a:endParaRPr 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173355"/>
            <a:ext cx="11071860" cy="6684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8.</a:t>
            </a:r>
            <a:r>
              <a:rPr lang="en-US" sz="2400">
                <a:solidFill>
                  <a:srgbClr val="FF0000"/>
                </a:solidFill>
              </a:rPr>
              <a:t>Mail – Male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H</a:t>
            </a:r>
            <a:r>
              <a:rPr lang="en-IN" altLang="en-US" sz="2400">
                <a:solidFill>
                  <a:srgbClr val="7030A0"/>
                </a:solidFill>
              </a:rPr>
              <a:t>ave you got the mail?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Many women earn less than their male colleagues.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9.</a:t>
            </a:r>
            <a:r>
              <a:rPr lang="en-US" sz="2400">
                <a:solidFill>
                  <a:srgbClr val="FF0000"/>
                </a:solidFill>
              </a:rPr>
              <a:t>Meet – Meat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Maybe we’ll meet again some time.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She</a:t>
            </a:r>
            <a:r>
              <a:rPr lang="en-US" sz="2400">
                <a:solidFill>
                  <a:srgbClr val="7030A0"/>
                </a:solidFill>
              </a:rPr>
              <a:t> gave up eating meat a few months ago.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10.</a:t>
            </a:r>
            <a:r>
              <a:rPr lang="en-US" sz="2400">
                <a:solidFill>
                  <a:srgbClr val="FF0000"/>
                </a:solidFill>
              </a:rPr>
              <a:t>Peace – Piece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I wish she would just leave me in peace.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He broke off a piece of bread and gave it her.</a:t>
            </a:r>
            <a:endParaRPr 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173355"/>
            <a:ext cx="11071860" cy="6684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11.</a:t>
            </a:r>
            <a:r>
              <a:rPr lang="en-US" sz="2400">
                <a:solidFill>
                  <a:srgbClr val="FF0000"/>
                </a:solidFill>
              </a:rPr>
              <a:t>Right – Write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My all answers are right.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She had to write a report on the project.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12.</a:t>
            </a:r>
            <a:r>
              <a:rPr lang="en-US" sz="2400">
                <a:solidFill>
                  <a:srgbClr val="FF0000"/>
                </a:solidFill>
              </a:rPr>
              <a:t>Scene – Seen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police soon arrived at the scene of the crime.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Have you ever seen a  ghost?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13.</a:t>
            </a:r>
            <a:r>
              <a:rPr lang="en-US" sz="2400">
                <a:solidFill>
                  <a:srgbClr val="FF0000"/>
                </a:solidFill>
              </a:rPr>
              <a:t>Than – Then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N</a:t>
            </a:r>
            <a:r>
              <a:rPr lang="en-IN" altLang="en-US" sz="2400">
                <a:solidFill>
                  <a:srgbClr val="7030A0"/>
                </a:solidFill>
              </a:rPr>
              <a:t>eeti</a:t>
            </a:r>
            <a:r>
              <a:rPr lang="en-US" sz="2400">
                <a:solidFill>
                  <a:srgbClr val="7030A0"/>
                </a:solidFill>
              </a:rPr>
              <a:t> was prettier than her sister.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Tom took breakfast then he left for college.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14.</a:t>
            </a:r>
            <a:r>
              <a:rPr lang="en-US" sz="2400">
                <a:solidFill>
                  <a:srgbClr val="FF0000"/>
                </a:solidFill>
              </a:rPr>
              <a:t>Weak – Week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She is still weak after her illness.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He comes to see us once a week.</a:t>
            </a:r>
            <a:endParaRPr 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>
                <a:solidFill>
                  <a:srgbClr val="7030A0"/>
                </a:solidFill>
              </a:rPr>
              <a:t>                         HOMOGRAPH</a:t>
            </a:r>
            <a:endParaRPr lang="en-IN" altLang="en-US" b="1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190" y="1174750"/>
            <a:ext cx="10314305" cy="4953000"/>
          </a:xfrm>
        </p:spPr>
        <p:txBody>
          <a:bodyPr/>
          <a:p>
            <a:r>
              <a:rPr lang="en-IN" altLang="en-US">
                <a:solidFill>
                  <a:srgbClr val="0070C0"/>
                </a:solidFill>
              </a:rPr>
              <a:t>Homographs are the words that have the same spellings but different pronounciation and meanings.</a:t>
            </a:r>
            <a:endParaRPr lang="en-IN" altLang="en-US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altLang="en-US"/>
              <a:t>For example:  </a:t>
            </a:r>
            <a:endParaRPr lang="en-IN" altLang="en-US"/>
          </a:p>
          <a:p>
            <a:pPr marL="0" indent="0">
              <a:buNone/>
            </a:pPr>
            <a:r>
              <a:rPr lang="en-IN" altLang="en-US"/>
              <a:t>   </a:t>
            </a:r>
            <a:endParaRPr lang="en-IN" alt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469900" y="3100705"/>
          <a:ext cx="8859520" cy="3625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5820"/>
                <a:gridCol w="1771650"/>
                <a:gridCol w="1264285"/>
                <a:gridCol w="3707765"/>
              </a:tblGrid>
              <a:tr h="643255">
                <a:tc rowSpan="4">
                  <a:txBody>
                    <a:bodyPr/>
                    <a:p>
                      <a:pPr indent="0">
                        <a:buNone/>
                      </a:pPr>
                      <a:r>
                        <a:rPr lang="en-IN" altLang="en-US" sz="24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en-US" sz="24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present</a:t>
                      </a:r>
                      <a:endParaRPr lang="en-US" sz="2400" b="0">
                        <a:solidFill>
                          <a:srgbClr val="20212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altLang="zh-CN" sz="2400">
                          <a:solidFill>
                            <a:srgbClr val="202122"/>
                          </a:solidFill>
                        </a:rPr>
                        <a:t> </a:t>
                      </a:r>
                      <a:endParaRPr lang="en-US" altLang="zh-CN" sz="2400">
                        <a:solidFill>
                          <a:srgbClr val="202122"/>
                        </a:solidFill>
                      </a:endParaRPr>
                    </a:p>
                    <a:p>
                      <a:pPr indent="0">
                        <a:buNone/>
                      </a:pPr>
                      <a:r>
                        <a:rPr lang="en-US" altLang="zh-CN" sz="2400">
                          <a:solidFill>
                            <a:srgbClr val="202122"/>
                          </a:solidFill>
                        </a:rPr>
                        <a:t> </a:t>
                      </a:r>
                      <a:endParaRPr lang="en-US" altLang="zh-CN" sz="2400">
                        <a:solidFill>
                          <a:srgbClr val="202122"/>
                        </a:solidFill>
                      </a:endParaRPr>
                    </a:p>
                    <a:p>
                      <a:pPr indent="0">
                        <a:buNone/>
                      </a:pPr>
                      <a:r>
                        <a:rPr lang="en-US" altLang="zh-CN" sz="2400">
                          <a:solidFill>
                            <a:srgbClr val="202122"/>
                          </a:solidFill>
                        </a:rPr>
                        <a:t> </a:t>
                      </a:r>
                      <a:endParaRPr lang="en-US" sz="2400" b="0">
                        <a:solidFill>
                          <a:srgbClr val="20212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/prɪˈzɛnt/</a:t>
                      </a:r>
                      <a:endParaRPr lang="en-US" sz="2400" b="0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v.</a:t>
                      </a:r>
                      <a:endParaRPr lang="en-US" sz="24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reveal</a:t>
                      </a:r>
                      <a:endParaRPr lang="en-US" sz="24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  <a:tr h="643255">
                <a:tc vMerge="1">
                  <a:tcPr marL="9525" marR="9525" marT="9525" marB="9525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 rowSpan="3"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/ˈprɛzənt/</a:t>
                      </a:r>
                      <a:endParaRPr lang="en-US" sz="2400" b="0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en-US" altLang="zh-CN" sz="2400">
                        <a:solidFill>
                          <a:srgbClr val="FF0000"/>
                        </a:solidFill>
                      </a:endParaRPr>
                    </a:p>
                    <a:p>
                      <a:pPr indent="0"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en-US" altLang="zh-CN" sz="24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n.</a:t>
                      </a:r>
                      <a:endParaRPr lang="en-US" sz="24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gift</a:t>
                      </a:r>
                      <a:endParaRPr lang="en-US" sz="24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  <a:tr h="1169035">
                <a:tc vMerge="1">
                  <a:tcPr marL="9525" marR="9525" marT="9525" marB="9525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 vMerge="1">
                  <a:tcPr marL="9525" marR="9525" marT="9525" marB="9525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n.</a:t>
                      </a:r>
                      <a:endParaRPr lang="en-US" sz="24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current moment (e.g. At present)</a:t>
                      </a:r>
                      <a:endParaRPr lang="en-US" sz="24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  <a:tr h="1169670">
                <a:tc vMerge="1">
                  <a:tcPr marL="9525" marR="9525" marT="9525" marB="9525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 vMerge="1">
                  <a:tcPr marL="9525" marR="9525" marT="9525" marB="9525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adj.</a:t>
                      </a:r>
                      <a:endParaRPr lang="en-US" sz="24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existing in the immediate vicinity (e.g. Santa is present.)</a:t>
                      </a:r>
                      <a:endParaRPr lang="en-US" sz="24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Content Placeholder 6"/>
          <p:cNvGraphicFramePr/>
          <p:nvPr>
            <p:ph idx="1"/>
          </p:nvPr>
        </p:nvGraphicFramePr>
        <p:xfrm>
          <a:off x="250190" y="205105"/>
          <a:ext cx="11332210" cy="38601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5735"/>
                <a:gridCol w="2273300"/>
                <a:gridCol w="1680845"/>
                <a:gridCol w="4672330"/>
              </a:tblGrid>
              <a:tr h="5149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/ˈkɒntɪnt/</a:t>
                      </a:r>
                      <a:endParaRPr lang="en-US" sz="2400" b="0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n.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  <a:tr h="5143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/kənˈtɛnt/</a:t>
                      </a:r>
                      <a:endParaRPr lang="en-US" sz="2400" b="0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adj., v.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satisfied, satisfy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  <a:tr h="7080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lead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200" b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/ˈliːd/</a:t>
                      </a:r>
                      <a:endParaRPr lang="en-US" sz="3200" b="0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v.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guide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  <a:tr h="7080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200" b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/ˈlɛd/</a:t>
                      </a:r>
                      <a:endParaRPr lang="en-US" sz="3200" b="0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n.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metal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  <a:tr h="7067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learned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200" b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/ˈlɜːrnɪd/</a:t>
                      </a:r>
                      <a:endParaRPr lang="en-US" sz="3200" b="0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adj.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having much learning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  <a:tr h="7080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200" b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/ˈlɜːrnd/</a:t>
                      </a:r>
                      <a:endParaRPr lang="en-US" sz="3200" b="0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v.</a:t>
                      </a:r>
                      <a:endParaRPr lang="en-US" sz="28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8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 tense of </a:t>
                      </a:r>
                      <a:r>
                        <a:rPr lang="en-US" sz="2800" b="0" i="1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learn</a:t>
                      </a:r>
                      <a:endParaRPr lang="en-US" sz="2800" b="0" i="1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/>
        </p:nvGraphicFramePr>
        <p:xfrm>
          <a:off x="250190" y="4177665"/>
          <a:ext cx="11332210" cy="2087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6370"/>
                <a:gridCol w="2265680"/>
                <a:gridCol w="1617980"/>
                <a:gridCol w="4742180"/>
              </a:tblGrid>
              <a:tr h="7943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6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</a:t>
                      </a:r>
                      <a:endParaRPr lang="en-US" sz="36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200" b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/ˈwɪnd/</a:t>
                      </a:r>
                      <a:endParaRPr lang="en-US" sz="3200" b="0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6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n.</a:t>
                      </a:r>
                      <a:endParaRPr lang="en-US" sz="36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6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air movement</a:t>
                      </a:r>
                      <a:endParaRPr lang="en-US" sz="36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  <a:tr h="12934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6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6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200" b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/ˈwaɪnd/</a:t>
                      </a:r>
                      <a:endParaRPr lang="en-US" sz="3200" b="0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6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v.</a:t>
                      </a:r>
                      <a:endParaRPr lang="en-US" sz="36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600" b="0">
                          <a:solidFill>
                            <a:srgbClr val="2021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tighten a spring</a:t>
                      </a:r>
                      <a:endParaRPr lang="en-US" sz="3600" b="0">
                        <a:solidFill>
                          <a:srgbClr val="202122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 vert="horz" anchor="ctr" anchorCtr="0">
                    <a:lnL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2A9B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>
                <a:solidFill>
                  <a:srgbClr val="FF0000"/>
                </a:solidFill>
              </a:rPr>
              <a:t>                         HOMONYMS</a:t>
            </a:r>
            <a:endParaRPr lang="en-IN" alt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 </a:t>
            </a:r>
            <a:r>
              <a:rPr lang="en-IN" altLang="en-US">
                <a:solidFill>
                  <a:schemeClr val="accent2"/>
                </a:solidFill>
              </a:rPr>
              <a:t>Homonyms are words that have the same spellings and pronounciation but different meaning.</a:t>
            </a:r>
            <a:endParaRPr lang="en-IN" altLang="en-US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For example:</a:t>
            </a:r>
            <a:r>
              <a:rPr lang="en-IN" altLang="en-US">
                <a:solidFill>
                  <a:schemeClr val="accent2"/>
                </a:solidFill>
              </a:rPr>
              <a:t> Bat – Bat</a:t>
            </a:r>
            <a:endParaRPr lang="en-IN" altLang="en-US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chemeClr val="accent2"/>
                </a:solidFill>
              </a:rPr>
              <a:t>I am afraid of bats.</a:t>
            </a:r>
            <a:endParaRPr lang="en-IN" altLang="en-US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chemeClr val="accent2"/>
                </a:solidFill>
              </a:rPr>
              <a:t>It’s his first time at bat in the major leagues.</a:t>
            </a:r>
            <a:endParaRPr lang="en-IN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173355"/>
            <a:ext cx="11071860" cy="6684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</a:t>
            </a:r>
            <a:r>
              <a:rPr lang="en-IN" altLang="en-US" sz="2400">
                <a:solidFill>
                  <a:srgbClr val="7030A0"/>
                </a:solidFill>
              </a:rPr>
              <a:t>.</a:t>
            </a:r>
            <a:r>
              <a:rPr lang="en-US" sz="2400">
                <a:solidFill>
                  <a:srgbClr val="FF0000"/>
                </a:solidFill>
              </a:rPr>
              <a:t>Match – Match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If you suspect a gas leak do not strike a match or use electricity.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Her fingerprints match those found at the scene of the crime.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2.</a:t>
            </a:r>
            <a:r>
              <a:rPr lang="en-US" sz="2400">
                <a:solidFill>
                  <a:srgbClr val="FF0000"/>
                </a:solidFill>
              </a:rPr>
              <a:t>Mean – Mean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What does this sentence mean?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He needed to find a mean between frankness and rudeness.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3.</a:t>
            </a:r>
            <a:r>
              <a:rPr lang="en-US" sz="2400">
                <a:solidFill>
                  <a:srgbClr val="FF0000"/>
                </a:solidFill>
              </a:rPr>
              <a:t>Right – Right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I’m sure I’m right.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Take a right turn at the intersection.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4.</a:t>
            </a:r>
            <a:r>
              <a:rPr lang="en-US" sz="2400">
                <a:solidFill>
                  <a:srgbClr val="FF0000"/>
                </a:solidFill>
              </a:rPr>
              <a:t>Ring – Ring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What a beautiful ring!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children sat on the floor in a ring.</a:t>
            </a:r>
            <a:endParaRPr 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173355"/>
            <a:ext cx="11071860" cy="6684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5.</a:t>
            </a:r>
            <a:r>
              <a:rPr lang="en-US" sz="2400">
                <a:solidFill>
                  <a:srgbClr val="FF0000"/>
                </a:solidFill>
              </a:rPr>
              <a:t>Rock – Rock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Jack</a:t>
            </a:r>
            <a:r>
              <a:rPr lang="en-US" sz="2400">
                <a:solidFill>
                  <a:srgbClr val="7030A0"/>
                </a:solidFill>
              </a:rPr>
              <a:t> formed a rock band with some friends wh</a:t>
            </a:r>
            <a:r>
              <a:rPr lang="en-IN" altLang="en-US" sz="2400">
                <a:solidFill>
                  <a:srgbClr val="7030A0"/>
                </a:solidFill>
              </a:rPr>
              <a:t>en he was</a:t>
            </a:r>
            <a:r>
              <a:rPr lang="en-US" sz="2400">
                <a:solidFill>
                  <a:srgbClr val="7030A0"/>
                </a:solidFill>
              </a:rPr>
              <a:t> in college.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To build the tunnel, they had to cut through 500 feet of solid rock.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6.</a:t>
            </a:r>
            <a:r>
              <a:rPr lang="en-US" sz="2400">
                <a:solidFill>
                  <a:srgbClr val="FF0000"/>
                </a:solidFill>
              </a:rPr>
              <a:t>Rose – Rose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She has a rose garden.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Sales rose by 20% over the Christmas period.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7.</a:t>
            </a:r>
            <a:r>
              <a:rPr lang="en-US" sz="2400">
                <a:solidFill>
                  <a:srgbClr val="FF0000"/>
                </a:solidFill>
              </a:rPr>
              <a:t>Spring – Spring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It’s very high fence,Can you spring over this fence?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He was born in the spring of 1944.</a:t>
            </a:r>
            <a:endParaRPr 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173355"/>
            <a:ext cx="11071860" cy="6684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8.</a:t>
            </a:r>
            <a:r>
              <a:rPr lang="en-US" sz="2400">
                <a:solidFill>
                  <a:srgbClr val="FF0000"/>
                </a:solidFill>
              </a:rPr>
              <a:t>Well – Well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conference was very well organized.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dog fell down a well.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9.</a:t>
            </a:r>
            <a:r>
              <a:rPr lang="en-US" sz="2400">
                <a:solidFill>
                  <a:srgbClr val="FF0000"/>
                </a:solidFill>
              </a:rPr>
              <a:t>Clip – Clip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They are clips from the new James Bond film.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wire is held on with a metal clip.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10.</a:t>
            </a:r>
            <a:r>
              <a:rPr lang="en-US" sz="2400">
                <a:solidFill>
                  <a:srgbClr val="FF0000"/>
                </a:solidFill>
              </a:rPr>
              <a:t>Date – Date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 date on the letter was 30th August 1962.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Which is a popular place to take someone on a date?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11.</a:t>
            </a:r>
            <a:r>
              <a:rPr lang="en-US" sz="2400">
                <a:solidFill>
                  <a:srgbClr val="FF0000"/>
                </a:solidFill>
              </a:rPr>
              <a:t>Drop – Drop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 Did he drop a catch in semi-final?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A single drop of blood splashed onto the floor.</a:t>
            </a:r>
            <a:endParaRPr 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173355"/>
            <a:ext cx="11071860" cy="6684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12.</a:t>
            </a:r>
            <a:r>
              <a:rPr lang="en-US" sz="2400">
                <a:solidFill>
                  <a:srgbClr val="FF0000"/>
                </a:solidFill>
              </a:rPr>
              <a:t>Letter – Letter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There’s a letter for you.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“B” is the second letter of the alphabet.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13.</a:t>
            </a:r>
            <a:r>
              <a:rPr lang="en-US" sz="2400">
                <a:solidFill>
                  <a:srgbClr val="FF0000"/>
                </a:solidFill>
              </a:rPr>
              <a:t>Palm – Palm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He held the bird gently in the palm of his hand.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coconut palm is a native of Malaysia.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14.</a:t>
            </a:r>
            <a:r>
              <a:rPr lang="en-US" sz="2400">
                <a:solidFill>
                  <a:srgbClr val="FF0000"/>
                </a:solidFill>
              </a:rPr>
              <a:t>Park – Park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We went for a walk in the park.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tennis court is sometimes used as a car park.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15.Can - Can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You can do it.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Hand out a pepsi can to all your guest.</a:t>
            </a:r>
            <a:endParaRPr lang="en-IN" alt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173355"/>
            <a:ext cx="11071860" cy="6684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16.</a:t>
            </a:r>
            <a:r>
              <a:rPr lang="en-US" sz="2400">
                <a:solidFill>
                  <a:srgbClr val="FF0000"/>
                </a:solidFill>
              </a:rPr>
              <a:t>Ruler – Ruler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I have a 12 inch ruler.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Prithviraj Chauhan was a great ruler.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17.</a:t>
            </a:r>
            <a:r>
              <a:rPr lang="en-US" sz="2400">
                <a:solidFill>
                  <a:srgbClr val="FF0000"/>
                </a:solidFill>
              </a:rPr>
              <a:t>Saw – Saw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Saw is a tool that has a long blade with sharp points along one of its edges.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He saw an accident near the station.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18.Bear - Bear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As they saw a bear near the mountain, they got panic. 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She</a:t>
            </a:r>
            <a:r>
              <a:rPr lang="en-US" sz="2400">
                <a:solidFill>
                  <a:srgbClr val="7030A0"/>
                </a:solidFill>
              </a:rPr>
              <a:t> </a:t>
            </a:r>
            <a:r>
              <a:rPr lang="en-IN" altLang="en-US" sz="2400">
                <a:solidFill>
                  <a:srgbClr val="7030A0"/>
                </a:solidFill>
              </a:rPr>
              <a:t>can not bear his rude nature.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19.</a:t>
            </a:r>
            <a:r>
              <a:rPr lang="en-US" sz="2400">
                <a:solidFill>
                  <a:srgbClr val="FF0000"/>
                </a:solidFill>
              </a:rPr>
              <a:t>Ship – Ship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There are two restaurants on board ship.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A new engine was shipped over from the US.</a:t>
            </a:r>
            <a:endParaRPr 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173355"/>
            <a:ext cx="11071860" cy="6684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20.</a:t>
            </a:r>
            <a:r>
              <a:rPr lang="en-US" sz="2400">
                <a:solidFill>
                  <a:srgbClr val="FF0000"/>
                </a:solidFill>
              </a:rPr>
              <a:t>Sink – Sink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ships sink to the bottom of the sea.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</a:t>
            </a:r>
            <a:r>
              <a:rPr lang="en-IN" altLang="en-US" sz="2400">
                <a:solidFill>
                  <a:srgbClr val="7030A0"/>
                </a:solidFill>
              </a:rPr>
              <a:t>was there any sink in the kitchen?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21.</a:t>
            </a:r>
            <a:r>
              <a:rPr lang="en-US" sz="2400">
                <a:solidFill>
                  <a:srgbClr val="FF0000"/>
                </a:solidFill>
              </a:rPr>
              <a:t>Tie – Tie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He had to tie her hands together.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I wear a shirt and tie at work.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22.</a:t>
            </a:r>
            <a:r>
              <a:rPr lang="en-US" sz="2400">
                <a:solidFill>
                  <a:srgbClr val="FF0000"/>
                </a:solidFill>
              </a:rPr>
              <a:t>Trip – Trip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We went on a trip to the mountains.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Someone will trip over that cable.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23.</a:t>
            </a:r>
            <a:r>
              <a:rPr lang="en-US" sz="2400">
                <a:solidFill>
                  <a:srgbClr val="FF0000"/>
                </a:solidFill>
              </a:rPr>
              <a:t>Wave – Wave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Huge waves were breaking on the shore.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people on the bus waved and we waved back.</a:t>
            </a:r>
            <a:endParaRPr 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" y="173355"/>
            <a:ext cx="11071860" cy="6684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24.</a:t>
            </a:r>
            <a:r>
              <a:rPr lang="en-US" sz="2400">
                <a:solidFill>
                  <a:srgbClr val="FF0000"/>
                </a:solidFill>
              </a:rPr>
              <a:t>Cool – Cool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She swam out into the cool water.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When tempers had cooled, he apologized.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25.</a:t>
            </a:r>
            <a:r>
              <a:rPr lang="en-US" sz="2400">
                <a:solidFill>
                  <a:srgbClr val="FF0000"/>
                </a:solidFill>
              </a:rPr>
              <a:t>Fall – Fall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September had come and the leaves were starting to fall.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The area is beautiful in the fall.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25.</a:t>
            </a:r>
            <a:r>
              <a:rPr lang="en-US" sz="2400">
                <a:solidFill>
                  <a:srgbClr val="FF0000"/>
                </a:solidFill>
              </a:rPr>
              <a:t>File – File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Every file on the same disk must have a different name.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We began to file out into the car park.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26.</a:t>
            </a:r>
            <a:r>
              <a:rPr lang="en-US" sz="2400">
                <a:solidFill>
                  <a:srgbClr val="FF0000"/>
                </a:solidFill>
              </a:rPr>
              <a:t>Foot – Foot</a:t>
            </a:r>
            <a:endParaRPr 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My foot hurts.</a:t>
            </a:r>
            <a:endParaRPr 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7030A0"/>
                </a:solidFill>
              </a:rPr>
              <a:t>Once again it will be the taxpayer who has to foot the bill.</a:t>
            </a:r>
            <a:endParaRPr 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Content Placeholder 5"/>
          <p:cNvGraphicFramePr/>
          <p:nvPr>
            <p:ph idx="1"/>
          </p:nvPr>
        </p:nvGraphicFramePr>
        <p:xfrm>
          <a:off x="250190" y="750570"/>
          <a:ext cx="11128375" cy="442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2225675"/>
                <a:gridCol w="1638300"/>
                <a:gridCol w="2543175"/>
                <a:gridCol w="2495550"/>
              </a:tblGrid>
              <a:tr h="1105535"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IN" altLang="en-US"/>
                        <a:t>MEANING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IN" altLang="en-US"/>
                        <a:t>SPELLING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IN" altLang="en-US"/>
                        <a:t>PRONOUNCIATION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IN" altLang="en-US"/>
                        <a:t>EXAMPLE</a:t>
                      </a:r>
                      <a:endParaRPr lang="en-IN" altLang="en-US"/>
                    </a:p>
                  </a:txBody>
                  <a:tcPr/>
                </a:tc>
              </a:tr>
              <a:tr h="1105535"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IN" altLang="en-US"/>
                        <a:t>HOMOPHONES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US" sz="3200">
                          <a:latin typeface="Arial" panose="020B0604020202020204" pitchFamily="34" charset="0"/>
                        </a:rPr>
                        <a:t>×</a:t>
                      </a:r>
                      <a:endParaRPr lang="en-US" sz="32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US" sz="3200">
                          <a:latin typeface="Arial" panose="020B0604020202020204" pitchFamily="34" charset="0"/>
                        </a:rPr>
                        <a:t>×</a:t>
                      </a:r>
                      <a:endParaRPr lang="en-US" sz="32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√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IN" altLang="en-US"/>
                        <a:t>I / EYE</a:t>
                      </a:r>
                      <a:endParaRPr lang="en-IN" altLang="en-US"/>
                    </a:p>
                  </a:txBody>
                  <a:tcPr/>
                </a:tc>
              </a:tr>
              <a:tr h="1105535"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IN" altLang="en-US"/>
                        <a:t>HOMONYMS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US" sz="3200">
                          <a:latin typeface="Arial" panose="020B0604020202020204" pitchFamily="34" charset="0"/>
                        </a:rPr>
                        <a:t>×</a:t>
                      </a:r>
                      <a:endParaRPr lang="en-US" sz="32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√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IN" altLang="en-US"/>
                        <a:t>GUM/GUM</a:t>
                      </a:r>
                      <a:endParaRPr lang="en-IN" altLang="en-US"/>
                    </a:p>
                  </a:txBody>
                  <a:tcPr/>
                </a:tc>
              </a:tr>
              <a:tr h="1105535"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IN" altLang="en-US"/>
                        <a:t>HOMOGRAPH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US" sz="3200">
                          <a:latin typeface="Arial" panose="020B0604020202020204" pitchFamily="34" charset="0"/>
                        </a:rPr>
                        <a:t>×</a:t>
                      </a:r>
                      <a:endParaRPr lang="en-US" sz="32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√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US" sz="3200">
                          <a:latin typeface="Arial" panose="020B0604020202020204" pitchFamily="34" charset="0"/>
                        </a:rPr>
                        <a:t>×</a:t>
                      </a:r>
                      <a:endParaRPr lang="en-US" sz="32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 fontAlgn="ctr">
                        <a:lnSpc>
                          <a:spcPct val="110000"/>
                        </a:lnSpc>
                        <a:buNone/>
                      </a:pPr>
                      <a:r>
                        <a:rPr lang="en-IN" altLang="en-US"/>
                        <a:t>DESERT/DESERT</a:t>
                      </a:r>
                      <a:endParaRPr lang="en-I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5232400" y="3238500"/>
            <a:ext cx="9182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4000" b="1">
                <a:solidFill>
                  <a:srgbClr val="FF0000"/>
                </a:solidFill>
              </a:rPr>
              <a:t>                              EXERCISE</a:t>
            </a:r>
            <a:endParaRPr lang="en-IN" altLang="en-US" sz="4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72795"/>
            <a:ext cx="10972800" cy="5934075"/>
          </a:xfrm>
        </p:spPr>
        <p:txBody>
          <a:bodyPr/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1."I can't believe this class is one </a:t>
            </a:r>
            <a:r>
              <a:rPr lang="en-US" sz="2800">
                <a:solidFill>
                  <a:srgbClr val="00B050"/>
                </a:solidFill>
              </a:rPr>
              <a:t>hour / our</a:t>
            </a:r>
            <a:r>
              <a:rPr lang="en-US" sz="2800">
                <a:solidFill>
                  <a:srgbClr val="7030A0"/>
                </a:solidFill>
              </a:rPr>
              <a:t> long," said John.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2."I know, that's a long </a:t>
            </a:r>
            <a:r>
              <a:rPr lang="en-US" sz="2800">
                <a:solidFill>
                  <a:srgbClr val="00B050"/>
                </a:solidFill>
              </a:rPr>
              <a:t>thyme / time</a:t>
            </a:r>
            <a:r>
              <a:rPr lang="en-US" sz="2800">
                <a:solidFill>
                  <a:srgbClr val="7030A0"/>
                </a:solidFill>
              </a:rPr>
              <a:t> , right?" I replied. 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3.John is my best friend and I'll never </a:t>
            </a:r>
            <a:r>
              <a:rPr lang="en-US" sz="2800">
                <a:solidFill>
                  <a:srgbClr val="00B050"/>
                </a:solidFill>
              </a:rPr>
              <a:t>meat / meet</a:t>
            </a:r>
            <a:r>
              <a:rPr lang="en-US" sz="2800">
                <a:solidFill>
                  <a:srgbClr val="7030A0"/>
                </a:solidFill>
              </a:rPr>
              <a:t> a better friend than him.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4.Our teacher was giving us a </a:t>
            </a:r>
            <a:r>
              <a:rPr lang="en-US" sz="2800">
                <a:solidFill>
                  <a:srgbClr val="00B050"/>
                </a:solidFill>
              </a:rPr>
              <a:t>lessen / lesson </a:t>
            </a:r>
            <a:r>
              <a:rPr lang="en-US" sz="2800">
                <a:solidFill>
                  <a:srgbClr val="7030A0"/>
                </a:solidFill>
              </a:rPr>
              <a:t>on homophones.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5.It was still pretty early in the </a:t>
            </a:r>
            <a:r>
              <a:rPr lang="en-US" sz="2800">
                <a:solidFill>
                  <a:srgbClr val="00B050"/>
                </a:solidFill>
              </a:rPr>
              <a:t>morning / mourning</a:t>
            </a:r>
            <a:r>
              <a:rPr lang="en-US" sz="2800">
                <a:solidFill>
                  <a:srgbClr val="7030A0"/>
                </a:solidFill>
              </a:rPr>
              <a:t>. 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6.That was when those ninjas jumped </a:t>
            </a:r>
            <a:r>
              <a:rPr lang="en-US" sz="2800">
                <a:solidFill>
                  <a:srgbClr val="00B050"/>
                </a:solidFill>
              </a:rPr>
              <a:t>threw / through</a:t>
            </a:r>
            <a:r>
              <a:rPr lang="en-US" sz="2800">
                <a:solidFill>
                  <a:srgbClr val="7030A0"/>
                </a:solidFill>
              </a:rPr>
              <a:t> the window. 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7.I was worried because ninjas are masters of the </a:t>
            </a:r>
            <a:r>
              <a:rPr lang="en-US" sz="2800">
                <a:solidFill>
                  <a:srgbClr val="00B050"/>
                </a:solidFill>
              </a:rPr>
              <a:t>marshal / martial</a:t>
            </a:r>
            <a:r>
              <a:rPr lang="en-US" sz="2800">
                <a:solidFill>
                  <a:srgbClr val="7030A0"/>
                </a:solidFill>
              </a:rPr>
              <a:t> arts.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8.I could feel their cold </a:t>
            </a:r>
            <a:r>
              <a:rPr lang="en-US" sz="2800">
                <a:solidFill>
                  <a:srgbClr val="00B050"/>
                </a:solidFill>
              </a:rPr>
              <a:t>stairs / stares</a:t>
            </a:r>
            <a:r>
              <a:rPr lang="en-US" sz="2800">
                <a:solidFill>
                  <a:srgbClr val="7030A0"/>
                </a:solidFill>
              </a:rPr>
              <a:t> on me. 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9."John, they are here to </a:t>
            </a:r>
            <a:r>
              <a:rPr lang="en-US" sz="2800">
                <a:solidFill>
                  <a:srgbClr val="00B050"/>
                </a:solidFill>
              </a:rPr>
              <a:t>steal / steel</a:t>
            </a:r>
            <a:r>
              <a:rPr lang="en-US" sz="2800">
                <a:solidFill>
                  <a:srgbClr val="7030A0"/>
                </a:solidFill>
              </a:rPr>
              <a:t> our teacher's answer keys," I said. 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8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995" y="201295"/>
            <a:ext cx="11241405" cy="6505575"/>
          </a:xfrm>
        </p:spPr>
        <p:txBody>
          <a:bodyPr/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10.John didn't </a:t>
            </a:r>
            <a:r>
              <a:rPr lang="en-US" sz="2800">
                <a:solidFill>
                  <a:srgbClr val="00B050"/>
                </a:solidFill>
              </a:rPr>
              <a:t>seam / seem</a:t>
            </a:r>
            <a:r>
              <a:rPr lang="en-US" sz="2800">
                <a:solidFill>
                  <a:srgbClr val="7030A0"/>
                </a:solidFill>
              </a:rPr>
              <a:t> that worried. 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11.I exclaimed, "We can </a:t>
            </a:r>
            <a:r>
              <a:rPr lang="en-US" sz="2800">
                <a:solidFill>
                  <a:srgbClr val="00B050"/>
                </a:solidFill>
              </a:rPr>
              <a:t>knot / not</a:t>
            </a:r>
            <a:r>
              <a:rPr lang="en-US" sz="2800">
                <a:solidFill>
                  <a:srgbClr val="7030A0"/>
                </a:solidFill>
              </a:rPr>
              <a:t> let that happen, John!" 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12.John said, "I just don't </a:t>
            </a:r>
            <a:r>
              <a:rPr lang="en-US" sz="2800">
                <a:solidFill>
                  <a:srgbClr val="00B050"/>
                </a:solidFill>
              </a:rPr>
              <a:t>sea / see</a:t>
            </a:r>
            <a:r>
              <a:rPr lang="en-US" sz="2800">
                <a:solidFill>
                  <a:srgbClr val="7030A0"/>
                </a:solidFill>
              </a:rPr>
              <a:t> why we should put ourselves in danger for more homework."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13.I stood up and said, "Because it's the </a:t>
            </a:r>
            <a:r>
              <a:rPr lang="en-US" sz="2800">
                <a:solidFill>
                  <a:srgbClr val="00B050"/>
                </a:solidFill>
              </a:rPr>
              <a:t>right / write</a:t>
            </a:r>
            <a:r>
              <a:rPr lang="en-US" sz="2800">
                <a:solidFill>
                  <a:srgbClr val="7030A0"/>
                </a:solidFill>
              </a:rPr>
              <a:t> thing to do, John."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14.Some of these ninjas were twice my </a:t>
            </a:r>
            <a:r>
              <a:rPr lang="en-US" sz="2800">
                <a:solidFill>
                  <a:srgbClr val="00B050"/>
                </a:solidFill>
              </a:rPr>
              <a:t>sighs / size </a:t>
            </a:r>
            <a:r>
              <a:rPr lang="en-US" sz="2800">
                <a:solidFill>
                  <a:srgbClr val="7030A0"/>
                </a:solidFill>
              </a:rPr>
              <a:t>so I had to be smart. 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7030A0"/>
                </a:solidFill>
              </a:rPr>
              <a:t>1</a:t>
            </a:r>
            <a:r>
              <a:rPr lang="en-IN" altLang="en-US" sz="2800">
                <a:solidFill>
                  <a:srgbClr val="7030A0"/>
                </a:solidFill>
              </a:rPr>
              <a:t>5</a:t>
            </a:r>
            <a:r>
              <a:rPr lang="en-US" sz="2800">
                <a:solidFill>
                  <a:srgbClr val="7030A0"/>
                </a:solidFill>
              </a:rPr>
              <a:t>.The ninjas were chasing me so I dropped a banana </a:t>
            </a:r>
            <a:r>
              <a:rPr lang="en-US" sz="2800">
                <a:solidFill>
                  <a:srgbClr val="00B050"/>
                </a:solidFill>
              </a:rPr>
              <a:t>peal / peel</a:t>
            </a:r>
            <a:r>
              <a:rPr lang="en-US" sz="2800">
                <a:solidFill>
                  <a:srgbClr val="7030A0"/>
                </a:solidFill>
              </a:rPr>
              <a:t> on the ground. </a:t>
            </a: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8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8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6223</Words>
  <Application>WPS Presentation</Application>
  <PresentationFormat>Widescreen</PresentationFormat>
  <Paragraphs>367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Blue Waves</vt:lpstr>
      <vt:lpstr>HOMOPHONES,HOMONYMS AND HOMOGRAPH</vt:lpstr>
      <vt:lpstr>                          HOMOPHONES</vt:lpstr>
      <vt:lpstr>PowerPoint 演示文稿</vt:lpstr>
      <vt:lpstr>PowerPoint 演示文稿</vt:lpstr>
      <vt:lpstr>PowerPoint 演示文稿</vt:lpstr>
      <vt:lpstr>PowerPoint 演示文稿</vt:lpstr>
      <vt:lpstr>                         HOMOGRAPH</vt:lpstr>
      <vt:lpstr>PowerPoint 演示文稿</vt:lpstr>
      <vt:lpstr>                         HOMONYMS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                EXERCISE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HOMOPHONES,HOMONYMS AND HOMOGRAPH</dc:title>
  <dc:creator/>
  <cp:lastModifiedBy>Paresh Parmar</cp:lastModifiedBy>
  <cp:revision>28</cp:revision>
  <dcterms:created xsi:type="dcterms:W3CDTF">2021-03-19T03:37:00Z</dcterms:created>
  <dcterms:modified xsi:type="dcterms:W3CDTF">2021-03-24T11:01:12Z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